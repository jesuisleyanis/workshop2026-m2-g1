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d5e62b8-633a-ff50-7f85-074f4fa39b12}">
          <p14:sldIdLst>
            <p14:sldId id="256"/>
          </p14:sldIdLst>
        </p14:section>
        <p14:section name="L'équipe" id="{4c6ca296-fb88-654f-3e57-3b73c2ce708f}">
          <p14:sldIdLst>
            <p14:sldId id="257"/>
          </p14:sldIdLst>
        </p14:section>
        <p14:section name="Le projet" id="{13e77adf-540b-ed1c-20f5-4c9bbfeb19b6}">
          <p14:sldIdLst>
            <p14:sldId id="258"/>
            <p14:sldId id="259"/>
          </p14:sldIdLst>
        </p14:section>
        <p14:section name="Qui a fait quoi" id="{bd4515c8-916a-f251-f7c3-0ee2df7aabf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émonstration" id="{ad8127c4-e595-287c-c455-54f578410f5b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Une phrase : nous avons construit une plateforme de paiement fictive qui, attaquée, se répare seule et prouve son retour à la normale par une vraie transaction. La ligne de pouls est le fil du deck : sain, attaque, détection, reprise.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1:15] Nous sommes six, tous développeurs, dont deux orientés IA. Chacun présentera en une minute ce qu'il a construit, dans l'ordre de la chaîne : plateforme, attaque, détection, assistant, objet connecté.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 – 2:30] En haut, le chemin métier : un seul composant exposé, le WAF. Clic : la plateforme émet métriques et journaux, le modèle les lit chaque seconde, le moteur décide, la preuve est rejouée. Clic : le moteur agit sur la porte d'entrée et les services — la boucle se referme.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– 3:30] C'est exactement ce que vous verrez en direct. make demo observe et prouve, il n'exécute aucune action corrective. Personne ne touche au clavier côté hôte entre l'attaque et la preuve.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– 4:30] Yanis Capelle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 – 5:30] Louis Nectoux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– 6:30] Valentin Furcy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[6:30 – 7:30] Aurélien Serre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Enzo Palermo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Léo Solana se présente : son rôle, puis ses trois réalisations, en une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10:00] Remercier, puis basculer sur la démo live : attaque depuis le PC Attaquant, personne ne touche au clavier côté hôte.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HERO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accent5"/>
                </a:solidFill>
              </a:rPr>
              <a:t>RESILIENCE-ALPHA   ·   Consortium G1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1"/>
          <p:cNvSpPr txBox="1"/>
          <p:nvPr/>
        </p:nvSpPr>
        <p:spPr>
          <a:xfrm>
            <a:off x="82296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RESILIENCE-ALPHA   ·   WORKSHOP EPSI 2026</a:t>
            </a:r>
            <a:endParaRPr lang="en-US" sz="1400" dirty="0"/>
          </a:p>
        </p:txBody>
      </p:sp>
      <p:sp>
        <p:nvSpPr>
          <p:cNvPr id="3" name="texte 2"/>
          <p:cNvSpPr txBox="1"/>
          <p:nvPr/>
        </p:nvSpPr>
        <p:spPr>
          <a:xfrm>
            <a:off x="8138160" y="548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Consortium G1</a:t>
            </a:r>
            <a:endParaRPr lang="en-US" sz="1100" dirty="0"/>
          </a:p>
        </p:txBody>
      </p:sp>
      <p:sp>
        <p:nvSpPr>
          <p:cNvPr id="4" name="texte 3"/>
          <p:cNvSpPr txBox="1"/>
          <p:nvPr/>
        </p:nvSpPr>
        <p:spPr>
          <a:xfrm>
            <a:off x="822960" y="178308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chemeClr val="bg1"/>
                </a:solidFill>
              </a:rPr>
              <a:t>Zero-Touch</a:t>
            </a:r>
            <a:endParaRPr lang="en-US" sz="7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chemeClr val="accent1"/>
                </a:solidFill>
              </a:rPr>
              <a:t>Recovery</a:t>
            </a:r>
            <a:endParaRPr lang="en-US" sz="7200" dirty="0"/>
          </a:p>
        </p:txBody>
      </p:sp>
      <p:sp>
        <p:nvSpPr>
          <p:cNvPr id="5" name="texte 4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Une plateforme de paiement qui détecte l'attaque, se répare seule et le prouve par une vraie transaction.</a:t>
            </a:r>
            <a:endParaRPr lang="en-US" sz="2000" dirty="0"/>
          </a:p>
        </p:txBody>
      </p:sp>
      <p:pic>
        <p:nvPicPr>
          <p:cNvPr id="6" name="!!poul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709160"/>
            <a:ext cx="12191695" cy="1005840"/>
          </a:xfrm>
          <a:prstGeom prst="rect">
            <a:avLst/>
          </a:prstGeom>
        </p:spPr>
      </p:pic>
      <p:sp>
        <p:nvSpPr>
          <p:cNvPr id="7" name="texte 5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Yanis Capelle   ·   Louis Nectoux   ·   Valentin Furcy   ·   Aurélien Serre   ·   Enzo Palermo   ·   Léo Solana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Six développeurs, une plateforme qui se répare seule</a:t>
            </a:r>
            <a:endParaRPr lang="en-US" sz="3400" dirty="0"/>
          </a:p>
        </p:txBody>
      </p:sp>
      <p:sp>
        <p:nvSpPr>
          <p:cNvPr id="4" name="carte 6"/>
          <p:cNvSpPr/>
          <p:nvPr/>
        </p:nvSpPr>
        <p:spPr>
          <a:xfrm>
            <a:off x="640080" y="1783080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5" name="!!halo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669798" y="1949958"/>
            <a:ext cx="1632204" cy="1632204"/>
          </a:xfrm>
          <a:prstGeom prst="rect">
            <a:avLst/>
          </a:prstGeom>
        </p:spPr>
      </p:pic>
      <p:sp>
        <p:nvSpPr>
          <p:cNvPr id="6" name="!!avatar 0"/>
          <p:cNvSpPr/>
          <p:nvPr/>
        </p:nvSpPr>
        <p:spPr>
          <a:xfrm>
            <a:off x="1005840" y="2286000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!!initiales 0"/>
          <p:cNvSpPr txBox="1"/>
          <p:nvPr/>
        </p:nvSpPr>
        <p:spPr>
          <a:xfrm>
            <a:off x="1005840" y="2286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YC</a:t>
            </a:r>
            <a:endParaRPr lang="en-US" sz="2400" dirty="0"/>
          </a:p>
        </p:txBody>
      </p:sp>
      <p:sp>
        <p:nvSpPr>
          <p:cNvPr id="8" name="texte 7"/>
          <p:cNvSpPr txBox="1"/>
          <p:nvPr/>
        </p:nvSpPr>
        <p:spPr>
          <a:xfrm>
            <a:off x="2240280" y="23500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Yanis Capelle</a:t>
            </a:r>
            <a:endParaRPr lang="en-US" sz="1900" dirty="0"/>
          </a:p>
        </p:txBody>
      </p:sp>
      <p:sp>
        <p:nvSpPr>
          <p:cNvPr id="9" name="texte 8"/>
          <p:cNvSpPr txBox="1"/>
          <p:nvPr/>
        </p:nvSpPr>
        <p:spPr>
          <a:xfrm>
            <a:off x="224028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100" dirty="0"/>
          </a:p>
        </p:txBody>
      </p:sp>
      <p:sp>
        <p:nvSpPr>
          <p:cNvPr id="10" name="carte 9"/>
          <p:cNvSpPr/>
          <p:nvPr/>
        </p:nvSpPr>
        <p:spPr>
          <a:xfrm>
            <a:off x="4361688" y="1783080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11" name="!!halo 1" descr="preencoded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4391406" y="1949958"/>
            <a:ext cx="1632204" cy="1632204"/>
          </a:xfrm>
          <a:prstGeom prst="rect">
            <a:avLst/>
          </a:prstGeom>
        </p:spPr>
      </p:pic>
      <p:sp>
        <p:nvSpPr>
          <p:cNvPr id="12" name="!!avatar 1"/>
          <p:cNvSpPr/>
          <p:nvPr/>
        </p:nvSpPr>
        <p:spPr>
          <a:xfrm>
            <a:off x="4727448" y="2286000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3" name="!!initiales 1"/>
          <p:cNvSpPr txBox="1"/>
          <p:nvPr/>
        </p:nvSpPr>
        <p:spPr>
          <a:xfrm>
            <a:off x="4727448" y="2286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LN</a:t>
            </a:r>
            <a:endParaRPr lang="en-US" sz="2400" dirty="0"/>
          </a:p>
        </p:txBody>
      </p:sp>
      <p:sp>
        <p:nvSpPr>
          <p:cNvPr id="14" name="texte 10"/>
          <p:cNvSpPr txBox="1"/>
          <p:nvPr/>
        </p:nvSpPr>
        <p:spPr>
          <a:xfrm>
            <a:off x="5961888" y="23500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Louis Nectoux</a:t>
            </a:r>
            <a:endParaRPr lang="en-US" sz="1900" dirty="0"/>
          </a:p>
        </p:txBody>
      </p:sp>
      <p:sp>
        <p:nvSpPr>
          <p:cNvPr id="15" name="texte 11"/>
          <p:cNvSpPr txBox="1"/>
          <p:nvPr/>
        </p:nvSpPr>
        <p:spPr>
          <a:xfrm>
            <a:off x="5961888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100" dirty="0"/>
          </a:p>
        </p:txBody>
      </p:sp>
      <p:sp>
        <p:nvSpPr>
          <p:cNvPr id="16" name="carte 12"/>
          <p:cNvSpPr/>
          <p:nvPr/>
        </p:nvSpPr>
        <p:spPr>
          <a:xfrm>
            <a:off x="8083296" y="1783080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17" name="!!halo 2" descr="preencoded.png">    </p:cNvPr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8113014" y="1949958"/>
            <a:ext cx="1632204" cy="1632204"/>
          </a:xfrm>
          <a:prstGeom prst="rect">
            <a:avLst/>
          </a:prstGeom>
        </p:spPr>
      </p:pic>
      <p:sp>
        <p:nvSpPr>
          <p:cNvPr id="18" name="!!avatar 2"/>
          <p:cNvSpPr/>
          <p:nvPr/>
        </p:nvSpPr>
        <p:spPr>
          <a:xfrm>
            <a:off x="8449056" y="2286000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9" name="!!initiales 2"/>
          <p:cNvSpPr txBox="1"/>
          <p:nvPr/>
        </p:nvSpPr>
        <p:spPr>
          <a:xfrm>
            <a:off x="8449056" y="2286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VF</a:t>
            </a:r>
            <a:endParaRPr lang="en-US" sz="2400" dirty="0"/>
          </a:p>
        </p:txBody>
      </p:sp>
      <p:sp>
        <p:nvSpPr>
          <p:cNvPr id="20" name="texte 13"/>
          <p:cNvSpPr txBox="1"/>
          <p:nvPr/>
        </p:nvSpPr>
        <p:spPr>
          <a:xfrm>
            <a:off x="9683496" y="23500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Valentin Furcy</a:t>
            </a:r>
            <a:endParaRPr lang="en-US" sz="1900" dirty="0"/>
          </a:p>
        </p:txBody>
      </p:sp>
      <p:sp>
        <p:nvSpPr>
          <p:cNvPr id="21" name="texte 14"/>
          <p:cNvSpPr txBox="1"/>
          <p:nvPr/>
        </p:nvSpPr>
        <p:spPr>
          <a:xfrm>
            <a:off x="9683496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 IA</a:t>
            </a:r>
            <a:endParaRPr lang="en-US" sz="1100" dirty="0"/>
          </a:p>
        </p:txBody>
      </p:sp>
      <p:sp>
        <p:nvSpPr>
          <p:cNvPr id="22" name="carte 15"/>
          <p:cNvSpPr/>
          <p:nvPr/>
        </p:nvSpPr>
        <p:spPr>
          <a:xfrm>
            <a:off x="640080" y="3995928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23" name="!!halo 3" descr="preencoded.png">    </p:cNvPr>
          <p:cNvPicPr>
            <a:picLocks noChangeAspect="1"/>
          </p:cNvPicPr>
          <p:nvPr/>
        </p:nvPicPr>
        <p:blipFill>
          <a:blip r:embed="rId4">
            <a:alphaModFix amt="65000"/>
          </a:blip>
          <a:stretch>
            <a:fillRect/>
          </a:stretch>
        </p:blipFill>
        <p:spPr>
          <a:xfrm>
            <a:off x="669798" y="4162806"/>
            <a:ext cx="1632204" cy="1632204"/>
          </a:xfrm>
          <a:prstGeom prst="rect">
            <a:avLst/>
          </a:prstGeom>
        </p:spPr>
      </p:pic>
      <p:sp>
        <p:nvSpPr>
          <p:cNvPr id="24" name="!!avatar 3"/>
          <p:cNvSpPr/>
          <p:nvPr/>
        </p:nvSpPr>
        <p:spPr>
          <a:xfrm>
            <a:off x="1005840" y="4498848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5" name="!!initiales 3"/>
          <p:cNvSpPr txBox="1"/>
          <p:nvPr/>
        </p:nvSpPr>
        <p:spPr>
          <a:xfrm>
            <a:off x="1005840" y="4498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AS</a:t>
            </a:r>
            <a:endParaRPr lang="en-US" sz="2400" dirty="0"/>
          </a:p>
        </p:txBody>
      </p:sp>
      <p:sp>
        <p:nvSpPr>
          <p:cNvPr id="26" name="texte 16"/>
          <p:cNvSpPr txBox="1"/>
          <p:nvPr/>
        </p:nvSpPr>
        <p:spPr>
          <a:xfrm>
            <a:off x="2240280" y="456285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Aurélien Serre</a:t>
            </a:r>
            <a:endParaRPr lang="en-US" sz="1900" dirty="0"/>
          </a:p>
        </p:txBody>
      </p:sp>
      <p:sp>
        <p:nvSpPr>
          <p:cNvPr id="27" name="texte 17"/>
          <p:cNvSpPr txBox="1"/>
          <p:nvPr/>
        </p:nvSpPr>
        <p:spPr>
          <a:xfrm>
            <a:off x="2240280" y="52578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 IA</a:t>
            </a:r>
            <a:endParaRPr lang="en-US" sz="1100" dirty="0"/>
          </a:p>
        </p:txBody>
      </p:sp>
      <p:sp>
        <p:nvSpPr>
          <p:cNvPr id="28" name="carte 18"/>
          <p:cNvSpPr/>
          <p:nvPr/>
        </p:nvSpPr>
        <p:spPr>
          <a:xfrm>
            <a:off x="4361688" y="3995928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29" name="!!halo 4" descr="preencoded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4391406" y="4162806"/>
            <a:ext cx="1632204" cy="1632204"/>
          </a:xfrm>
          <a:prstGeom prst="rect">
            <a:avLst/>
          </a:prstGeom>
        </p:spPr>
      </p:pic>
      <p:sp>
        <p:nvSpPr>
          <p:cNvPr id="30" name="!!avatar 4"/>
          <p:cNvSpPr/>
          <p:nvPr/>
        </p:nvSpPr>
        <p:spPr>
          <a:xfrm>
            <a:off x="4727448" y="4498848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31" name="!!initiales 4"/>
          <p:cNvSpPr txBox="1"/>
          <p:nvPr/>
        </p:nvSpPr>
        <p:spPr>
          <a:xfrm>
            <a:off x="4727448" y="4498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EP</a:t>
            </a:r>
            <a:endParaRPr lang="en-US" sz="2400" dirty="0"/>
          </a:p>
        </p:txBody>
      </p:sp>
      <p:sp>
        <p:nvSpPr>
          <p:cNvPr id="32" name="texte 19"/>
          <p:cNvSpPr txBox="1"/>
          <p:nvPr/>
        </p:nvSpPr>
        <p:spPr>
          <a:xfrm>
            <a:off x="5961888" y="456285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Enzo Palermo</a:t>
            </a:r>
            <a:endParaRPr lang="en-US" sz="1900" dirty="0"/>
          </a:p>
        </p:txBody>
      </p:sp>
      <p:sp>
        <p:nvSpPr>
          <p:cNvPr id="33" name="texte 20"/>
          <p:cNvSpPr txBox="1"/>
          <p:nvPr/>
        </p:nvSpPr>
        <p:spPr>
          <a:xfrm>
            <a:off x="5961888" y="52578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100" dirty="0"/>
          </a:p>
        </p:txBody>
      </p:sp>
      <p:sp>
        <p:nvSpPr>
          <p:cNvPr id="34" name="carte 21"/>
          <p:cNvSpPr/>
          <p:nvPr/>
        </p:nvSpPr>
        <p:spPr>
          <a:xfrm>
            <a:off x="8083296" y="3995928"/>
            <a:ext cx="3465576" cy="1965960"/>
          </a:xfrm>
          <a:prstGeom prst="roundRect">
            <a:avLst>
              <a:gd name="adj" fmla="val 558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35" name="!!halo 5" descr="preencoded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8113014" y="4162806"/>
            <a:ext cx="1632204" cy="1632204"/>
          </a:xfrm>
          <a:prstGeom prst="rect">
            <a:avLst/>
          </a:prstGeom>
        </p:spPr>
      </p:pic>
      <p:sp>
        <p:nvSpPr>
          <p:cNvPr id="36" name="!!avatar 5"/>
          <p:cNvSpPr/>
          <p:nvPr/>
        </p:nvSpPr>
        <p:spPr>
          <a:xfrm>
            <a:off x="8449056" y="4498848"/>
            <a:ext cx="960120" cy="960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7" name="!!initiales 5"/>
          <p:cNvSpPr txBox="1"/>
          <p:nvPr/>
        </p:nvSpPr>
        <p:spPr>
          <a:xfrm>
            <a:off x="8449056" y="4498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LS</a:t>
            </a:r>
            <a:endParaRPr lang="en-US" sz="2400" dirty="0"/>
          </a:p>
        </p:txBody>
      </p:sp>
      <p:sp>
        <p:nvSpPr>
          <p:cNvPr id="38" name="texte 22"/>
          <p:cNvSpPr txBox="1"/>
          <p:nvPr/>
        </p:nvSpPr>
        <p:spPr>
          <a:xfrm>
            <a:off x="9683496" y="456285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Léo Solana</a:t>
            </a:r>
            <a:endParaRPr lang="en-US" sz="1900" dirty="0"/>
          </a:p>
        </p:txBody>
      </p:sp>
      <p:sp>
        <p:nvSpPr>
          <p:cNvPr id="39" name="texte 23"/>
          <p:cNvSpPr txBox="1"/>
          <p:nvPr/>
        </p:nvSpPr>
        <p:spPr>
          <a:xfrm>
            <a:off x="9683496" y="52578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decel="10000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decel="10000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decel="10000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decel="10000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decel="10000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decel="10000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decel="10000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decel="10000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decel="10000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decel="10000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decel="10000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decel="10000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decel="10000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decel="10000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decel="10000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53" presetClass="entr" presetSubtype="16" fill="hold" decel="10000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53" presetClass="entr" presetSubtype="16" fill="hold" decel="10000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53" presetClass="entr" presetSubtype="16" fill="hold" grpId="0" decel="10000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decel="10000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decel="10000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decel="10000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grpId="0" decel="10000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5" grpId="0" animBg="1"/>
      <p:bldP spid="26" grpId="0" animBg="1"/>
      <p:bldP spid="27" grpId="0" animBg="1"/>
      <p:bldP spid="31" grpId="0" animBg="1"/>
      <p:bldP spid="32" grpId="0" animBg="1"/>
      <p:bldP spid="33" grpId="0" animBg="1"/>
      <p:bldP spid="37" grpId="0" animBg="1"/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 PROJET · ARCHITECTURE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Une seule porte, une boucle qui se referme</a:t>
            </a:r>
            <a:endParaRPr lang="en-US" sz="3400" dirty="0"/>
          </a:p>
        </p:txBody>
      </p:sp>
      <p:sp>
        <p:nvSpPr>
          <p:cNvPr id="4" name="texte 24"/>
          <p:cNvSpPr txBox="1"/>
          <p:nvPr/>
        </p:nvSpPr>
        <p:spPr>
          <a:xfrm>
            <a:off x="640080" y="1691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CHEMIN MÉTIER</a:t>
            </a:r>
            <a:endParaRPr lang="en-US" sz="1100" dirty="0"/>
          </a:p>
        </p:txBody>
      </p:sp>
      <p:sp>
        <p:nvSpPr>
          <p:cNvPr id="5" name="carte 25"/>
          <p:cNvSpPr/>
          <p:nvPr/>
        </p:nvSpPr>
        <p:spPr>
          <a:xfrm>
            <a:off x="640080" y="2011680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pastille 26"/>
          <p:cNvSpPr/>
          <p:nvPr/>
        </p:nvSpPr>
        <p:spPr>
          <a:xfrm>
            <a:off x="822960" y="2313432"/>
            <a:ext cx="566928" cy="566928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5875">
            <a:solidFill>
              <a:schemeClr val="accent2">
                <a:alpha val="55000"/>
              </a:schemeClr>
            </a:solidFill>
            <a:prstDash val="solid"/>
          </a:ln>
        </p:spPr>
      </p:sp>
      <p:pic>
        <p:nvPicPr>
          <p:cNvPr id="7" name="icône 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449495"/>
            <a:ext cx="294803" cy="294803"/>
          </a:xfrm>
          <a:prstGeom prst="rect">
            <a:avLst/>
          </a:prstGeom>
        </p:spPr>
      </p:pic>
      <p:sp>
        <p:nvSpPr>
          <p:cNvPr id="8" name="texte 28"/>
          <p:cNvSpPr txBox="1"/>
          <p:nvPr/>
        </p:nvSpPr>
        <p:spPr>
          <a:xfrm>
            <a:off x="1508760" y="22311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PC Attaquant</a:t>
            </a:r>
            <a:endParaRPr lang="en-US" sz="1600" dirty="0"/>
          </a:p>
        </p:txBody>
      </p:sp>
      <p:sp>
        <p:nvSpPr>
          <p:cNvPr id="9" name="texte 29"/>
          <p:cNvSpPr txBox="1"/>
          <p:nvPr/>
        </p:nvSpPr>
        <p:spPr>
          <a:xfrm>
            <a:off x="1508760" y="25786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hotspot du projet, 4 scénarios bornés</a:t>
            </a:r>
            <a:endParaRPr lang="en-US" sz="1150" dirty="0"/>
          </a:p>
        </p:txBody>
      </p:sp>
      <p:sp>
        <p:nvSpPr>
          <p:cNvPr id="10" name="flèche 30"/>
          <p:cNvSpPr/>
          <p:nvPr/>
        </p:nvSpPr>
        <p:spPr>
          <a:xfrm>
            <a:off x="2935224" y="2606040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carte 31"/>
          <p:cNvSpPr/>
          <p:nvPr/>
        </p:nvSpPr>
        <p:spPr>
          <a:xfrm>
            <a:off x="3529584" y="2011680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pastille 32"/>
          <p:cNvSpPr/>
          <p:nvPr/>
        </p:nvSpPr>
        <p:spPr>
          <a:xfrm>
            <a:off x="3712464" y="2313432"/>
            <a:ext cx="566928" cy="566928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3" name="icône 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527" y="2449495"/>
            <a:ext cx="294803" cy="294803"/>
          </a:xfrm>
          <a:prstGeom prst="rect">
            <a:avLst/>
          </a:prstGeom>
        </p:spPr>
      </p:pic>
      <p:sp>
        <p:nvSpPr>
          <p:cNvPr id="14" name="texte 34"/>
          <p:cNvSpPr txBox="1"/>
          <p:nvPr/>
        </p:nvSpPr>
        <p:spPr>
          <a:xfrm>
            <a:off x="4398264" y="22311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WAF</a:t>
            </a:r>
            <a:endParaRPr lang="en-US" sz="1600" dirty="0"/>
          </a:p>
        </p:txBody>
      </p:sp>
      <p:sp>
        <p:nvSpPr>
          <p:cNvPr id="15" name="texte 35"/>
          <p:cNvSpPr txBox="1"/>
          <p:nvPr/>
        </p:nvSpPr>
        <p:spPr>
          <a:xfrm>
            <a:off x="4398264" y="25786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ModSecurity + CRS, seul exposé</a:t>
            </a:r>
            <a:endParaRPr lang="en-US" sz="1150" dirty="0"/>
          </a:p>
        </p:txBody>
      </p:sp>
      <p:sp>
        <p:nvSpPr>
          <p:cNvPr id="16" name="flèche 36"/>
          <p:cNvSpPr/>
          <p:nvPr/>
        </p:nvSpPr>
        <p:spPr>
          <a:xfrm>
            <a:off x="5824728" y="2606040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carte 37"/>
          <p:cNvSpPr/>
          <p:nvPr/>
        </p:nvSpPr>
        <p:spPr>
          <a:xfrm>
            <a:off x="6419088" y="2011680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pastille 38"/>
          <p:cNvSpPr/>
          <p:nvPr/>
        </p:nvSpPr>
        <p:spPr>
          <a:xfrm>
            <a:off x="6601968" y="2313432"/>
            <a:ext cx="566928" cy="566928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19" name="icône 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031" y="2449495"/>
            <a:ext cx="294803" cy="294803"/>
          </a:xfrm>
          <a:prstGeom prst="rect">
            <a:avLst/>
          </a:prstGeom>
        </p:spPr>
      </p:pic>
      <p:sp>
        <p:nvSpPr>
          <p:cNvPr id="20" name="texte 40"/>
          <p:cNvSpPr txBox="1"/>
          <p:nvPr/>
        </p:nvSpPr>
        <p:spPr>
          <a:xfrm>
            <a:off x="7287768" y="22311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Services</a:t>
            </a:r>
            <a:endParaRPr lang="en-US" sz="1600" dirty="0"/>
          </a:p>
        </p:txBody>
      </p:sp>
      <p:sp>
        <p:nvSpPr>
          <p:cNvPr id="21" name="texte 41"/>
          <p:cNvSpPr txBox="1"/>
          <p:nvPr/>
        </p:nvSpPr>
        <p:spPr>
          <a:xfrm>
            <a:off x="7287768" y="25786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front · auth · payment-api ×3</a:t>
            </a:r>
            <a:endParaRPr lang="en-US" sz="1150" dirty="0"/>
          </a:p>
        </p:txBody>
      </p:sp>
      <p:sp>
        <p:nvSpPr>
          <p:cNvPr id="22" name="flèche 42"/>
          <p:cNvSpPr/>
          <p:nvPr/>
        </p:nvSpPr>
        <p:spPr>
          <a:xfrm>
            <a:off x="8714232" y="2606040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carte 43"/>
          <p:cNvSpPr/>
          <p:nvPr/>
        </p:nvSpPr>
        <p:spPr>
          <a:xfrm>
            <a:off x="9308592" y="2011680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4" name="pastille 44"/>
          <p:cNvSpPr/>
          <p:nvPr/>
        </p:nvSpPr>
        <p:spPr>
          <a:xfrm>
            <a:off x="9491472" y="2313432"/>
            <a:ext cx="566928" cy="566928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25" name="icône 4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7535" y="2449495"/>
            <a:ext cx="294803" cy="294803"/>
          </a:xfrm>
          <a:prstGeom prst="rect">
            <a:avLst/>
          </a:prstGeom>
        </p:spPr>
      </p:pic>
      <p:sp>
        <p:nvSpPr>
          <p:cNvPr id="26" name="texte 46"/>
          <p:cNvSpPr txBox="1"/>
          <p:nvPr/>
        </p:nvSpPr>
        <p:spPr>
          <a:xfrm>
            <a:off x="10177272" y="22311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PostgreSQL 16</a:t>
            </a:r>
            <a:endParaRPr lang="en-US" sz="1600" dirty="0"/>
          </a:p>
        </p:txBody>
      </p:sp>
      <p:sp>
        <p:nvSpPr>
          <p:cNvPr id="27" name="texte 47"/>
          <p:cNvSpPr txBox="1"/>
          <p:nvPr/>
        </p:nvSpPr>
        <p:spPr>
          <a:xfrm>
            <a:off x="10177272" y="25786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réseau data interne</a:t>
            </a:r>
            <a:endParaRPr lang="en-US" sz="1150" dirty="0"/>
          </a:p>
        </p:txBody>
      </p:sp>
      <p:sp>
        <p:nvSpPr>
          <p:cNvPr id="28" name="flèche 48"/>
          <p:cNvSpPr/>
          <p:nvPr/>
        </p:nvSpPr>
        <p:spPr>
          <a:xfrm>
            <a:off x="10428732" y="3255264"/>
            <a:ext cx="0" cy="91440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texte 49"/>
          <p:cNvSpPr txBox="1"/>
          <p:nvPr/>
        </p:nvSpPr>
        <p:spPr>
          <a:xfrm>
            <a:off x="8138160" y="3502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métriques · journaux</a:t>
            </a:r>
            <a:endParaRPr lang="en-US" sz="1150" dirty="0"/>
          </a:p>
        </p:txBody>
      </p:sp>
      <p:sp>
        <p:nvSpPr>
          <p:cNvPr id="30" name="texte 50"/>
          <p:cNvSpPr txBox="1"/>
          <p:nvPr/>
        </p:nvSpPr>
        <p:spPr>
          <a:xfrm>
            <a:off x="640080" y="3904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BOUCLE DE REPRISE</a:t>
            </a:r>
            <a:endParaRPr lang="en-US" sz="1100" dirty="0"/>
          </a:p>
        </p:txBody>
      </p:sp>
      <p:sp>
        <p:nvSpPr>
          <p:cNvPr id="31" name="carte 51"/>
          <p:cNvSpPr/>
          <p:nvPr/>
        </p:nvSpPr>
        <p:spPr>
          <a:xfrm>
            <a:off x="9308592" y="4224528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2" name="pastille 52"/>
          <p:cNvSpPr/>
          <p:nvPr/>
        </p:nvSpPr>
        <p:spPr>
          <a:xfrm>
            <a:off x="9491472" y="4526280"/>
            <a:ext cx="566928" cy="566928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33" name="icône 5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7535" y="4662343"/>
            <a:ext cx="294803" cy="294803"/>
          </a:xfrm>
          <a:prstGeom prst="rect">
            <a:avLst/>
          </a:prstGeom>
        </p:spPr>
      </p:pic>
      <p:sp>
        <p:nvSpPr>
          <p:cNvPr id="34" name="texte 54"/>
          <p:cNvSpPr txBox="1"/>
          <p:nvPr/>
        </p:nvSpPr>
        <p:spPr>
          <a:xfrm>
            <a:off x="10177272" y="4443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Observabilité</a:t>
            </a:r>
            <a:endParaRPr lang="en-US" sz="1600" dirty="0"/>
          </a:p>
        </p:txBody>
      </p:sp>
      <p:sp>
        <p:nvSpPr>
          <p:cNvPr id="35" name="texte 55"/>
          <p:cNvSpPr txBox="1"/>
          <p:nvPr/>
        </p:nvSpPr>
        <p:spPr>
          <a:xfrm>
            <a:off x="10177272" y="4791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Prometheus · Loki, chaque seconde</a:t>
            </a:r>
            <a:endParaRPr lang="en-US" sz="1150" dirty="0"/>
          </a:p>
        </p:txBody>
      </p:sp>
      <p:sp>
        <p:nvSpPr>
          <p:cNvPr id="36" name="flèche 56"/>
          <p:cNvSpPr/>
          <p:nvPr/>
        </p:nvSpPr>
        <p:spPr>
          <a:xfrm>
            <a:off x="8714232" y="4818888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headEnd type="triangle"/>
          </a:ln>
        </p:spPr>
      </p:sp>
      <p:sp>
        <p:nvSpPr>
          <p:cNvPr id="37" name="carte 57"/>
          <p:cNvSpPr/>
          <p:nvPr/>
        </p:nvSpPr>
        <p:spPr>
          <a:xfrm>
            <a:off x="6419088" y="4224528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8" name="pastille 58"/>
          <p:cNvSpPr/>
          <p:nvPr/>
        </p:nvSpPr>
        <p:spPr>
          <a:xfrm>
            <a:off x="6601968" y="4526280"/>
            <a:ext cx="566928" cy="566928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39" name="icône 5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031" y="4662343"/>
            <a:ext cx="294803" cy="294803"/>
          </a:xfrm>
          <a:prstGeom prst="rect">
            <a:avLst/>
          </a:prstGeom>
        </p:spPr>
      </p:pic>
      <p:sp>
        <p:nvSpPr>
          <p:cNvPr id="40" name="texte 60"/>
          <p:cNvSpPr txBox="1"/>
          <p:nvPr/>
        </p:nvSpPr>
        <p:spPr>
          <a:xfrm>
            <a:off x="7287768" y="4443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Détection ML</a:t>
            </a:r>
            <a:endParaRPr lang="en-US" sz="1600" dirty="0"/>
          </a:p>
        </p:txBody>
      </p:sp>
      <p:sp>
        <p:nvSpPr>
          <p:cNvPr id="41" name="texte 61"/>
          <p:cNvSpPr txBox="1"/>
          <p:nvPr/>
        </p:nvSpPr>
        <p:spPr>
          <a:xfrm>
            <a:off x="7287768" y="4791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IsolationForest → AnomalyEvent</a:t>
            </a:r>
            <a:endParaRPr lang="en-US" sz="1150" dirty="0"/>
          </a:p>
        </p:txBody>
      </p:sp>
      <p:sp>
        <p:nvSpPr>
          <p:cNvPr id="42" name="flèche 62"/>
          <p:cNvSpPr/>
          <p:nvPr/>
        </p:nvSpPr>
        <p:spPr>
          <a:xfrm>
            <a:off x="5824728" y="4818888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headEnd type="triangle"/>
          </a:ln>
        </p:spPr>
      </p:sp>
      <p:sp>
        <p:nvSpPr>
          <p:cNvPr id="43" name="carte 63"/>
          <p:cNvSpPr/>
          <p:nvPr/>
        </p:nvSpPr>
        <p:spPr>
          <a:xfrm>
            <a:off x="3529584" y="4224528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44" name="pastille 64"/>
          <p:cNvSpPr/>
          <p:nvPr/>
        </p:nvSpPr>
        <p:spPr>
          <a:xfrm>
            <a:off x="3712464" y="4526280"/>
            <a:ext cx="566928" cy="566928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45" name="icône 6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8527" y="4662343"/>
            <a:ext cx="294803" cy="294803"/>
          </a:xfrm>
          <a:prstGeom prst="rect">
            <a:avLst/>
          </a:prstGeom>
        </p:spPr>
      </p:pic>
      <p:sp>
        <p:nvSpPr>
          <p:cNvPr id="46" name="texte 66"/>
          <p:cNvSpPr txBox="1"/>
          <p:nvPr/>
        </p:nvSpPr>
        <p:spPr>
          <a:xfrm>
            <a:off x="4398264" y="4443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Remédiation</a:t>
            </a:r>
            <a:endParaRPr lang="en-US" sz="1600" dirty="0"/>
          </a:p>
        </p:txBody>
      </p:sp>
      <p:sp>
        <p:nvSpPr>
          <p:cNvPr id="47" name="texte 67"/>
          <p:cNvSpPr txBox="1"/>
          <p:nvPr/>
        </p:nvSpPr>
        <p:spPr>
          <a:xfrm>
            <a:off x="4398264" y="4791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table de décision, jamais exposée</a:t>
            </a:r>
            <a:endParaRPr lang="en-US" sz="1150" dirty="0"/>
          </a:p>
        </p:txBody>
      </p:sp>
      <p:sp>
        <p:nvSpPr>
          <p:cNvPr id="48" name="flèche 68"/>
          <p:cNvSpPr/>
          <p:nvPr/>
        </p:nvSpPr>
        <p:spPr>
          <a:xfrm>
            <a:off x="2935224" y="4818888"/>
            <a:ext cx="539496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headEnd type="triangle"/>
          </a:ln>
        </p:spPr>
      </p:sp>
      <p:sp>
        <p:nvSpPr>
          <p:cNvPr id="49" name="carte 69"/>
          <p:cNvSpPr/>
          <p:nvPr/>
        </p:nvSpPr>
        <p:spPr>
          <a:xfrm>
            <a:off x="640080" y="4224528"/>
            <a:ext cx="2240280" cy="1188720"/>
          </a:xfrm>
          <a:prstGeom prst="roundRect">
            <a:avLst>
              <a:gd name="adj" fmla="val 923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50" name="pastille 70"/>
          <p:cNvSpPr/>
          <p:nvPr/>
        </p:nvSpPr>
        <p:spPr>
          <a:xfrm>
            <a:off x="822960" y="4526280"/>
            <a:ext cx="566928" cy="566928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51" name="icône 7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023" y="4662343"/>
            <a:ext cx="294803" cy="294803"/>
          </a:xfrm>
          <a:prstGeom prst="rect">
            <a:avLst/>
          </a:prstGeom>
        </p:spPr>
      </p:pic>
      <p:sp>
        <p:nvSpPr>
          <p:cNvPr id="52" name="texte 72"/>
          <p:cNvSpPr txBox="1"/>
          <p:nvPr/>
        </p:nvSpPr>
        <p:spPr>
          <a:xfrm>
            <a:off x="1508760" y="4443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Preuve</a:t>
            </a:r>
            <a:endParaRPr lang="en-US" sz="1600" dirty="0"/>
          </a:p>
        </p:txBody>
      </p:sp>
      <p:sp>
        <p:nvSpPr>
          <p:cNvPr id="53" name="texte 73"/>
          <p:cNvSpPr txBox="1"/>
          <p:nvPr/>
        </p:nvSpPr>
        <p:spPr>
          <a:xfrm>
            <a:off x="1508760" y="47914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verify_tx + timeline au dashboard</a:t>
            </a:r>
            <a:endParaRPr lang="en-US" sz="1150" dirty="0"/>
          </a:p>
        </p:txBody>
      </p:sp>
      <p:sp>
        <p:nvSpPr>
          <p:cNvPr id="54" name="flèche 74"/>
          <p:cNvSpPr/>
          <p:nvPr/>
        </p:nvSpPr>
        <p:spPr>
          <a:xfrm>
            <a:off x="4649724" y="3255264"/>
            <a:ext cx="0" cy="9144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55" name="texte 75"/>
          <p:cNvSpPr txBox="1"/>
          <p:nvPr/>
        </p:nvSpPr>
        <p:spPr>
          <a:xfrm>
            <a:off x="4786884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bloque l'IP · redémarre · restaure</a:t>
            </a:r>
            <a:endParaRPr lang="en-US" sz="1150" dirty="0"/>
          </a:p>
        </p:txBody>
      </p:sp>
      <p:sp>
        <p:nvSpPr>
          <p:cNvPr id="56" name="texte 76"/>
          <p:cNvSpPr txBox="1"/>
          <p:nvPr/>
        </p:nvSpPr>
        <p:spPr>
          <a:xfrm>
            <a:off x="640080" y="56692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Seuls 80/443 publiés   ·   réseaux data et obs internes   ·   Docker via un proxy : 5 appels autorisés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decel="10000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decel="10000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decel="10000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decel="10000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decel="10000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decel="10000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decel="10000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decel="10000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decel="10000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decel="10000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decel="10000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decel="10000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decel="10000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decel="10000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decel="10000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decel="10000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decel="10000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decel="10000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decel="10000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decel="10000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decel="10000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decel="10000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decel="10000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decel="10000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decel="10000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decel="10000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4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5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decel="10000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9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42" presetClass="entr" presetSubtype="0" fill="hold" decel="10000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5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decel="10000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9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decel="10000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4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4" grpId="0" animBg="1"/>
      <p:bldP spid="15" grpId="0" animBg="1"/>
      <p:bldP spid="20" grpId="0" animBg="1"/>
      <p:bldP spid="21" grpId="0" animBg="1"/>
      <p:bldP spid="26" grpId="0" animBg="1"/>
      <p:bldP spid="27" grpId="0" animBg="1"/>
      <p:bldP spid="29" grpId="0" animBg="1"/>
      <p:bldP spid="30" grpId="0" animBg="1"/>
      <p:bldP spid="34" grpId="0" animBg="1"/>
      <p:bldP spid="35" grpId="0" animBg="1"/>
      <p:bldP spid="40" grpId="0" animBg="1"/>
      <p:bldP spid="41" grpId="0" animBg="1"/>
      <p:bldP spid="46" grpId="0" animBg="1"/>
      <p:bldP spid="47" grpId="0" animBg="1"/>
      <p:bldP spid="52" grpId="0" animBg="1"/>
      <p:bldP spid="53" grpId="0" animBg="1"/>
      <p:bldP spid="55" grpId="0" animBg="1"/>
      <p:bldP spid="5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 PROJET · LA DÉMO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Cinq temps, une seule commande</a:t>
            </a:r>
            <a:endParaRPr lang="en-US" sz="3400" dirty="0"/>
          </a:p>
        </p:txBody>
      </p:sp>
      <p:sp>
        <p:nvSpPr>
          <p:cNvPr id="4" name="frise 77"/>
          <p:cNvSpPr/>
          <p:nvPr/>
        </p:nvSpPr>
        <p:spPr>
          <a:xfrm>
            <a:off x="1463040" y="2743200"/>
            <a:ext cx="9262872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pic>
        <p:nvPicPr>
          <p:cNvPr id="5" name="nœud 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1005840" cy="1005840"/>
          </a:xfrm>
          <a:prstGeom prst="rect">
            <a:avLst/>
          </a:prstGeom>
        </p:spPr>
      </p:pic>
      <p:sp>
        <p:nvSpPr>
          <p:cNvPr id="6" name="texte 79"/>
          <p:cNvSpPr txBox="1"/>
          <p:nvPr/>
        </p:nvSpPr>
        <p:spPr>
          <a:xfrm>
            <a:off x="123444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e 80"/>
          <p:cNvSpPr txBox="1"/>
          <p:nvPr/>
        </p:nvSpPr>
        <p:spPr>
          <a:xfrm>
            <a:off x="411480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Avant</a:t>
            </a:r>
            <a:endParaRPr lang="en-US" sz="2100" dirty="0"/>
          </a:p>
        </p:txBody>
      </p:sp>
      <p:sp>
        <p:nvSpPr>
          <p:cNvPr id="8" name="texte 81"/>
          <p:cNvSpPr txBox="1"/>
          <p:nvPr/>
        </p:nvSpPr>
        <p:spPr>
          <a:xfrm>
            <a:off x="41148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bg2"/>
                </a:solidFill>
              </a:rPr>
              <a:t>verify_tx passe : un virement fictif traverse WAF, API et base.</a:t>
            </a:r>
            <a:endParaRPr lang="en-US" sz="1350" dirty="0"/>
          </a:p>
        </p:txBody>
      </p:sp>
      <p:pic>
        <p:nvPicPr>
          <p:cNvPr id="9" name="nœud 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2240280"/>
            <a:ext cx="1005840" cy="1005840"/>
          </a:xfrm>
          <a:prstGeom prst="rect">
            <a:avLst/>
          </a:prstGeom>
        </p:spPr>
      </p:pic>
      <p:sp>
        <p:nvSpPr>
          <p:cNvPr id="10" name="texte 83"/>
          <p:cNvSpPr txBox="1"/>
          <p:nvPr/>
        </p:nvSpPr>
        <p:spPr>
          <a:xfrm>
            <a:off x="3547872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e 84"/>
          <p:cNvSpPr txBox="1"/>
          <p:nvPr/>
        </p:nvSpPr>
        <p:spPr>
          <a:xfrm>
            <a:off x="2724912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Attaque</a:t>
            </a:r>
            <a:endParaRPr lang="en-US" sz="2100" dirty="0"/>
          </a:p>
        </p:txBody>
      </p:sp>
      <p:sp>
        <p:nvSpPr>
          <p:cNvPr id="12" name="texte 85"/>
          <p:cNvSpPr txBox="1"/>
          <p:nvPr/>
        </p:nvSpPr>
        <p:spPr>
          <a:xfrm>
            <a:off x="2724912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bg2"/>
                </a:solidFill>
              </a:rPr>
              <a:t>service_flood depuis le PC Attaquant, intensité et durée bornées.</a:t>
            </a:r>
            <a:endParaRPr lang="en-US" sz="1350" dirty="0"/>
          </a:p>
        </p:txBody>
      </p:sp>
      <p:pic>
        <p:nvPicPr>
          <p:cNvPr id="13" name="nœud 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2240280"/>
            <a:ext cx="1005840" cy="1005840"/>
          </a:xfrm>
          <a:prstGeom prst="rect">
            <a:avLst/>
          </a:prstGeom>
        </p:spPr>
      </p:pic>
      <p:sp>
        <p:nvSpPr>
          <p:cNvPr id="14" name="texte 87"/>
          <p:cNvSpPr txBox="1"/>
          <p:nvPr/>
        </p:nvSpPr>
        <p:spPr>
          <a:xfrm>
            <a:off x="5870448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e 88"/>
          <p:cNvSpPr txBox="1"/>
          <p:nvPr/>
        </p:nvSpPr>
        <p:spPr>
          <a:xfrm>
            <a:off x="5047488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Détection</a:t>
            </a:r>
            <a:endParaRPr lang="en-US" sz="2100" dirty="0"/>
          </a:p>
        </p:txBody>
      </p:sp>
      <p:sp>
        <p:nvSpPr>
          <p:cNvPr id="16" name="texte 89"/>
          <p:cNvSpPr txBox="1"/>
          <p:nvPr/>
        </p:nvSpPr>
        <p:spPr>
          <a:xfrm>
            <a:off x="5047488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bg2"/>
                </a:solidFill>
              </a:rPr>
              <a:t>le modèle voit l'anomalie en secondes et désigne l'IP source.</a:t>
            </a:r>
            <a:endParaRPr lang="en-US" sz="1350" dirty="0"/>
          </a:p>
        </p:txBody>
      </p:sp>
      <p:pic>
        <p:nvPicPr>
          <p:cNvPr id="17" name="nœud 9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2240280"/>
            <a:ext cx="1005840" cy="1005840"/>
          </a:xfrm>
          <a:prstGeom prst="rect">
            <a:avLst/>
          </a:prstGeom>
        </p:spPr>
      </p:pic>
      <p:sp>
        <p:nvSpPr>
          <p:cNvPr id="18" name="texte 91"/>
          <p:cNvSpPr txBox="1"/>
          <p:nvPr/>
        </p:nvSpPr>
        <p:spPr>
          <a:xfrm>
            <a:off x="818388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9" name="texte 92"/>
          <p:cNvSpPr txBox="1"/>
          <p:nvPr/>
        </p:nvSpPr>
        <p:spPr>
          <a:xfrm>
            <a:off x="7360920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4"/>
                </a:solidFill>
              </a:rPr>
              <a:t>Remédiation</a:t>
            </a:r>
            <a:endParaRPr lang="en-US" sz="2100" dirty="0"/>
          </a:p>
        </p:txBody>
      </p:sp>
      <p:sp>
        <p:nvSpPr>
          <p:cNvPr id="20" name="texte 93"/>
          <p:cNvSpPr txBox="1"/>
          <p:nvPr/>
        </p:nvSpPr>
        <p:spPr>
          <a:xfrm>
            <a:off x="736092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bg2"/>
                </a:solidFill>
              </a:rPr>
              <a:t>le moteur bloque l'IP, relance si besoin, rejoue verify_tx.</a:t>
            </a:r>
            <a:endParaRPr lang="en-US" sz="1350" dirty="0"/>
          </a:p>
        </p:txBody>
      </p:sp>
      <p:pic>
        <p:nvPicPr>
          <p:cNvPr id="21" name="nœud 9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2992" y="2240280"/>
            <a:ext cx="1005840" cy="1005840"/>
          </a:xfrm>
          <a:prstGeom prst="rect">
            <a:avLst/>
          </a:prstGeom>
        </p:spPr>
      </p:pic>
      <p:sp>
        <p:nvSpPr>
          <p:cNvPr id="22" name="texte 95"/>
          <p:cNvSpPr txBox="1"/>
          <p:nvPr/>
        </p:nvSpPr>
        <p:spPr>
          <a:xfrm>
            <a:off x="10497312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3" name="texte 96"/>
          <p:cNvSpPr txBox="1"/>
          <p:nvPr/>
        </p:nvSpPr>
        <p:spPr>
          <a:xfrm>
            <a:off x="9674352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Après</a:t>
            </a:r>
            <a:endParaRPr lang="en-US" sz="2100" dirty="0"/>
          </a:p>
        </p:txBody>
      </p:sp>
      <p:sp>
        <p:nvSpPr>
          <p:cNvPr id="24" name="texte 97"/>
          <p:cNvSpPr txBox="1"/>
          <p:nvPr/>
        </p:nvSpPr>
        <p:spPr>
          <a:xfrm>
            <a:off x="9674352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bg2"/>
                </a:solidFill>
              </a:rPr>
              <a:t>transaction OK : incident clos, MTTD et MTTR affichés.</a:t>
            </a:r>
            <a:endParaRPr lang="en-US" sz="1350" dirty="0"/>
          </a:p>
        </p:txBody>
      </p:sp>
      <p:pic>
        <p:nvPicPr>
          <p:cNvPr id="25" name="!!poul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029200"/>
            <a:ext cx="10908792" cy="685800"/>
          </a:xfrm>
          <a:prstGeom prst="rect">
            <a:avLst/>
          </a:prstGeom>
        </p:spPr>
      </p:pic>
      <p:sp>
        <p:nvSpPr>
          <p:cNvPr id="26" name="texte 98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make demo   ·   aucune main sur le clavier entre ② et ⑤   ·   Clip Chrono ≤ 60 s, sans coupe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1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decel="10000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decel="10000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decel="10000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decel="10000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decel="10000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decel="10000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decel="10000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decel="10000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decel="10000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decel="10000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1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Yanis Capelle</a:t>
            </a:r>
            <a:endParaRPr lang="en-US" sz="3400" dirty="0"/>
          </a:p>
        </p:txBody>
      </p:sp>
      <p:pic>
        <p:nvPicPr>
          <p:cNvPr id="4" name="!!halo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0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!!initiales 0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YC</a:t>
            </a:r>
            <a:endParaRPr lang="en-US" sz="5400" dirty="0"/>
          </a:p>
        </p:txBody>
      </p:sp>
      <p:sp>
        <p:nvSpPr>
          <p:cNvPr id="7" name="texte 99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400" dirty="0"/>
          </a:p>
        </p:txBody>
      </p:sp>
      <p:sp>
        <p:nvSpPr>
          <p:cNvPr id="8" name="texte 100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La plateforme, le moteur de reprise, et le fil qui relie tout.</a:t>
            </a:r>
            <a:endParaRPr lang="en-US" sz="1700" dirty="0"/>
          </a:p>
        </p:txBody>
      </p:sp>
      <p:sp>
        <p:nvSpPr>
          <p:cNvPr id="9" name="carte 101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02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11" name="icône 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04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Plateforme bancaire</a:t>
            </a:r>
            <a:endParaRPr lang="en-US" sz="1900" dirty="0"/>
          </a:p>
        </p:txBody>
      </p:sp>
      <p:sp>
        <p:nvSpPr>
          <p:cNvPr id="13" name="texte 105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payment-api, auth et front : comptes, virements, cartes, relevés</a:t>
            </a:r>
            <a:endParaRPr lang="en-US" sz="1450" dirty="0"/>
          </a:p>
        </p:txBody>
      </p:sp>
      <p:sp>
        <p:nvSpPr>
          <p:cNvPr id="14" name="carte 106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07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6" name="icône 1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09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Moteur de remédiation</a:t>
            </a:r>
            <a:endParaRPr lang="en-US" sz="1900" dirty="0"/>
          </a:p>
        </p:txBody>
      </p:sp>
      <p:sp>
        <p:nvSpPr>
          <p:cNvPr id="18" name="texte 110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table de décision, privilèges bornés, contrats d'interfaces</a:t>
            </a:r>
            <a:endParaRPr lang="en-US" sz="1450" dirty="0"/>
          </a:p>
        </p:txBody>
      </p:sp>
      <p:sp>
        <p:nvSpPr>
          <p:cNvPr id="19" name="carte 111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12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21" name="icône 1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14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Intégration et gouvernance</a:t>
            </a:r>
            <a:endParaRPr lang="en-US" sz="1900" dirty="0"/>
          </a:p>
        </p:txBody>
      </p:sp>
      <p:sp>
        <p:nvSpPr>
          <p:cNvPr id="23" name="texte 115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revues et fusions, EBIOS RM, PCA/PRA, NIS2/DORA, dossier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2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Louis Nectoux</a:t>
            </a:r>
            <a:endParaRPr lang="en-US" sz="3400" dirty="0"/>
          </a:p>
        </p:txBody>
      </p:sp>
      <p:pic>
        <p:nvPicPr>
          <p:cNvPr id="4" name="!!halo 1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1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6" name="!!initiales 1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LN</a:t>
            </a:r>
            <a:endParaRPr lang="en-US" sz="5400" dirty="0"/>
          </a:p>
        </p:txBody>
      </p:sp>
      <p:sp>
        <p:nvSpPr>
          <p:cNvPr id="7" name="texte 116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400" dirty="0"/>
          </a:p>
        </p:txBody>
      </p:sp>
      <p:sp>
        <p:nvSpPr>
          <p:cNvPr id="8" name="texte 117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Celui qui attaque la plateforme, et celui qui la verrouille.</a:t>
            </a:r>
            <a:endParaRPr lang="en-US" sz="1700" dirty="0"/>
          </a:p>
        </p:txBody>
      </p:sp>
      <p:sp>
        <p:nvSpPr>
          <p:cNvPr id="9" name="carte 118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19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5875">
            <a:solidFill>
              <a:schemeClr val="accent2">
                <a:alpha val="55000"/>
              </a:schemeClr>
            </a:solidFill>
            <a:prstDash val="solid"/>
          </a:ln>
        </p:spPr>
      </p:sp>
      <p:pic>
        <p:nvPicPr>
          <p:cNvPr id="11" name="icône 12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21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Red Team bornée</a:t>
            </a:r>
            <a:endParaRPr lang="en-US" sz="1900" dirty="0"/>
          </a:p>
        </p:txBody>
      </p:sp>
      <p:sp>
        <p:nvSpPr>
          <p:cNvPr id="13" name="texte 122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scénarios d'attaque, console et runbook du PC Attaquant, chaos</a:t>
            </a:r>
            <a:endParaRPr lang="en-US" sz="1450" dirty="0"/>
          </a:p>
        </p:txBody>
      </p:sp>
      <p:sp>
        <p:nvSpPr>
          <p:cNvPr id="14" name="carte 123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24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16" name="icône 1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26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Back-office facial</a:t>
            </a:r>
            <a:endParaRPr lang="en-US" sz="1900" dirty="0"/>
          </a:p>
        </p:txBody>
      </p:sp>
      <p:sp>
        <p:nvSpPr>
          <p:cNvPr id="18" name="texte 127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identifiant, visage, mot de passe ; habilitations de bout en bout</a:t>
            </a:r>
            <a:endParaRPr lang="en-US" sz="1450" dirty="0"/>
          </a:p>
        </p:txBody>
      </p:sp>
      <p:sp>
        <p:nvSpPr>
          <p:cNvPr id="19" name="carte 128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29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21" name="icône 13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31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Durcissement et SOC</a:t>
            </a:r>
            <a:endParaRPr lang="en-US" sz="1900" dirty="0"/>
          </a:p>
        </p:txBody>
      </p:sp>
      <p:sp>
        <p:nvSpPr>
          <p:cNvPr id="23" name="texte 132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audit de sécurité, règles SOC, tests de bout en bout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3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Valentin Furcy</a:t>
            </a:r>
            <a:endParaRPr lang="en-US" sz="3400" dirty="0"/>
          </a:p>
        </p:txBody>
      </p:sp>
      <p:pic>
        <p:nvPicPr>
          <p:cNvPr id="4" name="!!halo 2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2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6" name="!!initiales 2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VF</a:t>
            </a:r>
            <a:endParaRPr lang="en-US" sz="5400" dirty="0"/>
          </a:p>
        </p:txBody>
      </p:sp>
      <p:sp>
        <p:nvSpPr>
          <p:cNvPr id="7" name="texte 133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 IA</a:t>
            </a:r>
            <a:endParaRPr lang="en-US" sz="1400" dirty="0"/>
          </a:p>
        </p:txBody>
      </p:sp>
      <p:sp>
        <p:nvSpPr>
          <p:cNvPr id="8" name="texte 134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Faire voir l'attaque au modèle, en quelques secondes.</a:t>
            </a:r>
            <a:endParaRPr lang="en-US" sz="1700" dirty="0"/>
          </a:p>
        </p:txBody>
      </p:sp>
      <p:sp>
        <p:nvSpPr>
          <p:cNvPr id="9" name="carte 135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36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11" name="icône 13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38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Détection sur séries réelles</a:t>
            </a:r>
            <a:endParaRPr lang="en-US" sz="1900" dirty="0"/>
          </a:p>
        </p:txBody>
      </p:sp>
      <p:sp>
        <p:nvSpPr>
          <p:cNvPr id="13" name="texte 139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captures, calibration : de 37 s à 2 s pour voir un flood</a:t>
            </a:r>
            <a:endParaRPr lang="en-US" sz="1450" dirty="0"/>
          </a:p>
        </p:txBody>
      </p:sp>
      <p:sp>
        <p:nvSpPr>
          <p:cNvPr id="14" name="carte 140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41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5875">
            <a:solidFill>
              <a:schemeClr val="accent2">
                <a:alpha val="55000"/>
              </a:schemeClr>
            </a:solidFill>
            <a:prstDash val="solid"/>
          </a:ln>
        </p:spPr>
      </p:sp>
      <p:pic>
        <p:nvPicPr>
          <p:cNvPr id="16" name="icône 14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43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L'attaquant désigné</a:t>
            </a:r>
            <a:endParaRPr lang="en-US" sz="1900" dirty="0"/>
          </a:p>
        </p:txBody>
      </p:sp>
      <p:sp>
        <p:nvSpPr>
          <p:cNvPr id="18" name="texte 144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IP source retrouvée dans les journaux du WAF, puis bloquée</a:t>
            </a:r>
            <a:endParaRPr lang="en-US" sz="1450" dirty="0"/>
          </a:p>
        </p:txBody>
      </p:sp>
      <p:sp>
        <p:nvSpPr>
          <p:cNvPr id="19" name="carte 145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46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21" name="icône 14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48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Une stack qui tient</a:t>
            </a:r>
            <a:endParaRPr lang="en-US" sz="1900" dirty="0"/>
          </a:p>
        </p:txBody>
      </p:sp>
      <p:sp>
        <p:nvSpPr>
          <p:cNvPr id="23" name="texte 149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lancement fiable, 3 répliques de payment-api, modèle facial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4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Aurélien Serre</a:t>
            </a:r>
            <a:endParaRPr lang="en-US" sz="3400" dirty="0"/>
          </a:p>
        </p:txBody>
      </p:sp>
      <p:pic>
        <p:nvPicPr>
          <p:cNvPr id="4" name="!!halo 3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3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6" name="!!initiales 3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AS</a:t>
            </a:r>
            <a:endParaRPr lang="en-US" sz="5400" dirty="0"/>
          </a:p>
        </p:txBody>
      </p:sp>
      <p:sp>
        <p:nvSpPr>
          <p:cNvPr id="7" name="texte 150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 IA</a:t>
            </a:r>
            <a:endParaRPr lang="en-US" sz="1400" dirty="0"/>
          </a:p>
        </p:txBody>
      </p:sp>
      <p:sp>
        <p:nvSpPr>
          <p:cNvPr id="8" name="texte 151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Un assistant qui explique l'incident, sans jamais agir.</a:t>
            </a:r>
            <a:endParaRPr lang="en-US" sz="1700" dirty="0"/>
          </a:p>
        </p:txBody>
      </p:sp>
      <p:sp>
        <p:nvSpPr>
          <p:cNvPr id="9" name="carte 152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53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11" name="icône 1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55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Assistant RAG</a:t>
            </a:r>
            <a:endParaRPr lang="en-US" sz="1900" dirty="0"/>
          </a:p>
        </p:txBody>
      </p:sp>
      <p:sp>
        <p:nvSpPr>
          <p:cNvPr id="13" name="texte 156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modèle local ≤ 8B, LangChain, Chroma, dans le dashboard</a:t>
            </a:r>
            <a:endParaRPr lang="en-US" sz="1450" dirty="0"/>
          </a:p>
        </p:txBody>
      </p:sp>
      <p:sp>
        <p:nvSpPr>
          <p:cNvPr id="14" name="carte 157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58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6" name="icône 15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60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Résumé DSI et post-mortem</a:t>
            </a:r>
            <a:endParaRPr lang="en-US" sz="1900" dirty="0"/>
          </a:p>
        </p:txBody>
      </p:sp>
      <p:sp>
        <p:nvSpPr>
          <p:cNvPr id="18" name="texte 161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rédigés à partir du journal d'incident</a:t>
            </a:r>
            <a:endParaRPr lang="en-US" sz="1450" dirty="0"/>
          </a:p>
        </p:txBody>
      </p:sp>
      <p:sp>
        <p:nvSpPr>
          <p:cNvPr id="19" name="carte 162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63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21" name="icône 16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65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Isolé de l'automate</a:t>
            </a:r>
            <a:endParaRPr lang="en-US" sz="1900" dirty="0"/>
          </a:p>
        </p:txBody>
      </p:sp>
      <p:sp>
        <p:nvSpPr>
          <p:cNvPr id="23" name="texte 166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réseau séparé ; toute commande proposée exige une confirmation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5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Enzo Palermo</a:t>
            </a:r>
            <a:endParaRPr lang="en-US" sz="3400" dirty="0"/>
          </a:p>
        </p:txBody>
      </p:sp>
      <p:pic>
        <p:nvPicPr>
          <p:cNvPr id="4" name="!!halo 4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4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!!initiales 4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EP</a:t>
            </a:r>
            <a:endParaRPr lang="en-US" sz="5400" dirty="0"/>
          </a:p>
        </p:txBody>
      </p:sp>
      <p:sp>
        <p:nvSpPr>
          <p:cNvPr id="7" name="texte 167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400" dirty="0"/>
          </a:p>
        </p:txBody>
      </p:sp>
      <p:sp>
        <p:nvSpPr>
          <p:cNvPr id="8" name="texte 168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Le témoin physique de l'authentification.</a:t>
            </a:r>
            <a:endParaRPr lang="en-US" sz="1700" dirty="0"/>
          </a:p>
        </p:txBody>
      </p:sp>
      <p:sp>
        <p:nvSpPr>
          <p:cNvPr id="9" name="carte 169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70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1" name="icône 1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72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Firmware ESP8266</a:t>
            </a:r>
            <a:endParaRPr lang="en-US" sz="1900" dirty="0"/>
          </a:p>
        </p:txBody>
      </p:sp>
      <p:sp>
        <p:nvSpPr>
          <p:cNvPr id="13" name="texte 173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LED bicolore, machine à états, Wi-Fi, HTTP et MQTT</a:t>
            </a:r>
            <a:endParaRPr lang="en-US" sz="1450" dirty="0"/>
          </a:p>
        </p:txBody>
      </p:sp>
      <p:sp>
        <p:nvSpPr>
          <p:cNvPr id="14" name="carte 174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75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16" name="icône 1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77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Broker MQTT durci</a:t>
            </a:r>
            <a:endParaRPr lang="en-US" sz="1900" dirty="0"/>
          </a:p>
        </p:txBody>
      </p:sp>
      <p:sp>
        <p:nvSpPr>
          <p:cNvPr id="18" name="texte 178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Mosquitto authentifié, ACL par topic, profil iot</a:t>
            </a:r>
            <a:endParaRPr lang="en-US" sz="1450" dirty="0"/>
          </a:p>
        </p:txBody>
      </p:sp>
      <p:sp>
        <p:nvSpPr>
          <p:cNvPr id="19" name="carte 179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80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21" name="icône 18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82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Secrets chiffrés</a:t>
            </a:r>
            <a:endParaRPr lang="en-US" sz="1900" dirty="0"/>
          </a:p>
        </p:txBody>
      </p:sp>
      <p:sp>
        <p:nvSpPr>
          <p:cNvPr id="23" name="texte 183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SOPS et age : aucun secret en clair dans le dépôt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L'ÉQUIPE · 6 /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86384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Léo Solana</a:t>
            </a:r>
            <a:endParaRPr lang="en-US" sz="3400" dirty="0"/>
          </a:p>
        </p:txBody>
      </p:sp>
      <p:pic>
        <p:nvPicPr>
          <p:cNvPr id="4" name="!!halo 5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498348" y="1412748"/>
            <a:ext cx="3575304" cy="3575304"/>
          </a:xfrm>
          <a:prstGeom prst="rect">
            <a:avLst/>
          </a:prstGeom>
        </p:spPr>
      </p:pic>
      <p:sp>
        <p:nvSpPr>
          <p:cNvPr id="5" name="!!avatar 5"/>
          <p:cNvSpPr/>
          <p:nvPr/>
        </p:nvSpPr>
        <p:spPr>
          <a:xfrm>
            <a:off x="1234440" y="2148840"/>
            <a:ext cx="2103120" cy="210312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6" name="!!initiales 5"/>
          <p:cNvSpPr txBox="1"/>
          <p:nvPr/>
        </p:nvSpPr>
        <p:spPr>
          <a:xfrm>
            <a:off x="1234440" y="21488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LS</a:t>
            </a:r>
            <a:endParaRPr lang="en-US" sz="5400" dirty="0"/>
          </a:p>
        </p:txBody>
      </p:sp>
      <p:sp>
        <p:nvSpPr>
          <p:cNvPr id="7" name="texte 184"/>
          <p:cNvSpPr txBox="1"/>
          <p:nvPr/>
        </p:nvSpPr>
        <p:spPr>
          <a:xfrm>
            <a:off x="64008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DÉVELOPPEUR</a:t>
            </a:r>
            <a:endParaRPr lang="en-US" sz="1400" dirty="0"/>
          </a:p>
        </p:txBody>
      </p:sp>
      <p:sp>
        <p:nvSpPr>
          <p:cNvPr id="8" name="texte 185"/>
          <p:cNvSpPr txBox="1"/>
          <p:nvPr/>
        </p:nvSpPr>
        <p:spPr>
          <a:xfrm>
            <a:off x="640080" y="519379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Ce qui fait démarrer la stack, et ce qui entre dans main.</a:t>
            </a:r>
            <a:endParaRPr lang="en-US" sz="1700" dirty="0"/>
          </a:p>
        </p:txBody>
      </p:sp>
      <p:sp>
        <p:nvSpPr>
          <p:cNvPr id="9" name="carte 186"/>
          <p:cNvSpPr/>
          <p:nvPr/>
        </p:nvSpPr>
        <p:spPr>
          <a:xfrm>
            <a:off x="5120640" y="178308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pastille 187"/>
          <p:cNvSpPr/>
          <p:nvPr/>
        </p:nvSpPr>
        <p:spPr>
          <a:xfrm>
            <a:off x="5440680" y="2084832"/>
            <a:ext cx="676656" cy="676656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5875">
            <a:solidFill>
              <a:schemeClr val="accent3">
                <a:alpha val="55000"/>
              </a:schemeClr>
            </a:solidFill>
            <a:prstDash val="solid"/>
          </a:ln>
        </p:spPr>
      </p:sp>
      <p:pic>
        <p:nvPicPr>
          <p:cNvPr id="11" name="icône 1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77" y="2247229"/>
            <a:ext cx="351861" cy="351861"/>
          </a:xfrm>
          <a:prstGeom prst="rect">
            <a:avLst/>
          </a:prstGeom>
        </p:spPr>
      </p:pic>
      <p:sp>
        <p:nvSpPr>
          <p:cNvPr id="12" name="texte 189"/>
          <p:cNvSpPr txBox="1"/>
          <p:nvPr/>
        </p:nvSpPr>
        <p:spPr>
          <a:xfrm>
            <a:off x="638251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Configuration de l'environnement</a:t>
            </a:r>
            <a:endParaRPr lang="en-US" sz="1900" dirty="0"/>
          </a:p>
        </p:txBody>
      </p:sp>
      <p:sp>
        <p:nvSpPr>
          <p:cNvPr id="13" name="texte 190"/>
          <p:cNvSpPr txBox="1"/>
          <p:nvPr/>
        </p:nvSpPr>
        <p:spPr>
          <a:xfrm>
            <a:off x="6382512" y="2423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rédaction du .env : les variables dont chaque service a besoin</a:t>
            </a:r>
            <a:endParaRPr lang="en-US" sz="1450" dirty="0"/>
          </a:p>
        </p:txBody>
      </p:sp>
      <p:sp>
        <p:nvSpPr>
          <p:cNvPr id="14" name="carte 191"/>
          <p:cNvSpPr/>
          <p:nvPr/>
        </p:nvSpPr>
        <p:spPr>
          <a:xfrm>
            <a:off x="5120640" y="324612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pastille 192"/>
          <p:cNvSpPr/>
          <p:nvPr/>
        </p:nvSpPr>
        <p:spPr>
          <a:xfrm>
            <a:off x="5440680" y="3547872"/>
            <a:ext cx="676656" cy="676656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5875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6" name="icône 1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3710269"/>
            <a:ext cx="351861" cy="351861"/>
          </a:xfrm>
          <a:prstGeom prst="rect">
            <a:avLst/>
          </a:prstGeom>
        </p:spPr>
      </p:pic>
      <p:sp>
        <p:nvSpPr>
          <p:cNvPr id="17" name="texte 194"/>
          <p:cNvSpPr txBox="1"/>
          <p:nvPr/>
        </p:nvSpPr>
        <p:spPr>
          <a:xfrm>
            <a:off x="6382512" y="3474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Makefile</a:t>
            </a:r>
            <a:endParaRPr lang="en-US" sz="1900" dirty="0"/>
          </a:p>
        </p:txBody>
      </p:sp>
      <p:sp>
        <p:nvSpPr>
          <p:cNvPr id="18" name="texte 195"/>
          <p:cNvSpPr txBox="1"/>
          <p:nvPr/>
        </p:nvSpPr>
        <p:spPr>
          <a:xfrm>
            <a:off x="6382512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écriture minutieuse des commandes de lancement, de test et de démo</a:t>
            </a:r>
            <a:endParaRPr lang="en-US" sz="1450" dirty="0"/>
          </a:p>
        </p:txBody>
      </p:sp>
      <p:sp>
        <p:nvSpPr>
          <p:cNvPr id="19" name="carte 196"/>
          <p:cNvSpPr/>
          <p:nvPr/>
        </p:nvSpPr>
        <p:spPr>
          <a:xfrm>
            <a:off x="5120640" y="4709160"/>
            <a:ext cx="6428232" cy="1280160"/>
          </a:xfrm>
          <a:prstGeom prst="roundRect">
            <a:avLst>
              <a:gd name="adj" fmla="val 8571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pastille 197"/>
          <p:cNvSpPr/>
          <p:nvPr/>
        </p:nvSpPr>
        <p:spPr>
          <a:xfrm>
            <a:off x="5440680" y="5010912"/>
            <a:ext cx="676656" cy="676656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5875">
            <a:solidFill>
              <a:schemeClr val="accent4">
                <a:alpha val="55000"/>
              </a:schemeClr>
            </a:solidFill>
            <a:prstDash val="solid"/>
          </a:ln>
        </p:spPr>
      </p:sp>
      <p:pic>
        <p:nvPicPr>
          <p:cNvPr id="21" name="icône 19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077" y="5173309"/>
            <a:ext cx="351861" cy="351861"/>
          </a:xfrm>
          <a:prstGeom prst="rect">
            <a:avLst/>
          </a:prstGeom>
        </p:spPr>
      </p:pic>
      <p:sp>
        <p:nvSpPr>
          <p:cNvPr id="22" name="texte 199"/>
          <p:cNvSpPr txBox="1"/>
          <p:nvPr/>
        </p:nvSpPr>
        <p:spPr>
          <a:xfrm>
            <a:off x="6382512" y="49377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Revue des branches</a:t>
            </a:r>
            <a:endParaRPr lang="en-US" sz="1900" dirty="0"/>
          </a:p>
        </p:txBody>
      </p:sp>
      <p:sp>
        <p:nvSpPr>
          <p:cNvPr id="23" name="texte 200"/>
          <p:cNvSpPr txBox="1"/>
          <p:nvPr/>
        </p:nvSpPr>
        <p:spPr>
          <a:xfrm>
            <a:off x="6382512" y="5349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relecture avant fusion dans main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decel="10000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decel="10000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decel="10000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decel="10000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decel="10000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decel="10000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decel="10000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decel="10000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201"/>
          <p:cNvSpPr txBox="1"/>
          <p:nvPr/>
        </p:nvSpPr>
        <p:spPr>
          <a:xfrm>
            <a:off x="82296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À VOUS DE JUGER</a:t>
            </a:r>
            <a:endParaRPr lang="en-US" sz="1400" dirty="0"/>
          </a:p>
        </p:txBody>
      </p:sp>
      <p:sp>
        <p:nvSpPr>
          <p:cNvPr id="3" name="texte 202"/>
          <p:cNvSpPr txBox="1"/>
          <p:nvPr/>
        </p:nvSpPr>
        <p:spPr>
          <a:xfrm>
            <a:off x="822960" y="14173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Place à la démo</a:t>
            </a:r>
            <a:endParaRPr lang="en-US" sz="6600" dirty="0"/>
          </a:p>
        </p:txBody>
      </p:sp>
      <p:sp>
        <p:nvSpPr>
          <p:cNvPr id="4" name="texte 203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Attaque depuis le PC Attaquant, détection, reprise, preuve — sans toucher au clavier.</a:t>
            </a:r>
            <a:endParaRPr lang="en-US" sz="2000" dirty="0"/>
          </a:p>
        </p:txBody>
      </p:sp>
      <p:pic>
        <p:nvPicPr>
          <p:cNvPr id="5" name="!!poul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291840"/>
            <a:ext cx="12191695" cy="1005840"/>
          </a:xfrm>
          <a:prstGeom prst="rect">
            <a:avLst/>
          </a:prstGeom>
        </p:spPr>
      </p:pic>
      <p:pic>
        <p:nvPicPr>
          <p:cNvPr id="6" name="!!halo 0" descr="preencoded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101852" y="4393692"/>
            <a:ext cx="1088136" cy="1088136"/>
          </a:xfrm>
          <a:prstGeom prst="rect">
            <a:avLst/>
          </a:prstGeom>
        </p:spPr>
      </p:pic>
      <p:sp>
        <p:nvSpPr>
          <p:cNvPr id="7" name="!!avatar 0"/>
          <p:cNvSpPr/>
          <p:nvPr/>
        </p:nvSpPr>
        <p:spPr>
          <a:xfrm>
            <a:off x="132588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8" name="!!initiales 0"/>
          <p:cNvSpPr txBox="1"/>
          <p:nvPr/>
        </p:nvSpPr>
        <p:spPr>
          <a:xfrm>
            <a:off x="13258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YC</a:t>
            </a:r>
            <a:endParaRPr lang="en-US" sz="1600" dirty="0"/>
          </a:p>
        </p:txBody>
      </p:sp>
      <p:sp>
        <p:nvSpPr>
          <p:cNvPr id="9" name="texte 204"/>
          <p:cNvSpPr txBox="1"/>
          <p:nvPr/>
        </p:nvSpPr>
        <p:spPr>
          <a:xfrm>
            <a:off x="82296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Yanis Capelle</a:t>
            </a:r>
            <a:endParaRPr lang="en-US" sz="1300" dirty="0"/>
          </a:p>
        </p:txBody>
      </p:sp>
      <p:pic>
        <p:nvPicPr>
          <p:cNvPr id="10" name="!!halo 1" descr="preencoded.png">    </p:cNvPr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2884932" y="4393692"/>
            <a:ext cx="1088136" cy="1088136"/>
          </a:xfrm>
          <a:prstGeom prst="rect">
            <a:avLst/>
          </a:prstGeom>
        </p:spPr>
      </p:pic>
      <p:sp>
        <p:nvSpPr>
          <p:cNvPr id="11" name="!!avatar 1"/>
          <p:cNvSpPr/>
          <p:nvPr/>
        </p:nvSpPr>
        <p:spPr>
          <a:xfrm>
            <a:off x="310896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2" name="!!initiales 1"/>
          <p:cNvSpPr txBox="1"/>
          <p:nvPr/>
        </p:nvSpPr>
        <p:spPr>
          <a:xfrm>
            <a:off x="310896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LN</a:t>
            </a:r>
            <a:endParaRPr lang="en-US" sz="1600" dirty="0"/>
          </a:p>
        </p:txBody>
      </p:sp>
      <p:sp>
        <p:nvSpPr>
          <p:cNvPr id="13" name="texte 205"/>
          <p:cNvSpPr txBox="1"/>
          <p:nvPr/>
        </p:nvSpPr>
        <p:spPr>
          <a:xfrm>
            <a:off x="260604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Louis Nectoux</a:t>
            </a:r>
            <a:endParaRPr lang="en-US" sz="1300" dirty="0"/>
          </a:p>
        </p:txBody>
      </p:sp>
      <p:pic>
        <p:nvPicPr>
          <p:cNvPr id="14" name="!!halo 2" descr="preencoded.png">    </p:cNvPr>
          <p:cNvPicPr>
            <a:picLocks noChangeAspect="1"/>
          </p:cNvPicPr>
          <p:nvPr/>
        </p:nvPicPr>
        <p:blipFill>
          <a:blip r:embed="rId4">
            <a:alphaModFix amt="65000"/>
          </a:blip>
          <a:stretch>
            <a:fillRect/>
          </a:stretch>
        </p:blipFill>
        <p:spPr>
          <a:xfrm>
            <a:off x="4668012" y="4393692"/>
            <a:ext cx="1088136" cy="1088136"/>
          </a:xfrm>
          <a:prstGeom prst="rect">
            <a:avLst/>
          </a:prstGeom>
        </p:spPr>
      </p:pic>
      <p:sp>
        <p:nvSpPr>
          <p:cNvPr id="15" name="!!avatar 2"/>
          <p:cNvSpPr/>
          <p:nvPr/>
        </p:nvSpPr>
        <p:spPr>
          <a:xfrm>
            <a:off x="489204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!!initiales 2"/>
          <p:cNvSpPr txBox="1"/>
          <p:nvPr/>
        </p:nvSpPr>
        <p:spPr>
          <a:xfrm>
            <a:off x="489204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VF</a:t>
            </a:r>
            <a:endParaRPr lang="en-US" sz="1600" dirty="0"/>
          </a:p>
        </p:txBody>
      </p:sp>
      <p:sp>
        <p:nvSpPr>
          <p:cNvPr id="17" name="texte 206"/>
          <p:cNvSpPr txBox="1"/>
          <p:nvPr/>
        </p:nvSpPr>
        <p:spPr>
          <a:xfrm>
            <a:off x="438912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Valentin Furcy</a:t>
            </a:r>
            <a:endParaRPr lang="en-US" sz="1300" dirty="0"/>
          </a:p>
        </p:txBody>
      </p:sp>
      <p:pic>
        <p:nvPicPr>
          <p:cNvPr id="18" name="!!halo 3" descr="preencoded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6451092" y="4393692"/>
            <a:ext cx="1088136" cy="1088136"/>
          </a:xfrm>
          <a:prstGeom prst="rect">
            <a:avLst/>
          </a:prstGeom>
        </p:spPr>
      </p:pic>
      <p:sp>
        <p:nvSpPr>
          <p:cNvPr id="19" name="!!avatar 3"/>
          <p:cNvSpPr/>
          <p:nvPr/>
        </p:nvSpPr>
        <p:spPr>
          <a:xfrm>
            <a:off x="667512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0" name="!!initiales 3"/>
          <p:cNvSpPr txBox="1"/>
          <p:nvPr/>
        </p:nvSpPr>
        <p:spPr>
          <a:xfrm>
            <a:off x="667512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AS</a:t>
            </a:r>
            <a:endParaRPr lang="en-US" sz="1600" dirty="0"/>
          </a:p>
        </p:txBody>
      </p:sp>
      <p:sp>
        <p:nvSpPr>
          <p:cNvPr id="21" name="texte 207"/>
          <p:cNvSpPr txBox="1"/>
          <p:nvPr/>
        </p:nvSpPr>
        <p:spPr>
          <a:xfrm>
            <a:off x="617220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Aurélien Serre</a:t>
            </a:r>
            <a:endParaRPr lang="en-US" sz="1300" dirty="0"/>
          </a:p>
        </p:txBody>
      </p:sp>
      <p:pic>
        <p:nvPicPr>
          <p:cNvPr id="22" name="!!halo 4" descr="preencoded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8234172" y="4393692"/>
            <a:ext cx="1088136" cy="1088136"/>
          </a:xfrm>
          <a:prstGeom prst="rect">
            <a:avLst/>
          </a:prstGeom>
        </p:spPr>
      </p:pic>
      <p:sp>
        <p:nvSpPr>
          <p:cNvPr id="23" name="!!avatar 4"/>
          <p:cNvSpPr/>
          <p:nvPr/>
        </p:nvSpPr>
        <p:spPr>
          <a:xfrm>
            <a:off x="845820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4" name="!!initiales 4"/>
          <p:cNvSpPr txBox="1"/>
          <p:nvPr/>
        </p:nvSpPr>
        <p:spPr>
          <a:xfrm>
            <a:off x="845820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EP</a:t>
            </a:r>
            <a:endParaRPr lang="en-US" sz="1600" dirty="0"/>
          </a:p>
        </p:txBody>
      </p:sp>
      <p:sp>
        <p:nvSpPr>
          <p:cNvPr id="25" name="texte 208"/>
          <p:cNvSpPr txBox="1"/>
          <p:nvPr/>
        </p:nvSpPr>
        <p:spPr>
          <a:xfrm>
            <a:off x="795528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Enzo Palermo</a:t>
            </a:r>
            <a:endParaRPr lang="en-US" sz="1300" dirty="0"/>
          </a:p>
        </p:txBody>
      </p:sp>
      <p:pic>
        <p:nvPicPr>
          <p:cNvPr id="26" name="!!halo 5" descr="preencoded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0017252" y="4393692"/>
            <a:ext cx="1088136" cy="1088136"/>
          </a:xfrm>
          <a:prstGeom prst="rect">
            <a:avLst/>
          </a:prstGeom>
        </p:spPr>
      </p:pic>
      <p:sp>
        <p:nvSpPr>
          <p:cNvPr id="27" name="!!avatar 5"/>
          <p:cNvSpPr/>
          <p:nvPr/>
        </p:nvSpPr>
        <p:spPr>
          <a:xfrm>
            <a:off x="10241280" y="4617720"/>
            <a:ext cx="640080" cy="64008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8" name="!!initiales 5"/>
          <p:cNvSpPr txBox="1"/>
          <p:nvPr/>
        </p:nvSpPr>
        <p:spPr>
          <a:xfrm>
            <a:off x="102412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LS</a:t>
            </a:r>
            <a:endParaRPr lang="en-US" sz="1600" dirty="0"/>
          </a:p>
        </p:txBody>
      </p:sp>
      <p:sp>
        <p:nvSpPr>
          <p:cNvPr id="29" name="texte 209"/>
          <p:cNvSpPr txBox="1"/>
          <p:nvPr/>
        </p:nvSpPr>
        <p:spPr>
          <a:xfrm>
            <a:off x="9738360" y="5440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Léo Solana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decel="10000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decel="10000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decel="10000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decel="10000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decel="10000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decel="10000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decel="10000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decel="10000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decel="10000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decel="10000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decel="10000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decel="10000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decel="10000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grpId="0" decel="10000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decel="10000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decel="10000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decel="10000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decel="10000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decel="10000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decel="10000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8" grpId="0" animBg="1"/>
      <p:bldP spid="9" grpId="0" animBg="1"/>
      <p:bldP spid="12" grpId="0" animBg="1"/>
      <p:bldP spid="13" grpId="0" animBg="1"/>
      <p:bldP spid="16" grpId="0" animBg="1"/>
      <p:bldP spid="17" grpId="0" animBg="1"/>
      <p:bldP spid="20" grpId="0" animBg="1"/>
      <p:bldP spid="21" grpId="0" animBg="1"/>
      <p:bldP spid="24" grpId="0" animBg="1"/>
      <p:bldP spid="25" grpId="0" animBg="1"/>
      <p:bldP spid="28" grpId="0" animBg="1"/>
      <p:bldP spid="29" grpId="0" animBg="1"/>
    </p:bldLst>
  </p:timing>
</p:sld>
</file>

<file path=ppt/theme/theme1.xml><?xml version="1.0" encoding="utf-8"?>
<a:theme xmlns:a="http://schemas.openxmlformats.org/drawingml/2006/main" name="Resilience Nuit">
  <a:themeElements>
    <a:clrScheme name="Resilience Nuit">
      <a:dk1>
        <a:srgbClr val="0B1220"/>
      </a:dk1>
      <a:lt1>
        <a:srgbClr val="FFFFFF"/>
      </a:lt1>
      <a:dk2>
        <a:srgbClr val="1A2438"/>
      </a:dk2>
      <a:lt2>
        <a:srgbClr val="E8EDF5"/>
      </a:lt2>
      <a:accent1>
        <a:srgbClr val="2EE6A6"/>
      </a:accent1>
      <a:accent2>
        <a:srgbClr val="FF5A5F"/>
      </a:accent2>
      <a:accent3>
        <a:srgbClr val="FFB547"/>
      </a:accent3>
      <a:accent4>
        <a:srgbClr val="5B8CFF"/>
      </a:accent4>
      <a:accent5>
        <a:srgbClr val="8A97AE"/>
      </a:accent5>
      <a:accent6>
        <a:srgbClr val="2A3854"/>
      </a:accent6>
      <a:hlink>
        <a:srgbClr val="5B8CFF"/>
      </a:hlink>
      <a:folHlink>
        <a:srgbClr val="8A97AE"/>
      </a:folHlink>
    </a:clrScheme>
    <a:fontScheme name="Resilience Nu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EPSI — Workshop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 — Zero-Touch Recovery</dc:title>
  <dc:subject>PptxGenJS Presentation</dc:subject>
  <dc:creator>Consortium G1</dc:creator>
  <cp:lastModifiedBy>Consortium G1</cp:lastModifiedBy>
  <cp:revision>1</cp:revision>
  <dcterms:created xsi:type="dcterms:W3CDTF">2026-10-22T12:41:18Z</dcterms:created>
  <dcterms:modified xsi:type="dcterms:W3CDTF">2026-10-22T12:41:18Z</dcterms:modified>
</cp:coreProperties>
</file>