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122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122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122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122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122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122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122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122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122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1220"/>
        </a:fontRef>
        <a:srgbClr val="0B122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F5E0"/>
          </a:solidFill>
        </a:fill>
      </a:tcStyle>
    </a:wholeTbl>
    <a:band2H>
      <a:tcTxStyle b="def" i="def"/>
      <a:tcStyle>
        <a:tcBdr/>
        <a:fill>
          <a:solidFill>
            <a:srgbClr val="E7FA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1220"/>
        </a:fontRef>
        <a:srgbClr val="0B122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5CE"/>
          </a:solidFill>
        </a:fill>
      </a:tcStyle>
    </a:wholeTbl>
    <a:band2H>
      <a:tcTxStyle b="def" i="def"/>
      <a:tcStyle>
        <a:tcBdr/>
        <a:fill>
          <a:solidFill>
            <a:srgbClr val="FFF2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1220"/>
        </a:fontRef>
        <a:srgbClr val="0B122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CCF"/>
          </a:solidFill>
        </a:fill>
      </a:tcStyle>
    </a:wholeTbl>
    <a:band2H>
      <a:tcTxStyle b="def" i="def"/>
      <a:tcStyle>
        <a:tcBdr/>
        <a:fill>
          <a:solidFill>
            <a:srgbClr val="E7E7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1220"/>
        </a:fontRef>
        <a:srgbClr val="0B122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1220"/>
        </a:fontRef>
        <a:srgbClr val="0B122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1220"/>
              </a:solidFill>
              <a:prstDash val="solid"/>
              <a:round/>
            </a:ln>
          </a:top>
          <a:bottom>
            <a:ln w="25400" cap="flat">
              <a:solidFill>
                <a:srgbClr val="0B122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1220"/>
              </a:solidFill>
              <a:prstDash val="solid"/>
              <a:round/>
            </a:ln>
          </a:top>
          <a:bottom>
            <a:ln w="25400" cap="flat">
              <a:solidFill>
                <a:srgbClr val="0B122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1220"/>
        </a:fontRef>
        <a:srgbClr val="0B122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B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B122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B122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B122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1220"/>
        </a:fontRef>
        <a:srgbClr val="0B1220"/>
      </a:tcTxStyle>
      <a:tcStyle>
        <a:tcBdr>
          <a:left>
            <a:ln w="12700" cap="flat">
              <a:solidFill>
                <a:srgbClr val="0B1220"/>
              </a:solidFill>
              <a:prstDash val="solid"/>
              <a:round/>
            </a:ln>
          </a:left>
          <a:right>
            <a:ln w="12700" cap="flat">
              <a:solidFill>
                <a:srgbClr val="0B1220"/>
              </a:solidFill>
              <a:prstDash val="solid"/>
              <a:round/>
            </a:ln>
          </a:right>
          <a:top>
            <a:ln w="12700" cap="flat">
              <a:solidFill>
                <a:srgbClr val="0B1220"/>
              </a:solidFill>
              <a:prstDash val="solid"/>
              <a:round/>
            </a:ln>
          </a:top>
          <a:bottom>
            <a:ln w="12700" cap="flat">
              <a:solidFill>
                <a:srgbClr val="0B1220"/>
              </a:solidFill>
              <a:prstDash val="solid"/>
              <a:round/>
            </a:ln>
          </a:bottom>
          <a:insideH>
            <a:ln w="12700" cap="flat">
              <a:solidFill>
                <a:srgbClr val="0B1220"/>
              </a:solidFill>
              <a:prstDash val="solid"/>
              <a:round/>
            </a:ln>
          </a:insideH>
          <a:insideV>
            <a:ln w="12700" cap="flat">
              <a:solidFill>
                <a:srgbClr val="0B1220"/>
              </a:solidFill>
              <a:prstDash val="solid"/>
              <a:round/>
            </a:ln>
          </a:insideV>
        </a:tcBdr>
        <a:fill>
          <a:solidFill>
            <a:srgbClr val="0B122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1220"/>
        </a:fontRef>
        <a:srgbClr val="0B1220"/>
      </a:tcTxStyle>
      <a:tcStyle>
        <a:tcBdr>
          <a:left>
            <a:ln w="12700" cap="flat">
              <a:solidFill>
                <a:srgbClr val="0B1220"/>
              </a:solidFill>
              <a:prstDash val="solid"/>
              <a:round/>
            </a:ln>
          </a:left>
          <a:right>
            <a:ln w="12700" cap="flat">
              <a:solidFill>
                <a:srgbClr val="0B1220"/>
              </a:solidFill>
              <a:prstDash val="solid"/>
              <a:round/>
            </a:ln>
          </a:right>
          <a:top>
            <a:ln w="12700" cap="flat">
              <a:solidFill>
                <a:srgbClr val="0B1220"/>
              </a:solidFill>
              <a:prstDash val="solid"/>
              <a:round/>
            </a:ln>
          </a:top>
          <a:bottom>
            <a:ln w="12700" cap="flat">
              <a:solidFill>
                <a:srgbClr val="0B1220"/>
              </a:solidFill>
              <a:prstDash val="solid"/>
              <a:round/>
            </a:ln>
          </a:bottom>
          <a:insideH>
            <a:ln w="12700" cap="flat">
              <a:solidFill>
                <a:srgbClr val="0B1220"/>
              </a:solidFill>
              <a:prstDash val="solid"/>
              <a:round/>
            </a:ln>
          </a:insideH>
          <a:insideV>
            <a:ln w="12700" cap="flat">
              <a:solidFill>
                <a:srgbClr val="0B1220"/>
              </a:solidFill>
              <a:prstDash val="solid"/>
              <a:round/>
            </a:ln>
          </a:insideV>
        </a:tcBdr>
        <a:fill>
          <a:solidFill>
            <a:srgbClr val="0B1220">
              <a:alpha val="20000"/>
            </a:srgbClr>
          </a:solidFill>
        </a:fill>
      </a:tcStyle>
    </a:firstCol>
    <a:lastRow>
      <a:tcTxStyle b="on" i="off">
        <a:fontRef idx="major">
          <a:srgbClr val="0B1220"/>
        </a:fontRef>
        <a:srgbClr val="0B1220"/>
      </a:tcTxStyle>
      <a:tcStyle>
        <a:tcBdr>
          <a:left>
            <a:ln w="12700" cap="flat">
              <a:solidFill>
                <a:srgbClr val="0B1220"/>
              </a:solidFill>
              <a:prstDash val="solid"/>
              <a:round/>
            </a:ln>
          </a:left>
          <a:right>
            <a:ln w="12700" cap="flat">
              <a:solidFill>
                <a:srgbClr val="0B1220"/>
              </a:solidFill>
              <a:prstDash val="solid"/>
              <a:round/>
            </a:ln>
          </a:right>
          <a:top>
            <a:ln w="50800" cap="flat">
              <a:solidFill>
                <a:srgbClr val="0B1220"/>
              </a:solidFill>
              <a:prstDash val="solid"/>
              <a:round/>
            </a:ln>
          </a:top>
          <a:bottom>
            <a:ln w="12700" cap="flat">
              <a:solidFill>
                <a:srgbClr val="0B1220"/>
              </a:solidFill>
              <a:prstDash val="solid"/>
              <a:round/>
            </a:ln>
          </a:bottom>
          <a:insideH>
            <a:ln w="12700" cap="flat">
              <a:solidFill>
                <a:srgbClr val="0B1220"/>
              </a:solidFill>
              <a:prstDash val="solid"/>
              <a:round/>
            </a:ln>
          </a:insideH>
          <a:insideV>
            <a:ln w="12700" cap="flat">
              <a:solidFill>
                <a:srgbClr val="0B122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1220"/>
        </a:fontRef>
        <a:srgbClr val="0B1220"/>
      </a:tcTxStyle>
      <a:tcStyle>
        <a:tcBdr>
          <a:left>
            <a:ln w="12700" cap="flat">
              <a:solidFill>
                <a:srgbClr val="0B1220"/>
              </a:solidFill>
              <a:prstDash val="solid"/>
              <a:round/>
            </a:ln>
          </a:left>
          <a:right>
            <a:ln w="12700" cap="flat">
              <a:solidFill>
                <a:srgbClr val="0B1220"/>
              </a:solidFill>
              <a:prstDash val="solid"/>
              <a:round/>
            </a:ln>
          </a:right>
          <a:top>
            <a:ln w="12700" cap="flat">
              <a:solidFill>
                <a:srgbClr val="0B1220"/>
              </a:solidFill>
              <a:prstDash val="solid"/>
              <a:round/>
            </a:ln>
          </a:top>
          <a:bottom>
            <a:ln w="25400" cap="flat">
              <a:solidFill>
                <a:srgbClr val="0B1220"/>
              </a:solidFill>
              <a:prstDash val="solid"/>
              <a:round/>
            </a:ln>
          </a:bottom>
          <a:insideH>
            <a:ln w="12700" cap="flat">
              <a:solidFill>
                <a:srgbClr val="0B1220"/>
              </a:solidFill>
              <a:prstDash val="solid"/>
              <a:round/>
            </a:ln>
          </a:insideH>
          <a:insideV>
            <a:ln w="12700" cap="flat">
              <a:solidFill>
                <a:srgbClr val="0B122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" name="Shape 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0B1220"/>
        </a:solidFill>
        <a:latin typeface="+mj-lt"/>
        <a:ea typeface="+mj-ea"/>
        <a:cs typeface="+mj-cs"/>
        <a:sym typeface="Calibri"/>
      </a:defRPr>
    </a:lvl1pPr>
    <a:lvl2pPr indent="228600" latinLnBrk="0">
      <a:defRPr sz="1200">
        <a:solidFill>
          <a:srgbClr val="0B1220"/>
        </a:solidFill>
        <a:latin typeface="+mj-lt"/>
        <a:ea typeface="+mj-ea"/>
        <a:cs typeface="+mj-cs"/>
        <a:sym typeface="Calibri"/>
      </a:defRPr>
    </a:lvl2pPr>
    <a:lvl3pPr indent="457200" latinLnBrk="0">
      <a:defRPr sz="1200">
        <a:solidFill>
          <a:srgbClr val="0B1220"/>
        </a:solidFill>
        <a:latin typeface="+mj-lt"/>
        <a:ea typeface="+mj-ea"/>
        <a:cs typeface="+mj-cs"/>
        <a:sym typeface="Calibri"/>
      </a:defRPr>
    </a:lvl3pPr>
    <a:lvl4pPr indent="685800" latinLnBrk="0">
      <a:defRPr sz="1200">
        <a:solidFill>
          <a:srgbClr val="0B1220"/>
        </a:solidFill>
        <a:latin typeface="+mj-lt"/>
        <a:ea typeface="+mj-ea"/>
        <a:cs typeface="+mj-cs"/>
        <a:sym typeface="Calibri"/>
      </a:defRPr>
    </a:lvl4pPr>
    <a:lvl5pPr indent="914400" latinLnBrk="0">
      <a:defRPr sz="1200">
        <a:solidFill>
          <a:srgbClr val="0B1220"/>
        </a:solidFill>
        <a:latin typeface="+mj-lt"/>
        <a:ea typeface="+mj-ea"/>
        <a:cs typeface="+mj-cs"/>
        <a:sym typeface="Calibri"/>
      </a:defRPr>
    </a:lvl5pPr>
    <a:lvl6pPr indent="1143000" latinLnBrk="0">
      <a:defRPr sz="1200">
        <a:solidFill>
          <a:srgbClr val="0B1220"/>
        </a:solidFill>
        <a:latin typeface="+mj-lt"/>
        <a:ea typeface="+mj-ea"/>
        <a:cs typeface="+mj-cs"/>
        <a:sym typeface="Calibri"/>
      </a:defRPr>
    </a:lvl6pPr>
    <a:lvl7pPr indent="1371600" latinLnBrk="0">
      <a:defRPr sz="1200">
        <a:solidFill>
          <a:srgbClr val="0B1220"/>
        </a:solidFill>
        <a:latin typeface="+mj-lt"/>
        <a:ea typeface="+mj-ea"/>
        <a:cs typeface="+mj-cs"/>
        <a:sym typeface="Calibri"/>
      </a:defRPr>
    </a:lvl7pPr>
    <a:lvl8pPr indent="1600200" latinLnBrk="0">
      <a:defRPr sz="1200">
        <a:solidFill>
          <a:srgbClr val="0B1220"/>
        </a:solidFill>
        <a:latin typeface="+mj-lt"/>
        <a:ea typeface="+mj-ea"/>
        <a:cs typeface="+mj-cs"/>
        <a:sym typeface="Calibri"/>
      </a:defRPr>
    </a:lvl8pPr>
    <a:lvl9pPr indent="1828800" latinLnBrk="0">
      <a:defRPr sz="1200">
        <a:solidFill>
          <a:srgbClr val="0B1220"/>
        </a:solidFill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" name="Shape 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[0:00 – 0:30] Une phrase : nous avons construit une plateforme de paiement fictive qui, attaquée, se répare seule et prouve son retour à la normale par une vraie transaction. La ligne de pouls est le fil du deck : sain, attaque, détection, reprise.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7" name="Shape 1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[0:30 – 6:30] Chacun présente sa carte en une minute, dans l'ordre de la chaîne : Yanis Capelle (« La plateforme, le moteur de reprise, et le fil qui relie tout. ») ; Louis Nectoux (« Celui qui attaque la plateforme, et celui qui la verrouille. ») ; Valentin Furcy (« Faire voir l'attaque au modèle, en quelques secondes. ») ; Aurélien Serre (« Un assistant qui explique l'incident, sans jamais agir. ») ; Enzo Palermo (« Le témoin physique de l'authentification. ») ; Léo Solana (« Ce qui fait démarrer la stack, et ce qui entre dans main. »).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[6:30 – 8:00] En haut, le chemin métier : un seul composant exposé, le WAF. Clic : la plateforme émet métriques et journaux, le modèle les lit chaque seconde, le moteur décide, la preuve est rejouée. Clic : le moteur agit sur la porte d'entrée et les services — la boucle se referme.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3" name="Shape 2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[8:00 – 9:15] C'est exactement ce que vous verrez en direct. make demo observe et prouve, il n'exécute aucune action corrective. Personne ne touche au clavier côté hôte entre l'attaque et la preuve.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8" name="Shape 2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[9:15 – 10:00] Remercier, puis basculer sur la démo live : attaque depuis le PC Attaquant, personne ne touche au clavier côté hôte.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U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ody Level One…"/>
          <p:cNvSpPr txBox="1"/>
          <p:nvPr>
            <p:ph type="body" sz="quarter" idx="1" hasCustomPrompt="1"/>
          </p:nvPr>
        </p:nvSpPr>
        <p:spPr>
          <a:xfrm>
            <a:off x="548640" y="384047"/>
            <a:ext cx="8229601" cy="25603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200"/>
              </a:spcBef>
              <a:buSzTx/>
              <a:buFontTx/>
              <a:buNone/>
              <a:defRPr spc="300" sz="11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569458" indent="-112258">
              <a:spcBef>
                <a:spcPts val="200"/>
              </a:spcBef>
              <a:buFontTx/>
              <a:defRPr spc="300" sz="11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marL="1019175" indent="-104775">
              <a:spcBef>
                <a:spcPts val="200"/>
              </a:spcBef>
              <a:buFontTx/>
              <a:defRPr spc="300" sz="11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marL="1497330" indent="-125730">
              <a:spcBef>
                <a:spcPts val="200"/>
              </a:spcBef>
              <a:buFontTx/>
              <a:defRPr spc="300" sz="11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marL="1954529" indent="-125729">
              <a:spcBef>
                <a:spcPts val="200"/>
              </a:spcBef>
              <a:buFontTx/>
              <a:defRPr spc="300" sz="11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9" name="Click to add title"/>
          <p:cNvSpPr txBox="1"/>
          <p:nvPr>
            <p:ph type="title" hasCustomPrompt="1"/>
          </p:nvPr>
        </p:nvSpPr>
        <p:spPr>
          <a:xfrm>
            <a:off x="548640" y="676655"/>
            <a:ext cx="11094416" cy="566929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20" name="Text 0"/>
          <p:cNvSpPr txBox="1"/>
          <p:nvPr/>
        </p:nvSpPr>
        <p:spPr>
          <a:xfrm>
            <a:off x="548640" y="64561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900">
                <a:solidFill>
                  <a:schemeClr val="accent5"/>
                </a:solidFill>
              </a:defRPr>
            </a:lvl1pPr>
          </a:lstStyle>
          <a:p>
            <a:pPr/>
            <a:r>
              <a:t>RESILIENCE-ALPHA   ·   Consortium G1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xfrm>
            <a:off x="11423052" y="6400800"/>
            <a:ext cx="220004" cy="205914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ERO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122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0.png"/><Relationship Id="rId9" Type="http://schemas.openxmlformats.org/officeDocument/2006/relationships/image" Target="../media/image5.png"/><Relationship Id="rId10" Type="http://schemas.openxmlformats.org/officeDocument/2006/relationships/image" Target="../media/image2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e 1"/>
          <p:cNvSpPr txBox="1"/>
          <p:nvPr/>
        </p:nvSpPr>
        <p:spPr>
          <a:xfrm>
            <a:off x="8138159" y="548640"/>
            <a:ext cx="32305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Consortium G1</a:t>
            </a:r>
          </a:p>
        </p:txBody>
      </p:sp>
      <p:sp>
        <p:nvSpPr>
          <p:cNvPr id="38" name="texte 2"/>
          <p:cNvSpPr txBox="1"/>
          <p:nvPr/>
        </p:nvSpPr>
        <p:spPr>
          <a:xfrm>
            <a:off x="822960" y="1371600"/>
            <a:ext cx="8229601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400" sz="1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PROJECT RESILIENCE-ALPHA   ·   WORKSHOP EPSI 2026</a:t>
            </a:r>
          </a:p>
        </p:txBody>
      </p:sp>
      <p:sp>
        <p:nvSpPr>
          <p:cNvPr id="39" name="texte 3"/>
          <p:cNvSpPr txBox="1"/>
          <p:nvPr/>
        </p:nvSpPr>
        <p:spPr>
          <a:xfrm>
            <a:off x="822960" y="1783079"/>
            <a:ext cx="9144001" cy="1812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defRPr b="1" sz="6600">
                <a:solidFill>
                  <a:srgbClr val="FFFFFF"/>
                </a:solidFill>
              </a:defRPr>
            </a:pPr>
            <a:r>
              <a:t>Zero-Touch</a:t>
            </a:r>
          </a:p>
          <a:p>
            <a:pPr>
              <a:lnSpc>
                <a:spcPct val="90000"/>
              </a:lnSpc>
              <a:defRPr b="1" sz="6600">
                <a:solidFill>
                  <a:schemeClr val="accent1"/>
                </a:solidFill>
              </a:defRPr>
            </a:pPr>
            <a:r>
              <a:t>Recovery</a:t>
            </a:r>
          </a:p>
        </p:txBody>
      </p:sp>
      <p:sp>
        <p:nvSpPr>
          <p:cNvPr id="40" name="texte 4"/>
          <p:cNvSpPr txBox="1"/>
          <p:nvPr/>
        </p:nvSpPr>
        <p:spPr>
          <a:xfrm>
            <a:off x="822960" y="3749040"/>
            <a:ext cx="7772401" cy="55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E8EDF5"/>
                </a:solidFill>
              </a:defRPr>
            </a:lvl1pPr>
          </a:lstStyle>
          <a:p>
            <a:pPr/>
            <a:r>
              <a:t>Une plateforme de paiement qui détecte l'attaque, se répare seule et le prouve par une vraie transaction.</a:t>
            </a:r>
          </a:p>
        </p:txBody>
      </p:sp>
      <p:pic>
        <p:nvPicPr>
          <p:cNvPr id="41" name="!!pouls" descr="!!pouls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4526279"/>
            <a:ext cx="12191696" cy="914401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exte 5"/>
          <p:cNvSpPr txBox="1"/>
          <p:nvPr/>
        </p:nvSpPr>
        <p:spPr>
          <a:xfrm>
            <a:off x="822960" y="5989320"/>
            <a:ext cx="10515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/>
            <a:r>
              <a:t>Yanis Capelle   ·   Louis Nectoux   ·   Valentin Furcy   ·   Aurélien Serre   ·   Enzo Palermo   ·   Léo Solana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 anchor="b"/>
          <a:lstStyle/>
          <a:p>
            <a:pPr/>
            <a:r>
              <a:t>L'ÉQUIPE</a:t>
            </a:r>
          </a:p>
        </p:txBody>
      </p:sp>
      <p:sp>
        <p:nvSpPr>
          <p:cNvPr id="47" name="Text 0"/>
          <p:cNvSpPr txBox="1"/>
          <p:nvPr>
            <p:ph type="title"/>
          </p:nvPr>
        </p:nvSpPr>
        <p:spPr>
          <a:xfrm>
            <a:off x="548639" y="676655"/>
            <a:ext cx="11094417" cy="566929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Six développeurs, et ce que chacun a construit</a:t>
            </a:r>
          </a:p>
        </p:txBody>
      </p:sp>
      <p:sp>
        <p:nvSpPr>
          <p:cNvPr id="48" name="carte 6"/>
          <p:cNvSpPr/>
          <p:nvPr/>
        </p:nvSpPr>
        <p:spPr>
          <a:xfrm>
            <a:off x="548640" y="1389888"/>
            <a:ext cx="3576219" cy="2377440"/>
          </a:xfrm>
          <a:prstGeom prst="roundRect">
            <a:avLst>
              <a:gd name="adj" fmla="val 307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onglet 7"/>
          <p:cNvSpPr/>
          <p:nvPr/>
        </p:nvSpPr>
        <p:spPr>
          <a:xfrm>
            <a:off x="749808" y="1389888"/>
            <a:ext cx="502920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anneau 8"/>
          <p:cNvSpPr/>
          <p:nvPr/>
        </p:nvSpPr>
        <p:spPr>
          <a:xfrm>
            <a:off x="749808" y="1572767"/>
            <a:ext cx="420624" cy="42062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libellé 9"/>
          <p:cNvSpPr txBox="1"/>
          <p:nvPr/>
        </p:nvSpPr>
        <p:spPr>
          <a:xfrm>
            <a:off x="749808" y="1704647"/>
            <a:ext cx="42062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1"/>
                </a:solidFill>
              </a:defRPr>
            </a:lvl1pPr>
          </a:lstStyle>
          <a:p>
            <a:pPr/>
            <a:r>
              <a:t>YC</a:t>
            </a:r>
          </a:p>
        </p:txBody>
      </p:sp>
      <p:sp>
        <p:nvSpPr>
          <p:cNvPr id="52" name="texte 10"/>
          <p:cNvSpPr txBox="1"/>
          <p:nvPr/>
        </p:nvSpPr>
        <p:spPr>
          <a:xfrm>
            <a:off x="1298447" y="1554480"/>
            <a:ext cx="264353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Yanis Capelle</a:t>
            </a:r>
          </a:p>
        </p:txBody>
      </p:sp>
      <p:sp>
        <p:nvSpPr>
          <p:cNvPr id="53" name="texte 11"/>
          <p:cNvSpPr txBox="1"/>
          <p:nvPr/>
        </p:nvSpPr>
        <p:spPr>
          <a:xfrm>
            <a:off x="1298447" y="1810511"/>
            <a:ext cx="264353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200" sz="9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DÉVELOPPEUR</a:t>
            </a:r>
          </a:p>
        </p:txBody>
      </p:sp>
      <p:sp>
        <p:nvSpPr>
          <p:cNvPr id="54" name="filet 12"/>
          <p:cNvSpPr/>
          <p:nvPr/>
        </p:nvSpPr>
        <p:spPr>
          <a:xfrm>
            <a:off x="749808" y="2121407"/>
            <a:ext cx="3173883" cy="1"/>
          </a:xfrm>
          <a:prstGeom prst="line">
            <a:avLst/>
          </a:prstGeom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5" name="icône 13" descr="icône 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9808" y="2249423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texte 14"/>
          <p:cNvSpPr txBox="1"/>
          <p:nvPr/>
        </p:nvSpPr>
        <p:spPr>
          <a:xfrm>
            <a:off x="1051560" y="2231135"/>
            <a:ext cx="289041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Plateforme bancaire</a:t>
            </a:r>
          </a:p>
        </p:txBody>
      </p:sp>
      <p:sp>
        <p:nvSpPr>
          <p:cNvPr id="57" name="texte 15"/>
          <p:cNvSpPr txBox="1"/>
          <p:nvPr/>
        </p:nvSpPr>
        <p:spPr>
          <a:xfrm>
            <a:off x="1051560" y="2423160"/>
            <a:ext cx="2890418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payment-api, auth et front : comptes, virements, cartes, relevés</a:t>
            </a:r>
          </a:p>
        </p:txBody>
      </p:sp>
      <p:pic>
        <p:nvPicPr>
          <p:cNvPr id="58" name="icône 16" descr="icône 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9808" y="2761488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e 17"/>
          <p:cNvSpPr txBox="1"/>
          <p:nvPr/>
        </p:nvSpPr>
        <p:spPr>
          <a:xfrm>
            <a:off x="1051560" y="2743200"/>
            <a:ext cx="289041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Moteur de remédiation</a:t>
            </a:r>
          </a:p>
        </p:txBody>
      </p:sp>
      <p:sp>
        <p:nvSpPr>
          <p:cNvPr id="60" name="texte 18"/>
          <p:cNvSpPr txBox="1"/>
          <p:nvPr/>
        </p:nvSpPr>
        <p:spPr>
          <a:xfrm>
            <a:off x="1051560" y="2935223"/>
            <a:ext cx="28904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table de décision, privilèges bornés, contrats d'interfaces</a:t>
            </a:r>
          </a:p>
        </p:txBody>
      </p:sp>
      <p:pic>
        <p:nvPicPr>
          <p:cNvPr id="61" name="icône 19" descr="icôn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49808" y="3273552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texte 20"/>
          <p:cNvSpPr txBox="1"/>
          <p:nvPr/>
        </p:nvSpPr>
        <p:spPr>
          <a:xfrm>
            <a:off x="1051560" y="3255264"/>
            <a:ext cx="289041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Intégration et gouvernance</a:t>
            </a:r>
          </a:p>
        </p:txBody>
      </p:sp>
      <p:sp>
        <p:nvSpPr>
          <p:cNvPr id="63" name="texte 21"/>
          <p:cNvSpPr txBox="1"/>
          <p:nvPr/>
        </p:nvSpPr>
        <p:spPr>
          <a:xfrm>
            <a:off x="1051560" y="3447288"/>
            <a:ext cx="28904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revues et fusions, EBIOS RM, PCA/PRA, NIS2/DORA, dossier</a:t>
            </a:r>
          </a:p>
        </p:txBody>
      </p:sp>
      <p:sp>
        <p:nvSpPr>
          <p:cNvPr id="64" name="carte 22"/>
          <p:cNvSpPr/>
          <p:nvPr/>
        </p:nvSpPr>
        <p:spPr>
          <a:xfrm>
            <a:off x="4307737" y="1389888"/>
            <a:ext cx="3576219" cy="2377440"/>
          </a:xfrm>
          <a:prstGeom prst="roundRect">
            <a:avLst>
              <a:gd name="adj" fmla="val 307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onglet 23"/>
          <p:cNvSpPr/>
          <p:nvPr/>
        </p:nvSpPr>
        <p:spPr>
          <a:xfrm>
            <a:off x="4508906" y="1389888"/>
            <a:ext cx="502920" cy="4572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!!avatar 1"/>
          <p:cNvSpPr/>
          <p:nvPr/>
        </p:nvSpPr>
        <p:spPr>
          <a:xfrm>
            <a:off x="4508906" y="1572767"/>
            <a:ext cx="420625" cy="42062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!!initiales 1"/>
          <p:cNvSpPr txBox="1"/>
          <p:nvPr/>
        </p:nvSpPr>
        <p:spPr>
          <a:xfrm>
            <a:off x="4508906" y="1704647"/>
            <a:ext cx="42062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2"/>
                </a:solidFill>
              </a:defRPr>
            </a:lvl1pPr>
          </a:lstStyle>
          <a:p>
            <a:pPr/>
            <a:r>
              <a:t>LN</a:t>
            </a:r>
          </a:p>
        </p:txBody>
      </p:sp>
      <p:sp>
        <p:nvSpPr>
          <p:cNvPr id="68" name="texte 24"/>
          <p:cNvSpPr txBox="1"/>
          <p:nvPr/>
        </p:nvSpPr>
        <p:spPr>
          <a:xfrm>
            <a:off x="5057545" y="1554480"/>
            <a:ext cx="264353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Louis Nectoux</a:t>
            </a:r>
          </a:p>
        </p:txBody>
      </p:sp>
      <p:sp>
        <p:nvSpPr>
          <p:cNvPr id="69" name="texte 25"/>
          <p:cNvSpPr txBox="1"/>
          <p:nvPr/>
        </p:nvSpPr>
        <p:spPr>
          <a:xfrm>
            <a:off x="5057545" y="1810511"/>
            <a:ext cx="264353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200" sz="9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DÉVELOPPEUR</a:t>
            </a:r>
          </a:p>
        </p:txBody>
      </p:sp>
      <p:sp>
        <p:nvSpPr>
          <p:cNvPr id="70" name="filet 26"/>
          <p:cNvSpPr/>
          <p:nvPr/>
        </p:nvSpPr>
        <p:spPr>
          <a:xfrm>
            <a:off x="4508906" y="2121407"/>
            <a:ext cx="3173883" cy="1"/>
          </a:xfrm>
          <a:prstGeom prst="line">
            <a:avLst/>
          </a:prstGeom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71" name="icône 27" descr="icône 2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508906" y="2249423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exte 28"/>
          <p:cNvSpPr txBox="1"/>
          <p:nvPr/>
        </p:nvSpPr>
        <p:spPr>
          <a:xfrm>
            <a:off x="4810657" y="2231135"/>
            <a:ext cx="28904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Red Team bornée</a:t>
            </a:r>
          </a:p>
        </p:txBody>
      </p:sp>
      <p:sp>
        <p:nvSpPr>
          <p:cNvPr id="73" name="texte 29"/>
          <p:cNvSpPr txBox="1"/>
          <p:nvPr/>
        </p:nvSpPr>
        <p:spPr>
          <a:xfrm>
            <a:off x="4810657" y="2423160"/>
            <a:ext cx="2890419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scénarios d'attaque, console et runbook du PC Attaquant, chaos</a:t>
            </a:r>
          </a:p>
        </p:txBody>
      </p:sp>
      <p:pic>
        <p:nvPicPr>
          <p:cNvPr id="74" name="icône 30" descr="icône 3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508906" y="2761488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texte 31"/>
          <p:cNvSpPr txBox="1"/>
          <p:nvPr/>
        </p:nvSpPr>
        <p:spPr>
          <a:xfrm>
            <a:off x="4810657" y="2743200"/>
            <a:ext cx="289041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Back-office facial</a:t>
            </a:r>
          </a:p>
        </p:txBody>
      </p:sp>
      <p:sp>
        <p:nvSpPr>
          <p:cNvPr id="76" name="texte 32"/>
          <p:cNvSpPr txBox="1"/>
          <p:nvPr/>
        </p:nvSpPr>
        <p:spPr>
          <a:xfrm>
            <a:off x="4810657" y="2935223"/>
            <a:ext cx="2890419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identifiant, visage, mot de passe ; habilitations de bout en bout</a:t>
            </a:r>
          </a:p>
        </p:txBody>
      </p:sp>
      <p:pic>
        <p:nvPicPr>
          <p:cNvPr id="77" name="icône 33" descr="icône 3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508906" y="3273552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e 34"/>
          <p:cNvSpPr txBox="1"/>
          <p:nvPr/>
        </p:nvSpPr>
        <p:spPr>
          <a:xfrm>
            <a:off x="4810657" y="3255264"/>
            <a:ext cx="289041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Durcissement et SOC</a:t>
            </a:r>
          </a:p>
        </p:txBody>
      </p:sp>
      <p:sp>
        <p:nvSpPr>
          <p:cNvPr id="79" name="texte 35"/>
          <p:cNvSpPr txBox="1"/>
          <p:nvPr/>
        </p:nvSpPr>
        <p:spPr>
          <a:xfrm>
            <a:off x="4810657" y="3447288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audit de sécurité, règles SOC, tests de bout en bout</a:t>
            </a:r>
          </a:p>
        </p:txBody>
      </p:sp>
      <p:sp>
        <p:nvSpPr>
          <p:cNvPr id="80" name="carte 36"/>
          <p:cNvSpPr/>
          <p:nvPr/>
        </p:nvSpPr>
        <p:spPr>
          <a:xfrm>
            <a:off x="8066837" y="1389888"/>
            <a:ext cx="3576219" cy="2377440"/>
          </a:xfrm>
          <a:prstGeom prst="roundRect">
            <a:avLst>
              <a:gd name="adj" fmla="val 307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onglet 37"/>
          <p:cNvSpPr/>
          <p:nvPr/>
        </p:nvSpPr>
        <p:spPr>
          <a:xfrm>
            <a:off x="8268004" y="1389888"/>
            <a:ext cx="502920" cy="4572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!!avatar 2"/>
          <p:cNvSpPr/>
          <p:nvPr/>
        </p:nvSpPr>
        <p:spPr>
          <a:xfrm>
            <a:off x="8268004" y="1572767"/>
            <a:ext cx="420625" cy="42062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!!initiales 2"/>
          <p:cNvSpPr txBox="1"/>
          <p:nvPr/>
        </p:nvSpPr>
        <p:spPr>
          <a:xfrm>
            <a:off x="8268004" y="1704647"/>
            <a:ext cx="42062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3"/>
                </a:solidFill>
              </a:defRPr>
            </a:lvl1pPr>
          </a:lstStyle>
          <a:p>
            <a:pPr/>
            <a:r>
              <a:t>VF</a:t>
            </a:r>
          </a:p>
        </p:txBody>
      </p:sp>
      <p:sp>
        <p:nvSpPr>
          <p:cNvPr id="84" name="texte 38"/>
          <p:cNvSpPr txBox="1"/>
          <p:nvPr/>
        </p:nvSpPr>
        <p:spPr>
          <a:xfrm>
            <a:off x="8816644" y="1554480"/>
            <a:ext cx="264353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Valentin Furcy</a:t>
            </a:r>
          </a:p>
        </p:txBody>
      </p:sp>
      <p:sp>
        <p:nvSpPr>
          <p:cNvPr id="85" name="texte 39"/>
          <p:cNvSpPr txBox="1"/>
          <p:nvPr/>
        </p:nvSpPr>
        <p:spPr>
          <a:xfrm>
            <a:off x="8816644" y="1810511"/>
            <a:ext cx="264353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200" sz="9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DÉVELOPPEUR IA</a:t>
            </a:r>
          </a:p>
        </p:txBody>
      </p:sp>
      <p:sp>
        <p:nvSpPr>
          <p:cNvPr id="86" name="filet 40"/>
          <p:cNvSpPr/>
          <p:nvPr/>
        </p:nvSpPr>
        <p:spPr>
          <a:xfrm>
            <a:off x="8268004" y="2121407"/>
            <a:ext cx="3173883" cy="1"/>
          </a:xfrm>
          <a:prstGeom prst="line">
            <a:avLst/>
          </a:prstGeom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87" name="icône 41" descr="icône 4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268004" y="2249423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texte 42"/>
          <p:cNvSpPr txBox="1"/>
          <p:nvPr/>
        </p:nvSpPr>
        <p:spPr>
          <a:xfrm>
            <a:off x="8569756" y="2231135"/>
            <a:ext cx="28904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Détection sur séries réelles</a:t>
            </a:r>
          </a:p>
        </p:txBody>
      </p:sp>
      <p:sp>
        <p:nvSpPr>
          <p:cNvPr id="89" name="texte 43"/>
          <p:cNvSpPr txBox="1"/>
          <p:nvPr/>
        </p:nvSpPr>
        <p:spPr>
          <a:xfrm>
            <a:off x="8569756" y="2423160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captures, calibration : de 37 s à 2 s pour voir un flood</a:t>
            </a:r>
          </a:p>
        </p:txBody>
      </p:sp>
      <p:pic>
        <p:nvPicPr>
          <p:cNvPr id="90" name="icône 44" descr="icône 44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268004" y="2761488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e 45"/>
          <p:cNvSpPr txBox="1"/>
          <p:nvPr/>
        </p:nvSpPr>
        <p:spPr>
          <a:xfrm>
            <a:off x="8569756" y="2743200"/>
            <a:ext cx="289041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L'attaquant désigné</a:t>
            </a:r>
          </a:p>
        </p:txBody>
      </p:sp>
      <p:sp>
        <p:nvSpPr>
          <p:cNvPr id="92" name="texte 46"/>
          <p:cNvSpPr txBox="1"/>
          <p:nvPr/>
        </p:nvSpPr>
        <p:spPr>
          <a:xfrm>
            <a:off x="8569756" y="2935223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IP source retrouvée dans les journaux du WAF, puis bloquée</a:t>
            </a:r>
          </a:p>
        </p:txBody>
      </p:sp>
      <p:pic>
        <p:nvPicPr>
          <p:cNvPr id="93" name="icône 47" descr="icône 47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8268004" y="3273552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texte 48"/>
          <p:cNvSpPr txBox="1"/>
          <p:nvPr/>
        </p:nvSpPr>
        <p:spPr>
          <a:xfrm>
            <a:off x="8569756" y="3255264"/>
            <a:ext cx="289041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Une stack qui tient</a:t>
            </a:r>
          </a:p>
        </p:txBody>
      </p:sp>
      <p:sp>
        <p:nvSpPr>
          <p:cNvPr id="95" name="texte 49"/>
          <p:cNvSpPr txBox="1"/>
          <p:nvPr/>
        </p:nvSpPr>
        <p:spPr>
          <a:xfrm>
            <a:off x="8569756" y="3447288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lancement fiable, 3 répliques de payment-api, modèle facial</a:t>
            </a:r>
          </a:p>
        </p:txBody>
      </p:sp>
      <p:sp>
        <p:nvSpPr>
          <p:cNvPr id="96" name="carte 50"/>
          <p:cNvSpPr/>
          <p:nvPr/>
        </p:nvSpPr>
        <p:spPr>
          <a:xfrm>
            <a:off x="548640" y="3858767"/>
            <a:ext cx="3576219" cy="2377441"/>
          </a:xfrm>
          <a:prstGeom prst="roundRect">
            <a:avLst>
              <a:gd name="adj" fmla="val 307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onglet 51"/>
          <p:cNvSpPr/>
          <p:nvPr/>
        </p:nvSpPr>
        <p:spPr>
          <a:xfrm>
            <a:off x="749808" y="3858767"/>
            <a:ext cx="502920" cy="4572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!!avatar 3"/>
          <p:cNvSpPr/>
          <p:nvPr/>
        </p:nvSpPr>
        <p:spPr>
          <a:xfrm>
            <a:off x="749808" y="4041647"/>
            <a:ext cx="420624" cy="42062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!!initiales 3"/>
          <p:cNvSpPr txBox="1"/>
          <p:nvPr/>
        </p:nvSpPr>
        <p:spPr>
          <a:xfrm>
            <a:off x="749808" y="4173527"/>
            <a:ext cx="42062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4"/>
                </a:solidFill>
              </a:defRPr>
            </a:lvl1pPr>
          </a:lstStyle>
          <a:p>
            <a:pPr/>
            <a:r>
              <a:t>AS</a:t>
            </a:r>
          </a:p>
        </p:txBody>
      </p:sp>
      <p:sp>
        <p:nvSpPr>
          <p:cNvPr id="100" name="texte 52"/>
          <p:cNvSpPr txBox="1"/>
          <p:nvPr/>
        </p:nvSpPr>
        <p:spPr>
          <a:xfrm>
            <a:off x="1298447" y="4023359"/>
            <a:ext cx="264353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Aurélien Serre</a:t>
            </a:r>
          </a:p>
        </p:txBody>
      </p:sp>
      <p:sp>
        <p:nvSpPr>
          <p:cNvPr id="101" name="texte 53"/>
          <p:cNvSpPr txBox="1"/>
          <p:nvPr/>
        </p:nvSpPr>
        <p:spPr>
          <a:xfrm>
            <a:off x="1298447" y="4279391"/>
            <a:ext cx="264353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200" sz="9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DÉVELOPPEUR IA</a:t>
            </a:r>
          </a:p>
        </p:txBody>
      </p:sp>
      <p:sp>
        <p:nvSpPr>
          <p:cNvPr id="102" name="filet 54"/>
          <p:cNvSpPr/>
          <p:nvPr/>
        </p:nvSpPr>
        <p:spPr>
          <a:xfrm>
            <a:off x="749808" y="4590288"/>
            <a:ext cx="3173883" cy="1"/>
          </a:xfrm>
          <a:prstGeom prst="line">
            <a:avLst/>
          </a:prstGeom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03" name="icône 55" descr="icône 55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749808" y="4718303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e 56"/>
          <p:cNvSpPr txBox="1"/>
          <p:nvPr/>
        </p:nvSpPr>
        <p:spPr>
          <a:xfrm>
            <a:off x="1051560" y="4700015"/>
            <a:ext cx="289041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Assistant RAG</a:t>
            </a:r>
          </a:p>
        </p:txBody>
      </p:sp>
      <p:sp>
        <p:nvSpPr>
          <p:cNvPr id="105" name="texte 57"/>
          <p:cNvSpPr txBox="1"/>
          <p:nvPr/>
        </p:nvSpPr>
        <p:spPr>
          <a:xfrm>
            <a:off x="1051560" y="4892040"/>
            <a:ext cx="28904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modèle local ≤ 8B, LangChain, Chroma, dans le dashboard</a:t>
            </a:r>
          </a:p>
        </p:txBody>
      </p:sp>
      <p:pic>
        <p:nvPicPr>
          <p:cNvPr id="106" name="icône 58" descr="icône 5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749808" y="5230367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e 59"/>
          <p:cNvSpPr txBox="1"/>
          <p:nvPr/>
        </p:nvSpPr>
        <p:spPr>
          <a:xfrm>
            <a:off x="1051560" y="5212079"/>
            <a:ext cx="289041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Résumé DSI et post-mortem</a:t>
            </a:r>
          </a:p>
        </p:txBody>
      </p:sp>
      <p:sp>
        <p:nvSpPr>
          <p:cNvPr id="108" name="texte 60"/>
          <p:cNvSpPr txBox="1"/>
          <p:nvPr/>
        </p:nvSpPr>
        <p:spPr>
          <a:xfrm>
            <a:off x="1051560" y="5404103"/>
            <a:ext cx="28904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rédigés à partir du journal d'incident</a:t>
            </a:r>
          </a:p>
        </p:txBody>
      </p:sp>
      <p:pic>
        <p:nvPicPr>
          <p:cNvPr id="109" name="icône 61" descr="icône 61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749808" y="5742432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e 62"/>
          <p:cNvSpPr txBox="1"/>
          <p:nvPr/>
        </p:nvSpPr>
        <p:spPr>
          <a:xfrm>
            <a:off x="1051560" y="5724144"/>
            <a:ext cx="289041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Isolé de l'automate</a:t>
            </a:r>
          </a:p>
        </p:txBody>
      </p:sp>
      <p:sp>
        <p:nvSpPr>
          <p:cNvPr id="111" name="texte 63"/>
          <p:cNvSpPr txBox="1"/>
          <p:nvPr/>
        </p:nvSpPr>
        <p:spPr>
          <a:xfrm>
            <a:off x="1051560" y="5916167"/>
            <a:ext cx="2890418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réseau séparé ; toute commande proposée exige une confirmation</a:t>
            </a:r>
          </a:p>
        </p:txBody>
      </p:sp>
      <p:sp>
        <p:nvSpPr>
          <p:cNvPr id="112" name="carte 64"/>
          <p:cNvSpPr/>
          <p:nvPr/>
        </p:nvSpPr>
        <p:spPr>
          <a:xfrm>
            <a:off x="4307737" y="3858767"/>
            <a:ext cx="3576219" cy="2377441"/>
          </a:xfrm>
          <a:prstGeom prst="roundRect">
            <a:avLst>
              <a:gd name="adj" fmla="val 307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onglet 65"/>
          <p:cNvSpPr/>
          <p:nvPr/>
        </p:nvSpPr>
        <p:spPr>
          <a:xfrm>
            <a:off x="4508906" y="3858767"/>
            <a:ext cx="502920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!!avatar 4"/>
          <p:cNvSpPr/>
          <p:nvPr/>
        </p:nvSpPr>
        <p:spPr>
          <a:xfrm>
            <a:off x="4508906" y="4041647"/>
            <a:ext cx="420625" cy="42062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!!initiales 4"/>
          <p:cNvSpPr txBox="1"/>
          <p:nvPr/>
        </p:nvSpPr>
        <p:spPr>
          <a:xfrm>
            <a:off x="4508906" y="4173527"/>
            <a:ext cx="42062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1"/>
                </a:solidFill>
              </a:defRPr>
            </a:lvl1pPr>
          </a:lstStyle>
          <a:p>
            <a:pPr/>
            <a:r>
              <a:t>EP</a:t>
            </a:r>
          </a:p>
        </p:txBody>
      </p:sp>
      <p:sp>
        <p:nvSpPr>
          <p:cNvPr id="116" name="texte 66"/>
          <p:cNvSpPr txBox="1"/>
          <p:nvPr/>
        </p:nvSpPr>
        <p:spPr>
          <a:xfrm>
            <a:off x="5057545" y="4023359"/>
            <a:ext cx="264353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Enzo Palermo</a:t>
            </a:r>
          </a:p>
        </p:txBody>
      </p:sp>
      <p:sp>
        <p:nvSpPr>
          <p:cNvPr id="117" name="texte 67"/>
          <p:cNvSpPr txBox="1"/>
          <p:nvPr/>
        </p:nvSpPr>
        <p:spPr>
          <a:xfrm>
            <a:off x="5057545" y="4279391"/>
            <a:ext cx="264353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200" sz="9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DÉVELOPPEUR</a:t>
            </a:r>
          </a:p>
        </p:txBody>
      </p:sp>
      <p:sp>
        <p:nvSpPr>
          <p:cNvPr id="118" name="filet 68"/>
          <p:cNvSpPr/>
          <p:nvPr/>
        </p:nvSpPr>
        <p:spPr>
          <a:xfrm>
            <a:off x="4508906" y="4590288"/>
            <a:ext cx="3173883" cy="1"/>
          </a:xfrm>
          <a:prstGeom prst="line">
            <a:avLst/>
          </a:prstGeom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19" name="icône 69" descr="icône 69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4508906" y="4718303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e 70"/>
          <p:cNvSpPr txBox="1"/>
          <p:nvPr/>
        </p:nvSpPr>
        <p:spPr>
          <a:xfrm>
            <a:off x="4810657" y="4700015"/>
            <a:ext cx="28904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Firmware ESP8266</a:t>
            </a:r>
          </a:p>
        </p:txBody>
      </p:sp>
      <p:sp>
        <p:nvSpPr>
          <p:cNvPr id="121" name="texte 71"/>
          <p:cNvSpPr txBox="1"/>
          <p:nvPr/>
        </p:nvSpPr>
        <p:spPr>
          <a:xfrm>
            <a:off x="4810657" y="4892040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LED bicolore, machine à états, Wi-Fi, HTTP et MQTT</a:t>
            </a:r>
          </a:p>
        </p:txBody>
      </p:sp>
      <p:pic>
        <p:nvPicPr>
          <p:cNvPr id="122" name="icône 72" descr="icône 72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4508906" y="5230367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e 73"/>
          <p:cNvSpPr txBox="1"/>
          <p:nvPr/>
        </p:nvSpPr>
        <p:spPr>
          <a:xfrm>
            <a:off x="4810657" y="5212079"/>
            <a:ext cx="28904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Broker MQTT durci</a:t>
            </a:r>
          </a:p>
        </p:txBody>
      </p:sp>
      <p:sp>
        <p:nvSpPr>
          <p:cNvPr id="124" name="texte 74"/>
          <p:cNvSpPr txBox="1"/>
          <p:nvPr/>
        </p:nvSpPr>
        <p:spPr>
          <a:xfrm>
            <a:off x="4810657" y="5404103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Mosquitto authentifié, ACL par topic, profil iot</a:t>
            </a:r>
          </a:p>
        </p:txBody>
      </p:sp>
      <p:pic>
        <p:nvPicPr>
          <p:cNvPr id="125" name="icône 75" descr="icône 75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4508906" y="5742432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e 76"/>
          <p:cNvSpPr txBox="1"/>
          <p:nvPr/>
        </p:nvSpPr>
        <p:spPr>
          <a:xfrm>
            <a:off x="4810657" y="5724144"/>
            <a:ext cx="289041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Secrets chiffrés</a:t>
            </a:r>
          </a:p>
        </p:txBody>
      </p:sp>
      <p:sp>
        <p:nvSpPr>
          <p:cNvPr id="127" name="texte 77"/>
          <p:cNvSpPr txBox="1"/>
          <p:nvPr/>
        </p:nvSpPr>
        <p:spPr>
          <a:xfrm>
            <a:off x="4810657" y="5916167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SOPS et age : aucun secret en clair dans le dépôt</a:t>
            </a:r>
          </a:p>
        </p:txBody>
      </p:sp>
      <p:sp>
        <p:nvSpPr>
          <p:cNvPr id="128" name="carte 78"/>
          <p:cNvSpPr/>
          <p:nvPr/>
        </p:nvSpPr>
        <p:spPr>
          <a:xfrm>
            <a:off x="8066837" y="3858767"/>
            <a:ext cx="3576219" cy="2377441"/>
          </a:xfrm>
          <a:prstGeom prst="roundRect">
            <a:avLst>
              <a:gd name="adj" fmla="val 307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onglet 79"/>
          <p:cNvSpPr/>
          <p:nvPr/>
        </p:nvSpPr>
        <p:spPr>
          <a:xfrm>
            <a:off x="8268004" y="3858767"/>
            <a:ext cx="502920" cy="4572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!!avatar 5"/>
          <p:cNvSpPr/>
          <p:nvPr/>
        </p:nvSpPr>
        <p:spPr>
          <a:xfrm>
            <a:off x="8268004" y="4041647"/>
            <a:ext cx="420625" cy="42062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!!initiales 5"/>
          <p:cNvSpPr txBox="1"/>
          <p:nvPr/>
        </p:nvSpPr>
        <p:spPr>
          <a:xfrm>
            <a:off x="8268004" y="4173527"/>
            <a:ext cx="42062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3"/>
                </a:solidFill>
              </a:defRPr>
            </a:lvl1pPr>
          </a:lstStyle>
          <a:p>
            <a:pPr/>
            <a:r>
              <a:t>LS</a:t>
            </a:r>
          </a:p>
        </p:txBody>
      </p:sp>
      <p:sp>
        <p:nvSpPr>
          <p:cNvPr id="132" name="texte 80"/>
          <p:cNvSpPr txBox="1"/>
          <p:nvPr/>
        </p:nvSpPr>
        <p:spPr>
          <a:xfrm>
            <a:off x="8816644" y="4023359"/>
            <a:ext cx="264353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Léo Solana</a:t>
            </a:r>
          </a:p>
        </p:txBody>
      </p:sp>
      <p:sp>
        <p:nvSpPr>
          <p:cNvPr id="133" name="texte 81"/>
          <p:cNvSpPr txBox="1"/>
          <p:nvPr/>
        </p:nvSpPr>
        <p:spPr>
          <a:xfrm>
            <a:off x="8816644" y="4279391"/>
            <a:ext cx="264353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200" sz="9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DÉVELOPPEUR</a:t>
            </a:r>
          </a:p>
        </p:txBody>
      </p:sp>
      <p:sp>
        <p:nvSpPr>
          <p:cNvPr id="134" name="filet 82"/>
          <p:cNvSpPr/>
          <p:nvPr/>
        </p:nvSpPr>
        <p:spPr>
          <a:xfrm>
            <a:off x="8268004" y="4590288"/>
            <a:ext cx="3173883" cy="1"/>
          </a:xfrm>
          <a:prstGeom prst="line">
            <a:avLst/>
          </a:prstGeom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35" name="icône 83" descr="icône 83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8268004" y="4718303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e 84"/>
          <p:cNvSpPr txBox="1"/>
          <p:nvPr/>
        </p:nvSpPr>
        <p:spPr>
          <a:xfrm>
            <a:off x="8569756" y="4700015"/>
            <a:ext cx="28904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.env</a:t>
            </a:r>
          </a:p>
        </p:txBody>
      </p:sp>
      <p:sp>
        <p:nvSpPr>
          <p:cNvPr id="137" name="texte 85"/>
          <p:cNvSpPr txBox="1"/>
          <p:nvPr/>
        </p:nvSpPr>
        <p:spPr>
          <a:xfrm>
            <a:off x="8569756" y="4892040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rédaction du .env</a:t>
            </a:r>
          </a:p>
        </p:txBody>
      </p:sp>
      <p:pic>
        <p:nvPicPr>
          <p:cNvPr id="138" name="icône 86" descr="icône 8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8268004" y="5230367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e 87"/>
          <p:cNvSpPr txBox="1"/>
          <p:nvPr/>
        </p:nvSpPr>
        <p:spPr>
          <a:xfrm>
            <a:off x="8569756" y="5212079"/>
            <a:ext cx="28904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Makefile</a:t>
            </a:r>
          </a:p>
        </p:txBody>
      </p:sp>
      <p:sp>
        <p:nvSpPr>
          <p:cNvPr id="140" name="texte 88"/>
          <p:cNvSpPr txBox="1"/>
          <p:nvPr/>
        </p:nvSpPr>
        <p:spPr>
          <a:xfrm>
            <a:off x="8569756" y="5404103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rédaction du makefile</a:t>
            </a:r>
          </a:p>
        </p:txBody>
      </p:sp>
      <p:pic>
        <p:nvPicPr>
          <p:cNvPr id="141" name="icône 89" descr="icône 89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8268004" y="5742432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texte 90"/>
          <p:cNvSpPr txBox="1"/>
          <p:nvPr/>
        </p:nvSpPr>
        <p:spPr>
          <a:xfrm>
            <a:off x="8569756" y="5724144"/>
            <a:ext cx="289041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Gitignore</a:t>
            </a:r>
          </a:p>
        </p:txBody>
      </p:sp>
      <p:sp>
        <p:nvSpPr>
          <p:cNvPr id="143" name="texte 91"/>
          <p:cNvSpPr txBox="1"/>
          <p:nvPr/>
        </p:nvSpPr>
        <p:spPr>
          <a:xfrm>
            <a:off x="8569756" y="5916167"/>
            <a:ext cx="2890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rédaction et maintenance du gitignore</a:t>
            </a:r>
          </a:p>
        </p:txBody>
      </p:sp>
      <p:sp>
        <p:nvSpPr>
          <p:cNvPr id="144" name="Slide Number Placeholder 0"/>
          <p:cNvSpPr txBox="1"/>
          <p:nvPr>
            <p:ph type="sldNum" sz="quarter" idx="4294967295"/>
          </p:nvPr>
        </p:nvSpPr>
        <p:spPr>
          <a:xfrm>
            <a:off x="11480983" y="6400800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5" name="texte 91"/>
          <p:cNvSpPr txBox="1"/>
          <p:nvPr/>
        </p:nvSpPr>
        <p:spPr>
          <a:xfrm>
            <a:off x="8569755" y="6043254"/>
            <a:ext cx="3416960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A3AEC2"/>
                </a:solidFill>
              </a:defRPr>
            </a:lvl1pPr>
          </a:lstStyle>
          <a:p>
            <a:pPr/>
            <a:r>
              <a:t>gestion de projet, revu des pr et des commits de toute l’équipe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800"/>
                            </p:stCondLst>
                            <p:childTnLst>
                              <p:par>
                                <p:cTn id="53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00"/>
                            </p:stCondLst>
                            <p:childTnLst>
                              <p:par>
                                <p:cTn id="57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00"/>
                            </p:stCondLst>
                            <p:childTnLst>
                              <p:par>
                                <p:cTn id="61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400"/>
                            </p:stCondLst>
                            <p:childTnLst>
                              <p:par>
                                <p:cTn id="69" presetClass="entr" nodeType="afterEffect" presetID="10" grpId="17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900"/>
                            </p:stCondLst>
                            <p:childTnLst>
                              <p:par>
                                <p:cTn id="73" presetClass="entr" nodeType="afterEffect" presetID="10" grpId="18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400"/>
                            </p:stCondLst>
                            <p:childTnLst>
                              <p:par>
                                <p:cTn id="77" presetClass="entr" nodeType="afterEffect" presetID="10" grpId="19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900"/>
                            </p:stCondLst>
                            <p:childTnLst>
                              <p:par>
                                <p:cTn id="81" presetClass="entr" nodeType="afterEffect" presetID="10" grpId="20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400"/>
                            </p:stCondLst>
                            <p:childTnLst>
                              <p:par>
                                <p:cTn id="85" presetClass="entr" nodeType="afterEffect" presetID="10" grpId="21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900"/>
                            </p:stCondLst>
                            <p:childTnLst>
                              <p:par>
                                <p:cTn id="89" presetClass="entr" nodeType="afterEffect" presetID="10" grpId="22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400"/>
                            </p:stCondLst>
                            <p:childTnLst>
                              <p:par>
                                <p:cTn id="93" presetClass="entr" nodeType="afterEffect" presetID="10" grpId="23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900"/>
                            </p:stCondLst>
                            <p:childTnLst>
                              <p:par>
                                <p:cTn id="97" presetClass="entr" nodeType="afterEffect" presetID="10" grpId="24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400"/>
                            </p:stCondLst>
                            <p:childTnLst>
                              <p:par>
                                <p:cTn id="101" presetClass="entr" nodeType="afterEffect" presetID="10" grpId="25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900"/>
                            </p:stCondLst>
                            <p:childTnLst>
                              <p:par>
                                <p:cTn id="105" presetClass="entr" nodeType="afterEffect" presetID="10" grpId="26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400"/>
                            </p:stCondLst>
                            <p:childTnLst>
                              <p:par>
                                <p:cTn id="109" presetClass="entr" nodeType="afterEffect" presetID="10" grpId="27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1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1900"/>
                            </p:stCondLst>
                            <p:childTnLst>
                              <p:par>
                                <p:cTn id="113" presetClass="entr" nodeType="afterEffect" presetID="10" grpId="28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400"/>
                            </p:stCondLst>
                            <p:childTnLst>
                              <p:par>
                                <p:cTn id="117" presetClass="entr" nodeType="afterEffect" presetID="10" grpId="29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900"/>
                            </p:stCondLst>
                            <p:childTnLst>
                              <p:par>
                                <p:cTn id="121" presetClass="entr" nodeType="afterEffect" presetID="10" grpId="30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3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3400"/>
                            </p:stCondLst>
                            <p:childTnLst>
                              <p:par>
                                <p:cTn id="125" presetClass="entr" nodeType="afterEffect" presetID="10" grpId="31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900"/>
                            </p:stCondLst>
                            <p:childTnLst>
                              <p:par>
                                <p:cTn id="129" presetClass="entr" nodeType="afterEffect" presetID="10" grpId="32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400"/>
                            </p:stCondLst>
                            <p:childTnLst>
                              <p:par>
                                <p:cTn id="133" presetClass="entr" nodeType="afterEffect" presetID="10" grpId="33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5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7" presetClass="entr" nodeType="afterEffect" presetID="10" grpId="34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600"/>
                            </p:stCondLst>
                            <p:childTnLst>
                              <p:par>
                                <p:cTn id="141" presetClass="entr" nodeType="afterEffect" presetID="10" grpId="35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6200"/>
                            </p:stCondLst>
                            <p:childTnLst>
                              <p:par>
                                <p:cTn id="145" presetClass="entr" nodeType="afterEffect" presetID="10" grpId="36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6800"/>
                            </p:stCondLst>
                            <p:childTnLst>
                              <p:par>
                                <p:cTn id="149" presetClass="entr" nodeType="afterEffect" presetID="10" grpId="37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7400"/>
                            </p:stCondLst>
                            <p:childTnLst>
                              <p:par>
                                <p:cTn id="153" presetClass="entr" nodeType="afterEffect" presetID="10" grpId="38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4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7" presetClass="entr" nodeType="afterEffect" presetID="10" grpId="39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8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8600"/>
                            </p:stCondLst>
                            <p:childTnLst>
                              <p:par>
                                <p:cTn id="161" presetClass="entr" nodeType="afterEffect" presetID="10" grpId="40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2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3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9200"/>
                            </p:stCondLst>
                            <p:childTnLst>
                              <p:par>
                                <p:cTn id="165" presetClass="entr" nodeType="afterEffect" presetID="10" grpId="41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6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7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9800"/>
                            </p:stCondLst>
                            <p:childTnLst>
                              <p:par>
                                <p:cTn id="169" presetClass="entr" nodeType="afterEffect" presetID="10" grpId="42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1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0400"/>
                            </p:stCondLst>
                            <p:childTnLst>
                              <p:par>
                                <p:cTn id="173" presetClass="entr" nodeType="afterEffect" presetID="10" grpId="43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4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5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1000"/>
                            </p:stCondLst>
                            <p:childTnLst>
                              <p:par>
                                <p:cTn id="177" presetClass="entr" nodeType="afterEffect" presetID="10" grpId="44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9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81" presetClass="entr" nodeType="afterEffect" presetID="10" grpId="45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2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3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2200"/>
                            </p:stCondLst>
                            <p:childTnLst>
                              <p:par>
                                <p:cTn id="185" presetClass="entr" nodeType="afterEffect" presetID="10" grpId="46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6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7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2800"/>
                            </p:stCondLst>
                            <p:childTnLst>
                              <p:par>
                                <p:cTn id="189" presetClass="entr" nodeType="afterEffect" presetID="10" grpId="47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3400"/>
                            </p:stCondLst>
                            <p:childTnLst>
                              <p:par>
                                <p:cTn id="193" presetClass="entr" nodeType="afterEffect" presetID="10" grpId="48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4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5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4000"/>
                            </p:stCondLst>
                            <p:childTnLst>
                              <p:par>
                                <p:cTn id="197" presetClass="entr" nodeType="afterEffect" presetID="10" grpId="49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8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9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4700"/>
                            </p:stCondLst>
                            <p:childTnLst>
                              <p:par>
                                <p:cTn id="201" presetClass="entr" nodeType="afterEffect" presetID="10" grpId="50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2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3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5400"/>
                            </p:stCondLst>
                            <p:childTnLst>
                              <p:par>
                                <p:cTn id="205" presetClass="entr" nodeType="afterEffect" presetID="10" grpId="51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6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7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6100"/>
                            </p:stCondLst>
                            <p:childTnLst>
                              <p:par>
                                <p:cTn id="209" presetClass="entr" nodeType="afterEffect" presetID="10" grpId="52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1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6800"/>
                            </p:stCondLst>
                            <p:childTnLst>
                              <p:par>
                                <p:cTn id="213" presetClass="entr" nodeType="afterEffect" presetID="10" grpId="53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4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5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7500"/>
                            </p:stCondLst>
                            <p:childTnLst>
                              <p:par>
                                <p:cTn id="217" presetClass="entr" nodeType="afterEffect" presetID="10" grpId="54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8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9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8200"/>
                            </p:stCondLst>
                            <p:childTnLst>
                              <p:par>
                                <p:cTn id="221" presetClass="entr" nodeType="afterEffect" presetID="10" grpId="55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2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3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8900"/>
                            </p:stCondLst>
                            <p:childTnLst>
                              <p:par>
                                <p:cTn id="225" presetClass="entr" nodeType="afterEffect" presetID="10" grpId="56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6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7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9600"/>
                            </p:stCondLst>
                            <p:childTnLst>
                              <p:par>
                                <p:cTn id="229" presetClass="entr" nodeType="afterEffect" presetID="10" grpId="57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1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0300"/>
                            </p:stCondLst>
                            <p:childTnLst>
                              <p:par>
                                <p:cTn id="233" presetClass="entr" nodeType="afterEffect" presetID="10" grpId="58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4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5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31000"/>
                            </p:stCondLst>
                            <p:childTnLst>
                              <p:par>
                                <p:cTn id="237" presetClass="entr" nodeType="afterEffect" presetID="10" grpId="59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8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9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31700"/>
                            </p:stCondLst>
                            <p:childTnLst>
                              <p:par>
                                <p:cTn id="241" presetClass="entr" nodeType="afterEffect" presetID="10" grpId="60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2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3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32400"/>
                            </p:stCondLst>
                            <p:childTnLst>
                              <p:par>
                                <p:cTn id="245" presetClass="entr" nodeType="afterEffect" presetID="10" grpId="61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6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33100"/>
                            </p:stCondLst>
                            <p:childTnLst>
                              <p:par>
                                <p:cTn id="249" presetClass="entr" nodeType="afterEffect" presetID="10" grpId="62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1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3800"/>
                            </p:stCondLst>
                            <p:childTnLst>
                              <p:par>
                                <p:cTn id="253" presetClass="entr" nodeType="afterEffect" presetID="10" grpId="63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4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5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4500"/>
                            </p:stCondLst>
                            <p:childTnLst>
                              <p:par>
                                <p:cTn id="257" presetClass="entr" nodeType="afterEffect" presetID="10" grpId="64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8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9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5200"/>
                            </p:stCondLst>
                            <p:childTnLst>
                              <p:par>
                                <p:cTn id="261" presetClass="entr" nodeType="afterEffect" presetID="10" grpId="65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2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3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36000"/>
                            </p:stCondLst>
                            <p:childTnLst>
                              <p:par>
                                <p:cTn id="265" presetClass="entr" nodeType="afterEffect" presetID="10" grpId="66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6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7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6800"/>
                            </p:stCondLst>
                            <p:childTnLst>
                              <p:par>
                                <p:cTn id="269" presetClass="entr" nodeType="afterEffect" presetID="10" grpId="67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1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7600"/>
                            </p:stCondLst>
                            <p:childTnLst>
                              <p:par>
                                <p:cTn id="273" presetClass="entr" nodeType="afterEffect" presetID="10" grpId="68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4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5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38400"/>
                            </p:stCondLst>
                            <p:childTnLst>
                              <p:par>
                                <p:cTn id="277" presetClass="entr" nodeType="afterEffect" presetID="10" grpId="69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8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9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39200"/>
                            </p:stCondLst>
                            <p:childTnLst>
                              <p:par>
                                <p:cTn id="281" presetClass="entr" nodeType="afterEffect" presetID="10" grpId="70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2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3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85" presetClass="entr" nodeType="afterEffect" presetID="10" grpId="71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6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40800"/>
                            </p:stCondLst>
                            <p:childTnLst>
                              <p:par>
                                <p:cTn id="289" presetClass="entr" nodeType="afterEffect" presetID="10" grpId="72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1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1600"/>
                            </p:stCondLst>
                            <p:childTnLst>
                              <p:par>
                                <p:cTn id="293" presetClass="entr" nodeType="afterEffect" presetID="10" grpId="73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4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42400"/>
                            </p:stCondLst>
                            <p:childTnLst>
                              <p:par>
                                <p:cTn id="297" presetClass="entr" nodeType="afterEffect" presetID="10" grpId="74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8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9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43200"/>
                            </p:stCondLst>
                            <p:childTnLst>
                              <p:par>
                                <p:cTn id="301" presetClass="entr" nodeType="afterEffect" presetID="10" grpId="75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2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3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44000"/>
                            </p:stCondLst>
                            <p:childTnLst>
                              <p:par>
                                <p:cTn id="305" presetClass="entr" nodeType="afterEffect" presetID="10" grpId="76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6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7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44800"/>
                            </p:stCondLst>
                            <p:childTnLst>
                              <p:par>
                                <p:cTn id="309" presetClass="entr" nodeType="afterEffect" presetID="10" grpId="77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1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45600"/>
                            </p:stCondLst>
                            <p:childTnLst>
                              <p:par>
                                <p:cTn id="313" presetClass="entr" nodeType="afterEffect" presetID="10" grpId="78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4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5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46400"/>
                            </p:stCondLst>
                            <p:childTnLst>
                              <p:par>
                                <p:cTn id="317" presetClass="entr" nodeType="afterEffect" presetID="10" grpId="79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8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9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47200"/>
                            </p:stCondLst>
                            <p:childTnLst>
                              <p:par>
                                <p:cTn id="321" presetClass="entr" nodeType="afterEffect" presetID="10" grpId="80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2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3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48000"/>
                            </p:stCondLst>
                            <p:childTnLst>
                              <p:par>
                                <p:cTn id="325" presetClass="entr" nodeType="afterEffect" presetID="10" grpId="81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6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48900"/>
                            </p:stCondLst>
                            <p:childTnLst>
                              <p:par>
                                <p:cTn id="329" presetClass="entr" nodeType="afterEffect" presetID="10" grpId="82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1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49800"/>
                            </p:stCondLst>
                            <p:childTnLst>
                              <p:par>
                                <p:cTn id="333" presetClass="entr" nodeType="afterEffect" presetID="10" grpId="83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4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5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50700"/>
                            </p:stCondLst>
                            <p:childTnLst>
                              <p:par>
                                <p:cTn id="337" presetClass="entr" nodeType="afterEffect" presetID="10" grpId="84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8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9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1600"/>
                            </p:stCondLst>
                            <p:childTnLst>
                              <p:par>
                                <p:cTn id="341" presetClass="entr" nodeType="afterEffect" presetID="10" grpId="85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2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3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52500"/>
                            </p:stCondLst>
                            <p:childTnLst>
                              <p:par>
                                <p:cTn id="345" presetClass="entr" nodeType="afterEffect" presetID="10" grpId="86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6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7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3400"/>
                            </p:stCondLst>
                            <p:childTnLst>
                              <p:par>
                                <p:cTn id="349" presetClass="entr" nodeType="afterEffect" presetID="10" grpId="87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1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4300"/>
                            </p:stCondLst>
                            <p:childTnLst>
                              <p:par>
                                <p:cTn id="353" presetClass="entr" nodeType="afterEffect" presetID="10" grpId="88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4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5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55200"/>
                            </p:stCondLst>
                            <p:childTnLst>
                              <p:par>
                                <p:cTn id="357" presetClass="entr" nodeType="afterEffect" presetID="10" grpId="89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8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9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56100"/>
                            </p:stCondLst>
                            <p:childTnLst>
                              <p:par>
                                <p:cTn id="361" presetClass="entr" nodeType="afterEffect" presetID="10" grpId="90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2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3" dur="4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57000"/>
                            </p:stCondLst>
                            <p:childTnLst>
                              <p:par>
                                <p:cTn id="365" presetClass="entr" nodeType="afterEffect" presetID="10" grpId="91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6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7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57900"/>
                            </p:stCondLst>
                            <p:childTnLst>
                              <p:par>
                                <p:cTn id="369" presetClass="entr" nodeType="afterEffect" presetID="10" grpId="92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1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8800"/>
                            </p:stCondLst>
                            <p:childTnLst>
                              <p:par>
                                <p:cTn id="373" presetClass="entr" nodeType="afterEffect" presetID="10" grpId="93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4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5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59700"/>
                            </p:stCondLst>
                            <p:childTnLst>
                              <p:par>
                                <p:cTn id="377" presetClass="entr" nodeType="afterEffect" presetID="10" grpId="94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8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9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60600"/>
                            </p:stCondLst>
                            <p:childTnLst>
                              <p:par>
                                <p:cTn id="381" presetClass="entr" nodeType="afterEffect" presetID="10" grpId="95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2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3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61500"/>
                            </p:stCondLst>
                            <p:childTnLst>
                              <p:par>
                                <p:cTn id="385" presetClass="entr" nodeType="afterEffect" presetID="10" grpId="96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6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7"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62400"/>
                            </p:stCondLst>
                            <p:childTnLst>
                              <p:par>
                                <p:cTn id="389" presetClass="entr" nodeType="afterEffect" presetID="10" grpId="97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1" dur="4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1" grpId="14"/>
      <p:bldP build="whole" bldLvl="1" animBg="1" rev="0" advAuto="0" spid="120" grpId="73"/>
      <p:bldP build="whole" bldLvl="1" animBg="1" rev="0" advAuto="0" spid="102" grpId="55"/>
      <p:bldP build="whole" bldLvl="1" animBg="1" rev="0" advAuto="0" spid="138" grpId="91"/>
      <p:bldP build="whole" bldLvl="1" animBg="1" rev="0" advAuto="0" spid="110" grpId="63"/>
      <p:bldP build="whole" bldLvl="1" animBg="1" rev="0" advAuto="0" spid="93" grpId="46"/>
      <p:bldP build="whole" bldLvl="1" animBg="1" rev="0" advAuto="0" spid="118" grpId="71"/>
      <p:bldP build="whole" bldLvl="1" animBg="1" rev="0" advAuto="0" spid="100" grpId="53"/>
      <p:bldP build="whole" bldLvl="1" animBg="1" rev="0" advAuto="0" spid="80" grpId="33"/>
      <p:bldP build="whole" bldLvl="1" animBg="1" rev="0" advAuto="0" spid="48" grpId="1"/>
      <p:bldP build="whole" bldLvl="1" animBg="1" rev="0" advAuto="0" spid="53" grpId="6"/>
      <p:bldP build="whole" bldLvl="1" animBg="1" rev="0" advAuto="0" spid="51" grpId="4"/>
      <p:bldP build="whole" bldLvl="1" animBg="1" rev="0" advAuto="0" spid="108" grpId="61"/>
      <p:bldP build="whole" bldLvl="1" animBg="1" rev="0" advAuto="0" spid="128" grpId="81"/>
      <p:bldP build="whole" bldLvl="1" animBg="1" rev="0" advAuto="0" spid="104" grpId="57"/>
      <p:bldP build="whole" bldLvl="1" animBg="1" rev="0" advAuto="0" spid="49" grpId="2"/>
      <p:bldP build="whole" bldLvl="1" animBg="1" rev="0" advAuto="0" spid="129" grpId="82"/>
      <p:bldP build="whole" bldLvl="1" animBg="1" rev="0" advAuto="0" spid="112" grpId="65"/>
      <p:bldP build="whole" bldLvl="1" animBg="1" rev="0" advAuto="0" spid="101" grpId="54"/>
      <p:bldP build="whole" bldLvl="1" animBg="1" rev="0" advAuto="0" spid="84" grpId="37"/>
      <p:bldP build="whole" bldLvl="1" animBg="1" rev="0" advAuto="0" spid="132" grpId="85"/>
      <p:bldP build="whole" bldLvl="1" animBg="1" rev="0" advAuto="0" spid="124" grpId="77"/>
      <p:bldP build="whole" bldLvl="1" animBg="1" rev="0" advAuto="0" spid="75" grpId="28"/>
      <p:bldP build="whole" bldLvl="1" animBg="1" rev="0" advAuto="0" spid="134" grpId="87"/>
      <p:bldP build="whole" bldLvl="1" animBg="1" rev="0" advAuto="0" spid="115" grpId="68"/>
      <p:bldP build="whole" bldLvl="1" animBg="1" rev="0" advAuto="0" spid="143" grpId="96"/>
      <p:bldP build="whole" bldLvl="1" animBg="1" rev="0" advAuto="0" spid="140" grpId="93"/>
      <p:bldP build="whole" bldLvl="1" animBg="1" rev="0" advAuto="0" spid="113" grpId="66"/>
      <p:bldP build="whole" bldLvl="1" animBg="1" rev="0" advAuto="0" spid="98" grpId="51"/>
      <p:bldP build="whole" bldLvl="1" animBg="1" rev="0" advAuto="0" spid="96" grpId="49"/>
      <p:bldP build="whole" bldLvl="1" animBg="1" rev="0" advAuto="0" spid="85" grpId="38"/>
      <p:bldP build="whole" bldLvl="1" animBg="1" rev="0" advAuto="0" spid="106" grpId="59"/>
      <p:bldP build="whole" bldLvl="1" animBg="1" rev="0" advAuto="0" spid="72" grpId="25"/>
      <p:bldP build="whole" bldLvl="1" animBg="1" rev="0" advAuto="0" spid="86" grpId="39"/>
      <p:bldP build="whole" bldLvl="1" animBg="1" rev="0" advAuto="0" spid="76" grpId="29"/>
      <p:bldP build="whole" bldLvl="1" animBg="1" rev="0" advAuto="0" spid="141" grpId="94"/>
      <p:bldP build="whole" bldLvl="1" animBg="1" rev="0" advAuto="0" spid="126" grpId="79"/>
      <p:bldP build="whole" bldLvl="1" animBg="1" rev="0" advAuto="0" spid="52" grpId="5"/>
      <p:bldP build="whole" bldLvl="1" animBg="1" rev="0" advAuto="0" spid="55" grpId="8"/>
      <p:bldP build="whole" bldLvl="1" animBg="1" rev="0" advAuto="0" spid="50" grpId="3"/>
      <p:bldP build="whole" bldLvl="1" animBg="1" rev="0" advAuto="0" spid="60" grpId="13"/>
      <p:bldP build="whole" bldLvl="1" animBg="1" rev="0" advAuto="0" spid="89" grpId="42"/>
      <p:bldP build="whole" bldLvl="1" animBg="1" rev="0" advAuto="0" spid="94" grpId="47"/>
      <p:bldP build="whole" bldLvl="1" animBg="1" rev="0" advAuto="0" spid="83" grpId="36"/>
      <p:bldP build="whole" bldLvl="1" animBg="1" rev="0" advAuto="0" spid="139" grpId="92"/>
      <p:bldP build="whole" bldLvl="1" animBg="1" rev="0" advAuto="0" spid="66" grpId="19"/>
      <p:bldP build="whole" bldLvl="1" animBg="1" rev="0" advAuto="0" spid="117" grpId="70"/>
      <p:bldP build="whole" bldLvl="1" animBg="1" rev="0" advAuto="0" spid="65" grpId="18"/>
      <p:bldP build="whole" bldLvl="1" animBg="1" rev="0" advAuto="0" spid="74" grpId="27"/>
      <p:bldP build="whole" bldLvl="1" animBg="1" rev="0" advAuto="0" spid="64" grpId="17"/>
      <p:bldP build="whole" bldLvl="1" animBg="1" rev="0" advAuto="0" spid="92" grpId="45"/>
      <p:bldP build="whole" bldLvl="1" animBg="1" rev="0" advAuto="0" spid="107" grpId="60"/>
      <p:bldP build="whole" bldLvl="1" animBg="1" rev="0" advAuto="0" spid="130" grpId="83"/>
      <p:bldP build="whole" bldLvl="1" animBg="1" rev="0" advAuto="0" spid="136" grpId="89"/>
      <p:bldP build="whole" bldLvl="1" animBg="1" rev="0" advAuto="0" spid="95" grpId="48"/>
      <p:bldP build="whole" bldLvl="1" animBg="1" rev="0" advAuto="0" spid="103" grpId="56"/>
      <p:bldP build="whole" bldLvl="1" animBg="1" rev="0" advAuto="0" spid="82" grpId="35"/>
      <p:bldP build="whole" bldLvl="1" animBg="1" rev="0" advAuto="0" spid="111" grpId="64"/>
      <p:bldP build="whole" bldLvl="1" animBg="1" rev="0" advAuto="0" spid="137" grpId="90"/>
      <p:bldP build="whole" bldLvl="1" animBg="1" rev="0" advAuto="0" spid="131" grpId="84"/>
      <p:bldP build="whole" bldLvl="1" animBg="1" rev="0" advAuto="0" spid="125" grpId="78"/>
      <p:bldP build="whole" bldLvl="1" animBg="1" rev="0" advAuto="0" spid="81" grpId="34"/>
      <p:bldP build="whole" bldLvl="1" animBg="1" rev="0" advAuto="0" spid="145" grpId="97"/>
      <p:bldP build="whole" bldLvl="1" animBg="1" rev="0" advAuto="0" spid="91" grpId="44"/>
      <p:bldP build="whole" bldLvl="1" animBg="1" rev="0" advAuto="0" spid="114" grpId="67"/>
      <p:bldP build="whole" bldLvl="1" animBg="1" rev="0" advAuto="0" spid="54" grpId="7"/>
      <p:bldP build="whole" bldLvl="1" animBg="1" rev="0" advAuto="0" spid="109" grpId="62"/>
      <p:bldP build="whole" bldLvl="1" animBg="1" rev="0" advAuto="0" spid="142" grpId="95"/>
      <p:bldP build="whole" bldLvl="1" animBg="1" rev="0" advAuto="0" spid="119" grpId="72"/>
      <p:bldP build="whole" bldLvl="1" animBg="1" rev="0" advAuto="0" spid="71" grpId="24"/>
      <p:bldP build="whole" bldLvl="1" animBg="1" rev="0" advAuto="0" spid="69" grpId="22"/>
      <p:bldP build="whole" bldLvl="1" animBg="1" rev="0" advAuto="0" spid="99" grpId="52"/>
      <p:bldP build="whole" bldLvl="1" animBg="1" rev="0" advAuto="0" spid="105" grpId="58"/>
      <p:bldP build="whole" bldLvl="1" animBg="1" rev="0" advAuto="0" spid="88" grpId="41"/>
      <p:bldP build="whole" bldLvl="1" animBg="1" rev="0" advAuto="0" spid="57" grpId="10"/>
      <p:bldP build="whole" bldLvl="1" animBg="1" rev="0" advAuto="0" spid="62" grpId="15"/>
      <p:bldP build="whole" bldLvl="1" animBg="1" rev="0" advAuto="0" spid="121" grpId="74"/>
      <p:bldP build="whole" bldLvl="1" animBg="1" rev="0" advAuto="0" spid="122" grpId="75"/>
      <p:bldP build="whole" bldLvl="1" animBg="1" rev="0" advAuto="0" spid="127" grpId="80"/>
      <p:bldP build="whole" bldLvl="1" animBg="1" rev="0" advAuto="0" spid="133" grpId="86"/>
      <p:bldP build="whole" bldLvl="1" animBg="1" rev="0" advAuto="0" spid="78" grpId="31"/>
      <p:bldP build="whole" bldLvl="1" animBg="1" rev="0" advAuto="0" spid="59" grpId="12"/>
      <p:bldP build="whole" bldLvl="1" animBg="1" rev="0" advAuto="0" spid="77" grpId="30"/>
      <p:bldP build="whole" bldLvl="1" animBg="1" rev="0" advAuto="0" spid="70" grpId="23"/>
      <p:bldP build="whole" bldLvl="1" animBg="1" rev="0" advAuto="0" spid="56" grpId="9"/>
      <p:bldP build="whole" bldLvl="1" animBg="1" rev="0" advAuto="0" spid="97" grpId="50"/>
      <p:bldP build="whole" bldLvl="1" animBg="1" rev="0" advAuto="0" spid="123" grpId="76"/>
      <p:bldP build="whole" bldLvl="1" animBg="1" rev="0" advAuto="0" spid="79" grpId="32"/>
      <p:bldP build="whole" bldLvl="1" animBg="1" rev="0" advAuto="0" spid="116" grpId="69"/>
      <p:bldP build="whole" bldLvl="1" animBg="1" rev="0" advAuto="0" spid="90" grpId="43"/>
      <p:bldP build="whole" bldLvl="1" animBg="1" rev="0" advAuto="0" spid="73" grpId="26"/>
      <p:bldP build="whole" bldLvl="1" animBg="1" rev="0" advAuto="0" spid="58" grpId="11"/>
      <p:bldP build="whole" bldLvl="1" animBg="1" rev="0" advAuto="0" spid="63" grpId="16"/>
      <p:bldP build="whole" bldLvl="1" animBg="1" rev="0" advAuto="0" spid="67" grpId="20"/>
      <p:bldP build="whole" bldLvl="1" animBg="1" rev="0" advAuto="0" spid="87" grpId="40"/>
      <p:bldP build="whole" bldLvl="1" animBg="1" rev="0" advAuto="0" spid="68" grpId="21"/>
      <p:bldP build="whole" bldLvl="1" animBg="1" rev="0" advAuto="0" spid="135" grpId="88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 anchor="b"/>
          <a:lstStyle/>
          <a:p>
            <a:pPr/>
            <a:r>
              <a:t>LE PROJET · ARCHITECTURE</a:t>
            </a:r>
          </a:p>
        </p:txBody>
      </p:sp>
      <p:sp>
        <p:nvSpPr>
          <p:cNvPr id="150" name="Text 0"/>
          <p:cNvSpPr txBox="1"/>
          <p:nvPr>
            <p:ph type="title"/>
          </p:nvPr>
        </p:nvSpPr>
        <p:spPr>
          <a:xfrm>
            <a:off x="548639" y="676655"/>
            <a:ext cx="11094417" cy="566929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Une seule porte, une boucle qui se referme</a:t>
            </a:r>
          </a:p>
        </p:txBody>
      </p:sp>
      <p:sp>
        <p:nvSpPr>
          <p:cNvPr id="151" name="texte 92"/>
          <p:cNvSpPr txBox="1"/>
          <p:nvPr/>
        </p:nvSpPr>
        <p:spPr>
          <a:xfrm>
            <a:off x="548640" y="1463039"/>
            <a:ext cx="3657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200"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CHEMIN MÉTIER</a:t>
            </a:r>
          </a:p>
        </p:txBody>
      </p:sp>
      <p:sp>
        <p:nvSpPr>
          <p:cNvPr id="152" name="carte 93"/>
          <p:cNvSpPr/>
          <p:nvPr/>
        </p:nvSpPr>
        <p:spPr>
          <a:xfrm>
            <a:off x="548640" y="1810511"/>
            <a:ext cx="2567865" cy="1051562"/>
          </a:xfrm>
          <a:prstGeom prst="roundRect">
            <a:avLst>
              <a:gd name="adj" fmla="val 695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onglet 94"/>
          <p:cNvSpPr/>
          <p:nvPr/>
        </p:nvSpPr>
        <p:spPr>
          <a:xfrm>
            <a:off x="749808" y="1810511"/>
            <a:ext cx="502920" cy="4572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uile 95"/>
          <p:cNvSpPr/>
          <p:nvPr/>
        </p:nvSpPr>
        <p:spPr>
          <a:xfrm>
            <a:off x="749808" y="2112264"/>
            <a:ext cx="457201" cy="457201"/>
          </a:xfrm>
          <a:prstGeom prst="roundRect">
            <a:avLst>
              <a:gd name="adj" fmla="val 16000"/>
            </a:avLst>
          </a:prstGeom>
          <a:solidFill>
            <a:schemeClr val="accent2">
              <a:alpha val="15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5" name="icône 96" descr="icône 9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0391" y="2212848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e 97"/>
          <p:cNvSpPr txBox="1"/>
          <p:nvPr/>
        </p:nvSpPr>
        <p:spPr>
          <a:xfrm>
            <a:off x="1371600" y="2048255"/>
            <a:ext cx="1607745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PC Attaquant</a:t>
            </a:r>
          </a:p>
        </p:txBody>
      </p:sp>
      <p:sp>
        <p:nvSpPr>
          <p:cNvPr id="157" name="texte 98"/>
          <p:cNvSpPr txBox="1"/>
          <p:nvPr/>
        </p:nvSpPr>
        <p:spPr>
          <a:xfrm>
            <a:off x="1371600" y="2340864"/>
            <a:ext cx="1607745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AEC2"/>
                </a:solidFill>
              </a:defRPr>
            </a:lvl1pPr>
          </a:lstStyle>
          <a:p>
            <a:pPr/>
            <a:r>
              <a:t>hotspot du projet, 4 scénarios bornés</a:t>
            </a:r>
          </a:p>
        </p:txBody>
      </p:sp>
      <p:sp>
        <p:nvSpPr>
          <p:cNvPr id="158" name="flèche 99"/>
          <p:cNvSpPr/>
          <p:nvPr/>
        </p:nvSpPr>
        <p:spPr>
          <a:xfrm>
            <a:off x="3162224" y="2336292"/>
            <a:ext cx="182881" cy="1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carte 100"/>
          <p:cNvSpPr/>
          <p:nvPr/>
        </p:nvSpPr>
        <p:spPr>
          <a:xfrm>
            <a:off x="3390824" y="1810511"/>
            <a:ext cx="2567865" cy="1051562"/>
          </a:xfrm>
          <a:prstGeom prst="roundRect">
            <a:avLst>
              <a:gd name="adj" fmla="val 6957"/>
            </a:avLst>
          </a:prstGeom>
          <a:solidFill>
            <a:srgbClr val="1A2438"/>
          </a:solidFill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onglet 101"/>
          <p:cNvSpPr/>
          <p:nvPr/>
        </p:nvSpPr>
        <p:spPr>
          <a:xfrm>
            <a:off x="3591991" y="1810511"/>
            <a:ext cx="502921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uile 102"/>
          <p:cNvSpPr/>
          <p:nvPr/>
        </p:nvSpPr>
        <p:spPr>
          <a:xfrm>
            <a:off x="3591991" y="2112264"/>
            <a:ext cx="457201" cy="457201"/>
          </a:xfrm>
          <a:prstGeom prst="roundRect">
            <a:avLst>
              <a:gd name="adj" fmla="val 16000"/>
            </a:avLst>
          </a:prstGeom>
          <a:solidFill>
            <a:schemeClr val="accent1">
              <a:alpha val="15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2" name="icône 103" descr="icône 10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692576" y="2212848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e 104"/>
          <p:cNvSpPr txBox="1"/>
          <p:nvPr/>
        </p:nvSpPr>
        <p:spPr>
          <a:xfrm>
            <a:off x="4213783" y="2048255"/>
            <a:ext cx="1607745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WAF</a:t>
            </a:r>
          </a:p>
        </p:txBody>
      </p:sp>
      <p:sp>
        <p:nvSpPr>
          <p:cNvPr id="164" name="texte 105"/>
          <p:cNvSpPr txBox="1"/>
          <p:nvPr/>
        </p:nvSpPr>
        <p:spPr>
          <a:xfrm>
            <a:off x="4213783" y="2340864"/>
            <a:ext cx="1607745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AEC2"/>
                </a:solidFill>
              </a:defRPr>
            </a:lvl1pPr>
          </a:lstStyle>
          <a:p>
            <a:pPr/>
            <a:r>
              <a:t>ModSecurity + CRS, seul exposé</a:t>
            </a:r>
          </a:p>
        </p:txBody>
      </p:sp>
      <p:sp>
        <p:nvSpPr>
          <p:cNvPr id="165" name="flèche 106"/>
          <p:cNvSpPr/>
          <p:nvPr/>
        </p:nvSpPr>
        <p:spPr>
          <a:xfrm>
            <a:off x="6004407" y="2336292"/>
            <a:ext cx="182881" cy="1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carte 107"/>
          <p:cNvSpPr/>
          <p:nvPr/>
        </p:nvSpPr>
        <p:spPr>
          <a:xfrm>
            <a:off x="6233007" y="1810511"/>
            <a:ext cx="2567865" cy="1051562"/>
          </a:xfrm>
          <a:prstGeom prst="roundRect">
            <a:avLst>
              <a:gd name="adj" fmla="val 695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onglet 108"/>
          <p:cNvSpPr/>
          <p:nvPr/>
        </p:nvSpPr>
        <p:spPr>
          <a:xfrm>
            <a:off x="6434175" y="1810511"/>
            <a:ext cx="502920" cy="4572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uile 109"/>
          <p:cNvSpPr/>
          <p:nvPr/>
        </p:nvSpPr>
        <p:spPr>
          <a:xfrm>
            <a:off x="6434175" y="2112264"/>
            <a:ext cx="457201" cy="457201"/>
          </a:xfrm>
          <a:prstGeom prst="roundRect">
            <a:avLst>
              <a:gd name="adj" fmla="val 16000"/>
            </a:avLst>
          </a:prstGeom>
          <a:solidFill>
            <a:schemeClr val="accent4">
              <a:alpha val="15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9" name="icône 110" descr="icône 1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34760" y="2212848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e 111"/>
          <p:cNvSpPr txBox="1"/>
          <p:nvPr/>
        </p:nvSpPr>
        <p:spPr>
          <a:xfrm>
            <a:off x="7055967" y="2048255"/>
            <a:ext cx="1607745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Services</a:t>
            </a:r>
          </a:p>
        </p:txBody>
      </p:sp>
      <p:sp>
        <p:nvSpPr>
          <p:cNvPr id="171" name="texte 112"/>
          <p:cNvSpPr txBox="1"/>
          <p:nvPr/>
        </p:nvSpPr>
        <p:spPr>
          <a:xfrm>
            <a:off x="7055967" y="2340864"/>
            <a:ext cx="160774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AEC2"/>
                </a:solidFill>
              </a:defRPr>
            </a:lvl1pPr>
          </a:lstStyle>
          <a:p>
            <a:pPr/>
            <a:r>
              <a:t>front · auth · payment-api ×3</a:t>
            </a:r>
          </a:p>
        </p:txBody>
      </p:sp>
      <p:sp>
        <p:nvSpPr>
          <p:cNvPr id="172" name="flèche 113"/>
          <p:cNvSpPr/>
          <p:nvPr/>
        </p:nvSpPr>
        <p:spPr>
          <a:xfrm>
            <a:off x="8846591" y="2336292"/>
            <a:ext cx="182881" cy="1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carte 114"/>
          <p:cNvSpPr/>
          <p:nvPr/>
        </p:nvSpPr>
        <p:spPr>
          <a:xfrm>
            <a:off x="9075191" y="1810511"/>
            <a:ext cx="2567865" cy="1051562"/>
          </a:xfrm>
          <a:prstGeom prst="roundRect">
            <a:avLst>
              <a:gd name="adj" fmla="val 695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onglet 115"/>
          <p:cNvSpPr/>
          <p:nvPr/>
        </p:nvSpPr>
        <p:spPr>
          <a:xfrm>
            <a:off x="9276359" y="1810511"/>
            <a:ext cx="502920" cy="4572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uile 116"/>
          <p:cNvSpPr/>
          <p:nvPr/>
        </p:nvSpPr>
        <p:spPr>
          <a:xfrm>
            <a:off x="9276359" y="2112264"/>
            <a:ext cx="457201" cy="457201"/>
          </a:xfrm>
          <a:prstGeom prst="roundRect">
            <a:avLst>
              <a:gd name="adj" fmla="val 16000"/>
            </a:avLst>
          </a:prstGeom>
          <a:solidFill>
            <a:schemeClr val="accent4">
              <a:alpha val="15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6" name="icône 117" descr="icône 1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376943" y="2212848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e 118"/>
          <p:cNvSpPr txBox="1"/>
          <p:nvPr/>
        </p:nvSpPr>
        <p:spPr>
          <a:xfrm>
            <a:off x="9898150" y="2048255"/>
            <a:ext cx="1607745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PostgreSQL 16</a:t>
            </a:r>
          </a:p>
        </p:txBody>
      </p:sp>
      <p:sp>
        <p:nvSpPr>
          <p:cNvPr id="178" name="texte 119"/>
          <p:cNvSpPr txBox="1"/>
          <p:nvPr/>
        </p:nvSpPr>
        <p:spPr>
          <a:xfrm>
            <a:off x="9898150" y="2340864"/>
            <a:ext cx="160774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AEC2"/>
                </a:solidFill>
              </a:defRPr>
            </a:lvl1pPr>
          </a:lstStyle>
          <a:p>
            <a:pPr/>
            <a:r>
              <a:t>réseau data interne</a:t>
            </a:r>
          </a:p>
        </p:txBody>
      </p:sp>
      <p:sp>
        <p:nvSpPr>
          <p:cNvPr id="179" name="flèche 120"/>
          <p:cNvSpPr/>
          <p:nvPr/>
        </p:nvSpPr>
        <p:spPr>
          <a:xfrm>
            <a:off x="10359122" y="2916935"/>
            <a:ext cx="1" cy="1069849"/>
          </a:xfrm>
          <a:prstGeom prst="line">
            <a:avLst/>
          </a:prstGeom>
          <a:ln w="19050">
            <a:solidFill>
              <a:schemeClr val="accent3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e 121"/>
          <p:cNvSpPr txBox="1"/>
          <p:nvPr/>
        </p:nvSpPr>
        <p:spPr>
          <a:xfrm>
            <a:off x="8118843" y="3332988"/>
            <a:ext cx="21031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pPr/>
            <a:r>
              <a:t>métriques · journaux</a:t>
            </a:r>
          </a:p>
        </p:txBody>
      </p:sp>
      <p:sp>
        <p:nvSpPr>
          <p:cNvPr id="181" name="texte 122"/>
          <p:cNvSpPr txBox="1"/>
          <p:nvPr/>
        </p:nvSpPr>
        <p:spPr>
          <a:xfrm>
            <a:off x="548640" y="3694176"/>
            <a:ext cx="3657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200"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BOUCLE DE REPRISE</a:t>
            </a:r>
          </a:p>
        </p:txBody>
      </p:sp>
      <p:sp>
        <p:nvSpPr>
          <p:cNvPr id="182" name="carte 123"/>
          <p:cNvSpPr/>
          <p:nvPr/>
        </p:nvSpPr>
        <p:spPr>
          <a:xfrm>
            <a:off x="9075191" y="4041647"/>
            <a:ext cx="2567865" cy="1051561"/>
          </a:xfrm>
          <a:prstGeom prst="roundRect">
            <a:avLst>
              <a:gd name="adj" fmla="val 695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onglet 124"/>
          <p:cNvSpPr/>
          <p:nvPr/>
        </p:nvSpPr>
        <p:spPr>
          <a:xfrm>
            <a:off x="9276359" y="4041647"/>
            <a:ext cx="502920" cy="4572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uile 125"/>
          <p:cNvSpPr/>
          <p:nvPr/>
        </p:nvSpPr>
        <p:spPr>
          <a:xfrm>
            <a:off x="9276359" y="4343400"/>
            <a:ext cx="457201" cy="457200"/>
          </a:xfrm>
          <a:prstGeom prst="roundRect">
            <a:avLst>
              <a:gd name="adj" fmla="val 16000"/>
            </a:avLst>
          </a:prstGeom>
          <a:solidFill>
            <a:schemeClr val="accent3">
              <a:alpha val="15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5" name="icône 126" descr="icône 12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376943" y="4443984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exte 127"/>
          <p:cNvSpPr txBox="1"/>
          <p:nvPr/>
        </p:nvSpPr>
        <p:spPr>
          <a:xfrm>
            <a:off x="9898150" y="4279391"/>
            <a:ext cx="160774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Observabilité</a:t>
            </a:r>
          </a:p>
        </p:txBody>
      </p:sp>
      <p:sp>
        <p:nvSpPr>
          <p:cNvPr id="187" name="texte 128"/>
          <p:cNvSpPr txBox="1"/>
          <p:nvPr/>
        </p:nvSpPr>
        <p:spPr>
          <a:xfrm>
            <a:off x="9898150" y="4572000"/>
            <a:ext cx="1607745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AEC2"/>
                </a:solidFill>
              </a:defRPr>
            </a:lvl1pPr>
          </a:lstStyle>
          <a:p>
            <a:pPr/>
            <a:r>
              <a:t>Prometheus · Loki, chaque seconde</a:t>
            </a:r>
          </a:p>
        </p:txBody>
      </p:sp>
      <p:sp>
        <p:nvSpPr>
          <p:cNvPr id="188" name="flèche 129"/>
          <p:cNvSpPr/>
          <p:nvPr/>
        </p:nvSpPr>
        <p:spPr>
          <a:xfrm>
            <a:off x="8846591" y="4567428"/>
            <a:ext cx="182881" cy="1"/>
          </a:xfrm>
          <a:prstGeom prst="line">
            <a:avLst/>
          </a:prstGeom>
          <a:ln w="19050">
            <a:solidFill>
              <a:schemeClr val="accent5"/>
            </a:solidFill>
            <a:head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carte 130"/>
          <p:cNvSpPr/>
          <p:nvPr/>
        </p:nvSpPr>
        <p:spPr>
          <a:xfrm>
            <a:off x="6233007" y="4041647"/>
            <a:ext cx="2567865" cy="1051561"/>
          </a:xfrm>
          <a:prstGeom prst="roundRect">
            <a:avLst>
              <a:gd name="adj" fmla="val 695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onglet 131"/>
          <p:cNvSpPr/>
          <p:nvPr/>
        </p:nvSpPr>
        <p:spPr>
          <a:xfrm>
            <a:off x="6434175" y="4041647"/>
            <a:ext cx="502920" cy="4572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uile 132"/>
          <p:cNvSpPr/>
          <p:nvPr/>
        </p:nvSpPr>
        <p:spPr>
          <a:xfrm>
            <a:off x="6434175" y="4343400"/>
            <a:ext cx="457201" cy="457200"/>
          </a:xfrm>
          <a:prstGeom prst="roundRect">
            <a:avLst>
              <a:gd name="adj" fmla="val 16000"/>
            </a:avLst>
          </a:prstGeom>
          <a:solidFill>
            <a:schemeClr val="accent3">
              <a:alpha val="15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92" name="icône 133" descr="icône 13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534760" y="4443984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e 134"/>
          <p:cNvSpPr txBox="1"/>
          <p:nvPr/>
        </p:nvSpPr>
        <p:spPr>
          <a:xfrm>
            <a:off x="7055967" y="4279391"/>
            <a:ext cx="160774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Détection ML</a:t>
            </a:r>
          </a:p>
        </p:txBody>
      </p:sp>
      <p:sp>
        <p:nvSpPr>
          <p:cNvPr id="194" name="texte 135"/>
          <p:cNvSpPr txBox="1"/>
          <p:nvPr/>
        </p:nvSpPr>
        <p:spPr>
          <a:xfrm>
            <a:off x="7055967" y="4572000"/>
            <a:ext cx="1607745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AEC2"/>
                </a:solidFill>
              </a:defRPr>
            </a:lvl1pPr>
          </a:lstStyle>
          <a:p>
            <a:pPr/>
            <a:r>
              <a:t>IsolationForest → AnomalyEvent</a:t>
            </a:r>
          </a:p>
        </p:txBody>
      </p:sp>
      <p:sp>
        <p:nvSpPr>
          <p:cNvPr id="195" name="flèche 136"/>
          <p:cNvSpPr/>
          <p:nvPr/>
        </p:nvSpPr>
        <p:spPr>
          <a:xfrm>
            <a:off x="6004407" y="4567428"/>
            <a:ext cx="182881" cy="1"/>
          </a:xfrm>
          <a:prstGeom prst="line">
            <a:avLst/>
          </a:prstGeom>
          <a:ln w="19050">
            <a:solidFill>
              <a:schemeClr val="accent5"/>
            </a:solidFill>
            <a:head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carte 137"/>
          <p:cNvSpPr/>
          <p:nvPr/>
        </p:nvSpPr>
        <p:spPr>
          <a:xfrm>
            <a:off x="3390824" y="4041647"/>
            <a:ext cx="2567865" cy="1051561"/>
          </a:xfrm>
          <a:prstGeom prst="roundRect">
            <a:avLst>
              <a:gd name="adj" fmla="val 695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onglet 138"/>
          <p:cNvSpPr/>
          <p:nvPr/>
        </p:nvSpPr>
        <p:spPr>
          <a:xfrm>
            <a:off x="3591991" y="4041647"/>
            <a:ext cx="502921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uile 139"/>
          <p:cNvSpPr/>
          <p:nvPr/>
        </p:nvSpPr>
        <p:spPr>
          <a:xfrm>
            <a:off x="3591991" y="4343400"/>
            <a:ext cx="457201" cy="457200"/>
          </a:xfrm>
          <a:prstGeom prst="roundRect">
            <a:avLst>
              <a:gd name="adj" fmla="val 16000"/>
            </a:avLst>
          </a:prstGeom>
          <a:solidFill>
            <a:schemeClr val="accent1">
              <a:alpha val="15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99" name="icône 140" descr="icône 14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692576" y="4443984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texte 141"/>
          <p:cNvSpPr txBox="1"/>
          <p:nvPr/>
        </p:nvSpPr>
        <p:spPr>
          <a:xfrm>
            <a:off x="4213783" y="4279391"/>
            <a:ext cx="160774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Remédiation</a:t>
            </a:r>
          </a:p>
        </p:txBody>
      </p:sp>
      <p:sp>
        <p:nvSpPr>
          <p:cNvPr id="201" name="texte 142"/>
          <p:cNvSpPr txBox="1"/>
          <p:nvPr/>
        </p:nvSpPr>
        <p:spPr>
          <a:xfrm>
            <a:off x="4213783" y="4572000"/>
            <a:ext cx="1607745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AEC2"/>
                </a:solidFill>
              </a:defRPr>
            </a:lvl1pPr>
          </a:lstStyle>
          <a:p>
            <a:pPr/>
            <a:r>
              <a:t>table de décision, jamais exposée</a:t>
            </a:r>
          </a:p>
        </p:txBody>
      </p:sp>
      <p:sp>
        <p:nvSpPr>
          <p:cNvPr id="202" name="flèche 143"/>
          <p:cNvSpPr/>
          <p:nvPr/>
        </p:nvSpPr>
        <p:spPr>
          <a:xfrm>
            <a:off x="3162224" y="4567428"/>
            <a:ext cx="182881" cy="1"/>
          </a:xfrm>
          <a:prstGeom prst="line">
            <a:avLst/>
          </a:prstGeom>
          <a:ln w="19050">
            <a:solidFill>
              <a:schemeClr val="accent5"/>
            </a:solidFill>
            <a:head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carte 144"/>
          <p:cNvSpPr/>
          <p:nvPr/>
        </p:nvSpPr>
        <p:spPr>
          <a:xfrm>
            <a:off x="548640" y="4041647"/>
            <a:ext cx="2567865" cy="1051561"/>
          </a:xfrm>
          <a:prstGeom prst="roundRect">
            <a:avLst>
              <a:gd name="adj" fmla="val 6957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onglet 145"/>
          <p:cNvSpPr/>
          <p:nvPr/>
        </p:nvSpPr>
        <p:spPr>
          <a:xfrm>
            <a:off x="749808" y="4041647"/>
            <a:ext cx="502920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uile 146"/>
          <p:cNvSpPr/>
          <p:nvPr/>
        </p:nvSpPr>
        <p:spPr>
          <a:xfrm>
            <a:off x="749808" y="4343400"/>
            <a:ext cx="457201" cy="457200"/>
          </a:xfrm>
          <a:prstGeom prst="roundRect">
            <a:avLst>
              <a:gd name="adj" fmla="val 16000"/>
            </a:avLst>
          </a:prstGeom>
          <a:solidFill>
            <a:schemeClr val="accent1">
              <a:alpha val="15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6" name="icône 147" descr="icône 147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50391" y="4443984"/>
            <a:ext cx="256033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exte 148"/>
          <p:cNvSpPr txBox="1"/>
          <p:nvPr/>
        </p:nvSpPr>
        <p:spPr>
          <a:xfrm>
            <a:off x="1371600" y="4279391"/>
            <a:ext cx="160774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Preuve</a:t>
            </a:r>
          </a:p>
        </p:txBody>
      </p:sp>
      <p:sp>
        <p:nvSpPr>
          <p:cNvPr id="208" name="texte 149"/>
          <p:cNvSpPr txBox="1"/>
          <p:nvPr/>
        </p:nvSpPr>
        <p:spPr>
          <a:xfrm>
            <a:off x="1371600" y="4572000"/>
            <a:ext cx="1607745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3AEC2"/>
                </a:solidFill>
              </a:defRPr>
            </a:lvl1pPr>
          </a:lstStyle>
          <a:p>
            <a:pPr/>
            <a:r>
              <a:t>verify_tx + timeline au dashboard</a:t>
            </a:r>
          </a:p>
        </p:txBody>
      </p:sp>
      <p:sp>
        <p:nvSpPr>
          <p:cNvPr id="209" name="flèche 150"/>
          <p:cNvSpPr/>
          <p:nvPr/>
        </p:nvSpPr>
        <p:spPr>
          <a:xfrm>
            <a:off x="4674756" y="2916935"/>
            <a:ext cx="1" cy="1069849"/>
          </a:xfrm>
          <a:prstGeom prst="line">
            <a:avLst/>
          </a:prstGeom>
          <a:ln w="19050">
            <a:solidFill>
              <a:schemeClr val="accent1"/>
            </a:solidFill>
            <a:head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e 151"/>
          <p:cNvSpPr txBox="1"/>
          <p:nvPr/>
        </p:nvSpPr>
        <p:spPr>
          <a:xfrm>
            <a:off x="4811915" y="3332988"/>
            <a:ext cx="29260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/>
            <a:r>
              <a:t>bloque l'IP · redémarre · restaure</a:t>
            </a:r>
          </a:p>
        </p:txBody>
      </p:sp>
      <p:sp>
        <p:nvSpPr>
          <p:cNvPr id="211" name="texte 152"/>
          <p:cNvSpPr txBox="1"/>
          <p:nvPr/>
        </p:nvSpPr>
        <p:spPr>
          <a:xfrm>
            <a:off x="548639" y="5715000"/>
            <a:ext cx="1109441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/>
            <a:r>
              <a:t>Seuls 80/443 publiés   ·   réseaux data et obs internes   ·   Docker via un proxy : 5 appels autorisés</a:t>
            </a:r>
          </a:p>
        </p:txBody>
      </p:sp>
      <p:sp>
        <p:nvSpPr>
          <p:cNvPr id="212" name="Slide Number Placeholder 0"/>
          <p:cNvSpPr txBox="1"/>
          <p:nvPr>
            <p:ph type="sldNum" sz="quarter" idx="4294967295"/>
          </p:nvPr>
        </p:nvSpPr>
        <p:spPr>
          <a:xfrm>
            <a:off x="11480983" y="6400800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4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4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4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4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4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4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4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4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800"/>
                            </p:stCondLst>
                            <p:childTnLst>
                              <p:par>
                                <p:cTn id="53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4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00"/>
                            </p:stCondLst>
                            <p:childTnLst>
                              <p:par>
                                <p:cTn id="57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4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00"/>
                            </p:stCondLst>
                            <p:childTnLst>
                              <p:par>
                                <p:cTn id="61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4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4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400"/>
                            </p:stCondLst>
                            <p:childTnLst>
                              <p:par>
                                <p:cTn id="69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4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800"/>
                            </p:stCondLst>
                            <p:childTnLst>
                              <p:par>
                                <p:cTn id="73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4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200"/>
                            </p:stCondLst>
                            <p:childTnLst>
                              <p:par>
                                <p:cTn id="77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9" dur="4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600"/>
                            </p:stCondLst>
                            <p:childTnLst>
                              <p:par>
                                <p:cTn id="81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3" dur="4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Class="entr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4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400"/>
                            </p:stCondLst>
                            <p:childTnLst>
                              <p:par>
                                <p:cTn id="89" presetClass="entr" nodeType="afterEffect" presetID="10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1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800"/>
                            </p:stCondLst>
                            <p:childTnLst>
                              <p:par>
                                <p:cTn id="93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5" dur="4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200"/>
                            </p:stCondLst>
                            <p:childTnLst>
                              <p:par>
                                <p:cTn id="97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9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600"/>
                            </p:stCondLst>
                            <p:childTnLst>
                              <p:par>
                                <p:cTn id="101" presetClass="entr" nodeType="after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3"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5" presetClass="entr" nodeType="afterEffect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7"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400"/>
                            </p:stCondLst>
                            <p:childTnLst>
                              <p:par>
                                <p:cTn id="109" presetClass="entr" nodeType="after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1"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800"/>
                            </p:stCondLst>
                            <p:childTnLst>
                              <p:par>
                                <p:cTn id="113" presetClass="entr" nodeType="after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5" dur="4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1200"/>
                            </p:stCondLst>
                            <p:childTnLst>
                              <p:par>
                                <p:cTn id="117" presetClass="entr" nodeType="afterEffect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9" dur="4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1600"/>
                            </p:stCondLst>
                            <p:childTnLst>
                              <p:par>
                                <p:cTn id="121" presetClass="entr" nodeType="afterEffect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3" dur="4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Class="entr" nodeType="clickEffect" presetID="10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8" dur="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00"/>
                            </p:stCondLst>
                            <p:childTnLst>
                              <p:par>
                                <p:cTn id="130" presetClass="entr" nodeType="afterEffect" presetID="10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2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800"/>
                            </p:stCondLst>
                            <p:childTnLst>
                              <p:par>
                                <p:cTn id="134" presetClass="entr" nodeType="afterEffect" presetID="10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36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9" grpId="31"/>
      <p:bldP build="whole" bldLvl="1" animBg="1" rev="0" advAuto="0" spid="180" grpId="2"/>
      <p:bldP build="whole" bldLvl="1" animBg="1" rev="0" advAuto="0" spid="205" grpId="27"/>
      <p:bldP build="whole" bldLvl="1" animBg="1" rev="0" advAuto="0" spid="206" grpId="28"/>
      <p:bldP build="whole" bldLvl="1" animBg="1" rev="0" advAuto="0" spid="203" grpId="25"/>
      <p:bldP build="whole" bldLvl="1" animBg="1" rev="0" advAuto="0" spid="182" grpId="4"/>
      <p:bldP build="whole" bldLvl="1" animBg="1" rev="0" advAuto="0" spid="188" grpId="10"/>
      <p:bldP build="whole" bldLvl="1" animBg="1" rev="0" advAuto="0" spid="211" grpId="33"/>
      <p:bldP build="whole" bldLvl="1" animBg="1" rev="0" advAuto="0" spid="181" grpId="3"/>
      <p:bldP build="whole" bldLvl="1" animBg="1" rev="0" advAuto="0" spid="202" grpId="24"/>
      <p:bldP build="whole" bldLvl="1" animBg="1" rev="0" advAuto="0" spid="200" grpId="22"/>
      <p:bldP build="whole" bldLvl="1" animBg="1" rev="0" advAuto="0" spid="191" grpId="13"/>
      <p:bldP build="whole" bldLvl="1" animBg="1" rev="0" advAuto="0" spid="186" grpId="8"/>
      <p:bldP build="whole" bldLvl="1" animBg="1" rev="0" advAuto="0" spid="183" grpId="5"/>
      <p:bldP build="whole" bldLvl="1" animBg="1" rev="0" advAuto="0" spid="199" grpId="21"/>
      <p:bldP build="whole" bldLvl="1" animBg="1" rev="0" advAuto="0" spid="207" grpId="29"/>
      <p:bldP build="whole" bldLvl="1" animBg="1" rev="0" advAuto="0" spid="204" grpId="26"/>
      <p:bldP build="whole" bldLvl="1" animBg="1" rev="0" advAuto="0" spid="210" grpId="32"/>
      <p:bldP build="whole" bldLvl="1" animBg="1" rev="0" advAuto="0" spid="193" grpId="15"/>
      <p:bldP build="whole" bldLvl="1" animBg="1" rev="0" advAuto="0" spid="208" grpId="30"/>
      <p:bldP build="whole" bldLvl="1" animBg="1" rev="0" advAuto="0" spid="190" grpId="12"/>
      <p:bldP build="whole" bldLvl="1" animBg="1" rev="0" advAuto="0" spid="184" grpId="6"/>
      <p:bldP build="whole" bldLvl="1" animBg="1" rev="0" advAuto="0" spid="179" grpId="1"/>
      <p:bldP build="whole" bldLvl="1" animBg="1" rev="0" advAuto="0" spid="201" grpId="23"/>
      <p:bldP build="whole" bldLvl="1" animBg="1" rev="0" advAuto="0" spid="192" grpId="14"/>
      <p:bldP build="whole" bldLvl="1" animBg="1" rev="0" advAuto="0" spid="185" grpId="7"/>
      <p:bldP build="whole" bldLvl="1" animBg="1" rev="0" advAuto="0" spid="195" grpId="17"/>
      <p:bldP build="whole" bldLvl="1" animBg="1" rev="0" advAuto="0" spid="198" grpId="20"/>
      <p:bldP build="whole" bldLvl="1" animBg="1" rev="0" advAuto="0" spid="187" grpId="9"/>
      <p:bldP build="whole" bldLvl="1" animBg="1" rev="0" advAuto="0" spid="194" grpId="16"/>
      <p:bldP build="whole" bldLvl="1" animBg="1" rev="0" advAuto="0" spid="197" grpId="19"/>
      <p:bldP build="whole" bldLvl="1" animBg="1" rev="0" advAuto="0" spid="196" grpId="18"/>
      <p:bldP build="whole" bldLvl="1" animBg="1" rev="0" advAuto="0" spid="189" grpId="1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 anchor="b"/>
          <a:lstStyle/>
          <a:p>
            <a:pPr/>
            <a:r>
              <a:t>LE PROJET · LA DÉMO</a:t>
            </a:r>
          </a:p>
        </p:txBody>
      </p:sp>
      <p:sp>
        <p:nvSpPr>
          <p:cNvPr id="217" name="Text 0"/>
          <p:cNvSpPr txBox="1"/>
          <p:nvPr>
            <p:ph type="title"/>
          </p:nvPr>
        </p:nvSpPr>
        <p:spPr>
          <a:xfrm>
            <a:off x="548639" y="676655"/>
            <a:ext cx="11094417" cy="566929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Cinq temps, une seule commande</a:t>
            </a:r>
          </a:p>
        </p:txBody>
      </p:sp>
      <p:sp>
        <p:nvSpPr>
          <p:cNvPr id="218" name="frise 153"/>
          <p:cNvSpPr/>
          <p:nvPr/>
        </p:nvSpPr>
        <p:spPr>
          <a:xfrm>
            <a:off x="1577613" y="2103120"/>
            <a:ext cx="9036469" cy="1"/>
          </a:xfrm>
          <a:prstGeom prst="line">
            <a:avLst/>
          </a:prstGeom>
          <a:ln w="19050"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anneau 154"/>
          <p:cNvSpPr/>
          <p:nvPr/>
        </p:nvSpPr>
        <p:spPr>
          <a:xfrm>
            <a:off x="1321582" y="1847088"/>
            <a:ext cx="512065" cy="51206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libellé 155"/>
          <p:cNvSpPr txBox="1"/>
          <p:nvPr/>
        </p:nvSpPr>
        <p:spPr>
          <a:xfrm>
            <a:off x="1321582" y="2009842"/>
            <a:ext cx="51206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chemeClr val="accent1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1" name="carte 156"/>
          <p:cNvSpPr/>
          <p:nvPr/>
        </p:nvSpPr>
        <p:spPr>
          <a:xfrm>
            <a:off x="548640" y="2651760"/>
            <a:ext cx="2057950" cy="1828801"/>
          </a:xfrm>
          <a:prstGeom prst="roundRect">
            <a:avLst>
              <a:gd name="adj" fmla="val 4000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onglet 157"/>
          <p:cNvSpPr/>
          <p:nvPr/>
        </p:nvSpPr>
        <p:spPr>
          <a:xfrm>
            <a:off x="749808" y="2651760"/>
            <a:ext cx="502920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e 158"/>
          <p:cNvSpPr txBox="1"/>
          <p:nvPr/>
        </p:nvSpPr>
        <p:spPr>
          <a:xfrm>
            <a:off x="749807" y="2926079"/>
            <a:ext cx="1655615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/>
            <a:r>
              <a:t>Avant</a:t>
            </a:r>
          </a:p>
        </p:txBody>
      </p:sp>
      <p:sp>
        <p:nvSpPr>
          <p:cNvPr id="224" name="texte 159"/>
          <p:cNvSpPr txBox="1"/>
          <p:nvPr/>
        </p:nvSpPr>
        <p:spPr>
          <a:xfrm>
            <a:off x="749807" y="3401567"/>
            <a:ext cx="1655615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8EDF5"/>
                </a:solidFill>
              </a:defRPr>
            </a:lvl1pPr>
          </a:lstStyle>
          <a:p>
            <a:pPr/>
            <a:r>
              <a:t>verify_tx passe : un virement fictif traverse WAF, API et base.</a:t>
            </a:r>
          </a:p>
        </p:txBody>
      </p:sp>
      <p:sp>
        <p:nvSpPr>
          <p:cNvPr id="225" name="anneau 160"/>
          <p:cNvSpPr/>
          <p:nvPr/>
        </p:nvSpPr>
        <p:spPr>
          <a:xfrm>
            <a:off x="3580698" y="1847088"/>
            <a:ext cx="512065" cy="51206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libellé 161"/>
          <p:cNvSpPr txBox="1"/>
          <p:nvPr/>
        </p:nvSpPr>
        <p:spPr>
          <a:xfrm>
            <a:off x="3580698" y="2009842"/>
            <a:ext cx="51206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chemeClr val="accent2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7" name="carte 162"/>
          <p:cNvSpPr/>
          <p:nvPr/>
        </p:nvSpPr>
        <p:spPr>
          <a:xfrm>
            <a:off x="2807756" y="2651760"/>
            <a:ext cx="2057950" cy="1828801"/>
          </a:xfrm>
          <a:prstGeom prst="roundRect">
            <a:avLst>
              <a:gd name="adj" fmla="val 4000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onglet 163"/>
          <p:cNvSpPr/>
          <p:nvPr/>
        </p:nvSpPr>
        <p:spPr>
          <a:xfrm>
            <a:off x="3008925" y="2651760"/>
            <a:ext cx="502920" cy="4572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e 164"/>
          <p:cNvSpPr txBox="1"/>
          <p:nvPr/>
        </p:nvSpPr>
        <p:spPr>
          <a:xfrm>
            <a:off x="3008925" y="2926079"/>
            <a:ext cx="165561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Attaque</a:t>
            </a:r>
          </a:p>
        </p:txBody>
      </p:sp>
      <p:sp>
        <p:nvSpPr>
          <p:cNvPr id="230" name="texte 165"/>
          <p:cNvSpPr txBox="1"/>
          <p:nvPr/>
        </p:nvSpPr>
        <p:spPr>
          <a:xfrm>
            <a:off x="3008925" y="3401567"/>
            <a:ext cx="1655614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8EDF5"/>
                </a:solidFill>
              </a:defRPr>
            </a:lvl1pPr>
          </a:lstStyle>
          <a:p>
            <a:pPr/>
            <a:r>
              <a:t>service_flood depuis le PC Attaquant, intensité et durée bornées.</a:t>
            </a:r>
          </a:p>
        </p:txBody>
      </p:sp>
      <p:sp>
        <p:nvSpPr>
          <p:cNvPr id="231" name="anneau 166"/>
          <p:cNvSpPr/>
          <p:nvPr/>
        </p:nvSpPr>
        <p:spPr>
          <a:xfrm>
            <a:off x="5839816" y="1847088"/>
            <a:ext cx="512065" cy="51206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libellé 167"/>
          <p:cNvSpPr txBox="1"/>
          <p:nvPr/>
        </p:nvSpPr>
        <p:spPr>
          <a:xfrm>
            <a:off x="5839816" y="2009842"/>
            <a:ext cx="51206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chemeClr val="accent3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3" name="carte 168"/>
          <p:cNvSpPr/>
          <p:nvPr/>
        </p:nvSpPr>
        <p:spPr>
          <a:xfrm>
            <a:off x="5066872" y="2651760"/>
            <a:ext cx="2057950" cy="1828801"/>
          </a:xfrm>
          <a:prstGeom prst="roundRect">
            <a:avLst>
              <a:gd name="adj" fmla="val 4000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onglet 169"/>
          <p:cNvSpPr/>
          <p:nvPr/>
        </p:nvSpPr>
        <p:spPr>
          <a:xfrm>
            <a:off x="5268040" y="2651760"/>
            <a:ext cx="502920" cy="4572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e 170"/>
          <p:cNvSpPr txBox="1"/>
          <p:nvPr/>
        </p:nvSpPr>
        <p:spPr>
          <a:xfrm>
            <a:off x="5268040" y="2926079"/>
            <a:ext cx="165561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pPr/>
            <a:r>
              <a:t>Détection</a:t>
            </a:r>
          </a:p>
        </p:txBody>
      </p:sp>
      <p:sp>
        <p:nvSpPr>
          <p:cNvPr id="236" name="texte 171"/>
          <p:cNvSpPr txBox="1"/>
          <p:nvPr/>
        </p:nvSpPr>
        <p:spPr>
          <a:xfrm>
            <a:off x="5268040" y="3401567"/>
            <a:ext cx="1655614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8EDF5"/>
                </a:solidFill>
              </a:defRPr>
            </a:lvl1pPr>
          </a:lstStyle>
          <a:p>
            <a:pPr/>
            <a:r>
              <a:t>le modèle voit l'anomalie en secondes et désigne l'IP source.</a:t>
            </a:r>
          </a:p>
        </p:txBody>
      </p:sp>
      <p:sp>
        <p:nvSpPr>
          <p:cNvPr id="237" name="anneau 172"/>
          <p:cNvSpPr/>
          <p:nvPr/>
        </p:nvSpPr>
        <p:spPr>
          <a:xfrm>
            <a:off x="8098932" y="1847088"/>
            <a:ext cx="512065" cy="51206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libellé 173"/>
          <p:cNvSpPr txBox="1"/>
          <p:nvPr/>
        </p:nvSpPr>
        <p:spPr>
          <a:xfrm>
            <a:off x="8098932" y="2009842"/>
            <a:ext cx="51206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chemeClr val="accent4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9" name="carte 174"/>
          <p:cNvSpPr/>
          <p:nvPr/>
        </p:nvSpPr>
        <p:spPr>
          <a:xfrm>
            <a:off x="7325990" y="2651760"/>
            <a:ext cx="2057950" cy="1828801"/>
          </a:xfrm>
          <a:prstGeom prst="roundRect">
            <a:avLst>
              <a:gd name="adj" fmla="val 4000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onglet 175"/>
          <p:cNvSpPr/>
          <p:nvPr/>
        </p:nvSpPr>
        <p:spPr>
          <a:xfrm>
            <a:off x="7527158" y="2651760"/>
            <a:ext cx="502920" cy="4572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e 176"/>
          <p:cNvSpPr txBox="1"/>
          <p:nvPr/>
        </p:nvSpPr>
        <p:spPr>
          <a:xfrm>
            <a:off x="7527158" y="2926079"/>
            <a:ext cx="165561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pPr/>
            <a:r>
              <a:t>Remédiation</a:t>
            </a:r>
          </a:p>
        </p:txBody>
      </p:sp>
      <p:sp>
        <p:nvSpPr>
          <p:cNvPr id="242" name="texte 177"/>
          <p:cNvSpPr txBox="1"/>
          <p:nvPr/>
        </p:nvSpPr>
        <p:spPr>
          <a:xfrm>
            <a:off x="7527158" y="3401567"/>
            <a:ext cx="1655614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8EDF5"/>
                </a:solidFill>
              </a:defRPr>
            </a:lvl1pPr>
          </a:lstStyle>
          <a:p>
            <a:pPr/>
            <a:r>
              <a:t>le moteur bloque l'IP, relance si besoin, rejoue verify_tx.</a:t>
            </a:r>
          </a:p>
        </p:txBody>
      </p:sp>
      <p:sp>
        <p:nvSpPr>
          <p:cNvPr id="243" name="anneau 178"/>
          <p:cNvSpPr/>
          <p:nvPr/>
        </p:nvSpPr>
        <p:spPr>
          <a:xfrm>
            <a:off x="10358049" y="1847088"/>
            <a:ext cx="512065" cy="512065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libellé 179"/>
          <p:cNvSpPr txBox="1"/>
          <p:nvPr/>
        </p:nvSpPr>
        <p:spPr>
          <a:xfrm>
            <a:off x="10358049" y="2009842"/>
            <a:ext cx="51206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chemeClr val="accent1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5" name="carte 180"/>
          <p:cNvSpPr/>
          <p:nvPr/>
        </p:nvSpPr>
        <p:spPr>
          <a:xfrm>
            <a:off x="9585107" y="2651760"/>
            <a:ext cx="2057950" cy="1828801"/>
          </a:xfrm>
          <a:prstGeom prst="roundRect">
            <a:avLst>
              <a:gd name="adj" fmla="val 4000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onglet 181"/>
          <p:cNvSpPr/>
          <p:nvPr/>
        </p:nvSpPr>
        <p:spPr>
          <a:xfrm>
            <a:off x="9786274" y="2651760"/>
            <a:ext cx="502920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e 182"/>
          <p:cNvSpPr txBox="1"/>
          <p:nvPr/>
        </p:nvSpPr>
        <p:spPr>
          <a:xfrm>
            <a:off x="9786274" y="2926079"/>
            <a:ext cx="1655614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/>
            <a:r>
              <a:t>Après</a:t>
            </a:r>
          </a:p>
        </p:txBody>
      </p:sp>
      <p:sp>
        <p:nvSpPr>
          <p:cNvPr id="248" name="texte 183"/>
          <p:cNvSpPr txBox="1"/>
          <p:nvPr/>
        </p:nvSpPr>
        <p:spPr>
          <a:xfrm>
            <a:off x="9786274" y="3401567"/>
            <a:ext cx="1655614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E8EDF5"/>
                </a:solidFill>
              </a:defRPr>
            </a:lvl1pPr>
          </a:lstStyle>
          <a:p>
            <a:pPr/>
            <a:r>
              <a:t>transaction OK : incident clos, MTTD et MTTR affichés.</a:t>
            </a:r>
          </a:p>
        </p:txBody>
      </p:sp>
      <p:sp>
        <p:nvSpPr>
          <p:cNvPr id="249" name="carte 184"/>
          <p:cNvSpPr/>
          <p:nvPr/>
        </p:nvSpPr>
        <p:spPr>
          <a:xfrm>
            <a:off x="548640" y="4892040"/>
            <a:ext cx="11094416" cy="566929"/>
          </a:xfrm>
          <a:prstGeom prst="roundRect">
            <a:avLst>
              <a:gd name="adj" fmla="val 12903"/>
            </a:avLst>
          </a:prstGeom>
          <a:solidFill>
            <a:srgbClr val="1A2438"/>
          </a:solidFill>
          <a:ln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e 185"/>
          <p:cNvSpPr txBox="1"/>
          <p:nvPr/>
        </p:nvSpPr>
        <p:spPr>
          <a:xfrm>
            <a:off x="548639" y="5086604"/>
            <a:ext cx="110944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make demo   ·   aucune main sur le clavier entre ② et ⑤   ·   Clip Chrono ≤ 60 s, sans coupe</a:t>
            </a:r>
          </a:p>
        </p:txBody>
      </p:sp>
      <p:sp>
        <p:nvSpPr>
          <p:cNvPr id="251" name="Slide Number Placeholder 0"/>
          <p:cNvSpPr txBox="1"/>
          <p:nvPr>
            <p:ph type="sldNum" sz="quarter" idx="4294967295"/>
          </p:nvPr>
        </p:nvSpPr>
        <p:spPr>
          <a:xfrm>
            <a:off x="11480983" y="6400800"/>
            <a:ext cx="162073" cy="205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4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4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90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4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4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4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900"/>
                            </p:stCondLst>
                            <p:childTnLst>
                              <p:par>
                                <p:cTn id="41" presetClass="entr" nodeType="afterEffect" presetID="10" grpId="10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4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400"/>
                            </p:stCondLst>
                            <p:childTnLst>
                              <p:par>
                                <p:cTn id="45" presetClass="entr" nodeType="afterEffect" presetID="10" grpId="11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4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900"/>
                            </p:stCondLst>
                            <p:childTnLst>
                              <p:par>
                                <p:cTn id="49" presetClass="entr" nodeType="afterEffect" presetID="10" grpId="12" fill="hold">
                                  <p:stCondLst>
                                    <p:cond delay="1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4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00"/>
                            </p:stCondLst>
                            <p:childTnLst>
                              <p:par>
                                <p:cTn id="53" presetClass="entr" nodeType="afterEffect" presetID="10" grpId="13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4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Class="entr" nodeType="afterEffect" presetID="10" grpId="14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9" dur="4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600"/>
                            </p:stCondLst>
                            <p:childTnLst>
                              <p:par>
                                <p:cTn id="61" presetClass="entr" nodeType="afterEffect" presetID="10" grpId="15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3" dur="4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200"/>
                            </p:stCondLst>
                            <p:childTnLst>
                              <p:par>
                                <p:cTn id="65" presetClass="entr" nodeType="afterEffect" presetID="10" grpId="16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7" dur="4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800"/>
                            </p:stCondLst>
                            <p:childTnLst>
                              <p:par>
                                <p:cTn id="69" presetClass="entr" nodeType="afterEffect" presetID="10" grpId="17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4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400"/>
                            </p:stCondLst>
                            <p:childTnLst>
                              <p:par>
                                <p:cTn id="73" presetClass="entr" nodeType="afterEffect" presetID="10" grpId="18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4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Class="entr" nodeType="afterEffect" presetID="10" grpId="19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9" dur="4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700"/>
                            </p:stCondLst>
                            <p:childTnLst>
                              <p:par>
                                <p:cTn id="81" presetClass="entr" nodeType="afterEffect" presetID="10" grpId="20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3" dur="4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400"/>
                            </p:stCondLst>
                            <p:childTnLst>
                              <p:par>
                                <p:cTn id="85" presetClass="entr" nodeType="afterEffect" presetID="10" grpId="21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7" dur="4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100"/>
                            </p:stCondLst>
                            <p:childTnLst>
                              <p:par>
                                <p:cTn id="89" presetClass="entr" nodeType="afterEffect" presetID="10" grpId="22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1" dur="4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00"/>
                            </p:stCondLst>
                            <p:childTnLst>
                              <p:par>
                                <p:cTn id="93" presetClass="entr" nodeType="afterEffect" presetID="10" grpId="23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5" dur="4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2500"/>
                            </p:stCondLst>
                            <p:childTnLst>
                              <p:par>
                                <p:cTn id="97" presetClass="entr" nodeType="afterEffect" presetID="10" grpId="24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9" dur="4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3200"/>
                            </p:stCondLst>
                            <p:childTnLst>
                              <p:par>
                                <p:cTn id="101" presetClass="entr" nodeType="afterEffect" presetID="10" grpId="25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3" dur="4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4000"/>
                            </p:stCondLst>
                            <p:childTnLst>
                              <p:par>
                                <p:cTn id="105" presetClass="entr" nodeType="afterEffect" presetID="10" grpId="26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7" dur="4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4800"/>
                            </p:stCondLst>
                            <p:childTnLst>
                              <p:par>
                                <p:cTn id="109" presetClass="entr" nodeType="afterEffect" presetID="10" grpId="27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1" dur="4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600"/>
                            </p:stCondLst>
                            <p:childTnLst>
                              <p:par>
                                <p:cTn id="113" presetClass="entr" nodeType="afterEffect" presetID="10" grpId="28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5" dur="4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6400"/>
                            </p:stCondLst>
                            <p:childTnLst>
                              <p:par>
                                <p:cTn id="117" presetClass="entr" nodeType="afterEffect" presetID="10" grpId="29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9" dur="4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7200"/>
                            </p:stCondLst>
                            <p:childTnLst>
                              <p:par>
                                <p:cTn id="121" presetClass="entr" nodeType="afterEffect" presetID="10" grpId="30" fill="hold">
                                  <p:stCondLst>
                                    <p:cond delay="4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3" dur="4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3" grpId="15"/>
      <p:bldP build="whole" bldLvl="1" animBg="1" rev="0" advAuto="0" spid="224" grpId="6"/>
      <p:bldP build="whole" bldLvl="1" animBg="1" rev="0" advAuto="0" spid="235" grpId="17"/>
      <p:bldP build="whole" bldLvl="1" animBg="1" rev="0" advAuto="0" spid="246" grpId="28"/>
      <p:bldP build="whole" bldLvl="1" animBg="1" rev="0" advAuto="0" spid="247" grpId="29"/>
      <p:bldP build="whole" bldLvl="1" animBg="1" rev="0" advAuto="0" spid="234" grpId="16"/>
      <p:bldP build="whole" bldLvl="1" animBg="1" rev="0" advAuto="0" spid="245" grpId="27"/>
      <p:bldP build="whole" bldLvl="1" animBg="1" rev="0" advAuto="0" spid="244" grpId="26"/>
      <p:bldP build="whole" bldLvl="1" animBg="1" rev="0" advAuto="0" spid="229" grpId="11"/>
      <p:bldP build="whole" bldLvl="1" animBg="1" rev="0" advAuto="0" spid="239" grpId="21"/>
      <p:bldP build="whole" bldLvl="1" animBg="1" rev="0" advAuto="0" spid="242" grpId="24"/>
      <p:bldP build="whole" bldLvl="1" animBg="1" rev="0" advAuto="0" spid="228" grpId="10"/>
      <p:bldP build="whole" bldLvl="1" animBg="1" rev="0" advAuto="0" spid="231" grpId="13"/>
      <p:bldP build="whole" bldLvl="1" animBg="1" rev="0" advAuto="0" spid="238" grpId="20"/>
      <p:bldP build="whole" bldLvl="1" animBg="1" rev="0" advAuto="0" spid="248" grpId="30"/>
      <p:bldP build="whole" bldLvl="1" animBg="1" rev="0" advAuto="0" spid="227" grpId="9"/>
      <p:bldP build="whole" bldLvl="1" animBg="1" rev="0" advAuto="0" spid="232" grpId="14"/>
      <p:bldP build="whole" bldLvl="1" animBg="1" rev="0" advAuto="0" spid="220" grpId="2"/>
      <p:bldP build="whole" bldLvl="1" animBg="1" rev="0" advAuto="0" spid="241" grpId="23"/>
      <p:bldP build="whole" bldLvl="1" animBg="1" rev="0" advAuto="0" spid="240" grpId="22"/>
      <p:bldP build="whole" bldLvl="1" animBg="1" rev="0" advAuto="0" spid="222" grpId="4"/>
      <p:bldP build="whole" bldLvl="1" animBg="1" rev="0" advAuto="0" spid="223" grpId="5"/>
      <p:bldP build="whole" bldLvl="1" animBg="1" rev="0" advAuto="0" spid="226" grpId="8"/>
      <p:bldP build="whole" bldLvl="1" animBg="1" rev="0" advAuto="0" spid="221" grpId="3"/>
      <p:bldP build="whole" bldLvl="1" animBg="1" rev="0" advAuto="0" spid="230" grpId="12"/>
      <p:bldP build="whole" bldLvl="1" animBg="1" rev="0" advAuto="0" spid="243" grpId="25"/>
      <p:bldP build="whole" bldLvl="1" animBg="1" rev="0" advAuto="0" spid="219" grpId="1"/>
      <p:bldP build="whole" bldLvl="1" animBg="1" rev="0" advAuto="0" spid="225" grpId="7"/>
      <p:bldP build="whole" bldLvl="1" animBg="1" rev="0" advAuto="0" spid="236" grpId="18"/>
      <p:bldP build="whole" bldLvl="1" animBg="1" rev="0" advAuto="0" spid="237" grpId="19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e 186"/>
          <p:cNvSpPr txBox="1"/>
          <p:nvPr/>
        </p:nvSpPr>
        <p:spPr>
          <a:xfrm>
            <a:off x="822960" y="1371600"/>
            <a:ext cx="8229601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400" sz="1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À VOUS DE JUGER</a:t>
            </a:r>
          </a:p>
        </p:txBody>
      </p:sp>
      <p:sp>
        <p:nvSpPr>
          <p:cNvPr id="256" name="texte 187"/>
          <p:cNvSpPr txBox="1"/>
          <p:nvPr/>
        </p:nvSpPr>
        <p:spPr>
          <a:xfrm>
            <a:off x="822960" y="1783079"/>
            <a:ext cx="10515601" cy="856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6600">
                <a:solidFill>
                  <a:srgbClr val="FFFFFF"/>
                </a:solidFill>
              </a:defRPr>
            </a:lvl1pPr>
          </a:lstStyle>
          <a:p>
            <a:pPr/>
            <a:r>
              <a:t>Place à la démo</a:t>
            </a:r>
          </a:p>
        </p:txBody>
      </p:sp>
      <p:sp>
        <p:nvSpPr>
          <p:cNvPr id="257" name="texte 188"/>
          <p:cNvSpPr txBox="1"/>
          <p:nvPr/>
        </p:nvSpPr>
        <p:spPr>
          <a:xfrm>
            <a:off x="822960" y="2971800"/>
            <a:ext cx="100584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E8EDF5"/>
                </a:solidFill>
              </a:defRPr>
            </a:lvl1pPr>
          </a:lstStyle>
          <a:p>
            <a:pPr/>
            <a:r>
              <a:t>Attaque depuis le PC Attaquant, détection, reprise, preuve — sans toucher au clavier.</a:t>
            </a:r>
          </a:p>
        </p:txBody>
      </p:sp>
      <p:pic>
        <p:nvPicPr>
          <p:cNvPr id="258" name="!!pouls" descr="!!pouls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4526279"/>
            <a:ext cx="12191696" cy="91440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anneau 189"/>
          <p:cNvSpPr/>
          <p:nvPr/>
        </p:nvSpPr>
        <p:spPr>
          <a:xfrm>
            <a:off x="822960" y="5669279"/>
            <a:ext cx="411481" cy="411481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libellé 190"/>
          <p:cNvSpPr txBox="1"/>
          <p:nvPr/>
        </p:nvSpPr>
        <p:spPr>
          <a:xfrm>
            <a:off x="822960" y="5807886"/>
            <a:ext cx="411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chemeClr val="accent1"/>
                </a:solidFill>
              </a:defRPr>
            </a:lvl1pPr>
          </a:lstStyle>
          <a:p>
            <a:pPr/>
            <a:r>
              <a:t>YC</a:t>
            </a:r>
          </a:p>
        </p:txBody>
      </p:sp>
      <p:sp>
        <p:nvSpPr>
          <p:cNvPr id="261" name="texte 191"/>
          <p:cNvSpPr txBox="1"/>
          <p:nvPr/>
        </p:nvSpPr>
        <p:spPr>
          <a:xfrm>
            <a:off x="1325880" y="5807886"/>
            <a:ext cx="1234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Yanis Capelle</a:t>
            </a:r>
          </a:p>
        </p:txBody>
      </p:sp>
      <p:sp>
        <p:nvSpPr>
          <p:cNvPr id="262" name="!!avatar 1"/>
          <p:cNvSpPr/>
          <p:nvPr/>
        </p:nvSpPr>
        <p:spPr>
          <a:xfrm>
            <a:off x="2606039" y="5669279"/>
            <a:ext cx="411481" cy="411481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!!initiales 1"/>
          <p:cNvSpPr txBox="1"/>
          <p:nvPr/>
        </p:nvSpPr>
        <p:spPr>
          <a:xfrm>
            <a:off x="2606039" y="5807886"/>
            <a:ext cx="411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chemeClr val="accent2"/>
                </a:solidFill>
              </a:defRPr>
            </a:lvl1pPr>
          </a:lstStyle>
          <a:p>
            <a:pPr/>
            <a:r>
              <a:t>LN</a:t>
            </a:r>
          </a:p>
        </p:txBody>
      </p:sp>
      <p:sp>
        <p:nvSpPr>
          <p:cNvPr id="264" name="texte 192"/>
          <p:cNvSpPr txBox="1"/>
          <p:nvPr/>
        </p:nvSpPr>
        <p:spPr>
          <a:xfrm>
            <a:off x="3108960" y="5807886"/>
            <a:ext cx="1234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Louis Nectoux</a:t>
            </a:r>
          </a:p>
        </p:txBody>
      </p:sp>
      <p:sp>
        <p:nvSpPr>
          <p:cNvPr id="265" name="!!avatar 2"/>
          <p:cNvSpPr/>
          <p:nvPr/>
        </p:nvSpPr>
        <p:spPr>
          <a:xfrm>
            <a:off x="4389120" y="5669279"/>
            <a:ext cx="411481" cy="411481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!!initiales 2"/>
          <p:cNvSpPr txBox="1"/>
          <p:nvPr/>
        </p:nvSpPr>
        <p:spPr>
          <a:xfrm>
            <a:off x="4389120" y="5807886"/>
            <a:ext cx="411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chemeClr val="accent3"/>
                </a:solidFill>
              </a:defRPr>
            </a:lvl1pPr>
          </a:lstStyle>
          <a:p>
            <a:pPr/>
            <a:r>
              <a:t>VF</a:t>
            </a:r>
          </a:p>
        </p:txBody>
      </p:sp>
      <p:sp>
        <p:nvSpPr>
          <p:cNvPr id="267" name="texte 193"/>
          <p:cNvSpPr txBox="1"/>
          <p:nvPr/>
        </p:nvSpPr>
        <p:spPr>
          <a:xfrm>
            <a:off x="4892040" y="5807886"/>
            <a:ext cx="1234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Valentin Furcy</a:t>
            </a:r>
          </a:p>
        </p:txBody>
      </p:sp>
      <p:sp>
        <p:nvSpPr>
          <p:cNvPr id="268" name="!!avatar 3"/>
          <p:cNvSpPr/>
          <p:nvPr/>
        </p:nvSpPr>
        <p:spPr>
          <a:xfrm>
            <a:off x="6172200" y="5669279"/>
            <a:ext cx="411481" cy="411481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!!initiales 3"/>
          <p:cNvSpPr txBox="1"/>
          <p:nvPr/>
        </p:nvSpPr>
        <p:spPr>
          <a:xfrm>
            <a:off x="6172200" y="5807886"/>
            <a:ext cx="411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chemeClr val="accent4"/>
                </a:solidFill>
              </a:defRPr>
            </a:lvl1pPr>
          </a:lstStyle>
          <a:p>
            <a:pPr/>
            <a:r>
              <a:t>AS</a:t>
            </a:r>
          </a:p>
        </p:txBody>
      </p:sp>
      <p:sp>
        <p:nvSpPr>
          <p:cNvPr id="270" name="texte 194"/>
          <p:cNvSpPr txBox="1"/>
          <p:nvPr/>
        </p:nvSpPr>
        <p:spPr>
          <a:xfrm>
            <a:off x="6675119" y="5807886"/>
            <a:ext cx="1234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Aurélien Serre</a:t>
            </a:r>
          </a:p>
        </p:txBody>
      </p:sp>
      <p:sp>
        <p:nvSpPr>
          <p:cNvPr id="271" name="!!avatar 4"/>
          <p:cNvSpPr/>
          <p:nvPr/>
        </p:nvSpPr>
        <p:spPr>
          <a:xfrm>
            <a:off x="7955280" y="5669279"/>
            <a:ext cx="411481" cy="411481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!!initiales 4"/>
          <p:cNvSpPr txBox="1"/>
          <p:nvPr/>
        </p:nvSpPr>
        <p:spPr>
          <a:xfrm>
            <a:off x="7955280" y="5807886"/>
            <a:ext cx="411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chemeClr val="accent1"/>
                </a:solidFill>
              </a:defRPr>
            </a:lvl1pPr>
          </a:lstStyle>
          <a:p>
            <a:pPr/>
            <a:r>
              <a:t>EP</a:t>
            </a:r>
          </a:p>
        </p:txBody>
      </p:sp>
      <p:sp>
        <p:nvSpPr>
          <p:cNvPr id="273" name="texte 195"/>
          <p:cNvSpPr txBox="1"/>
          <p:nvPr/>
        </p:nvSpPr>
        <p:spPr>
          <a:xfrm>
            <a:off x="8458200" y="5807886"/>
            <a:ext cx="1234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Enzo Palermo</a:t>
            </a:r>
          </a:p>
        </p:txBody>
      </p:sp>
      <p:sp>
        <p:nvSpPr>
          <p:cNvPr id="274" name="!!avatar 5"/>
          <p:cNvSpPr/>
          <p:nvPr/>
        </p:nvSpPr>
        <p:spPr>
          <a:xfrm>
            <a:off x="9738359" y="5669279"/>
            <a:ext cx="411481" cy="411481"/>
          </a:xfrm>
          <a:prstGeom prst="ellipse">
            <a:avLst/>
          </a:prstGeom>
          <a:solidFill>
            <a:srgbClr val="0B1220"/>
          </a:solidFill>
          <a:ln w="19050">
            <a:solidFill>
              <a:schemeClr val="accent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!!initiales 5"/>
          <p:cNvSpPr txBox="1"/>
          <p:nvPr/>
        </p:nvSpPr>
        <p:spPr>
          <a:xfrm>
            <a:off x="9738359" y="5807886"/>
            <a:ext cx="411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chemeClr val="accent3"/>
                </a:solidFill>
              </a:defRPr>
            </a:lvl1pPr>
          </a:lstStyle>
          <a:p>
            <a:pPr/>
            <a:r>
              <a:t>LS</a:t>
            </a:r>
          </a:p>
        </p:txBody>
      </p:sp>
      <p:sp>
        <p:nvSpPr>
          <p:cNvPr id="276" name="texte 196"/>
          <p:cNvSpPr txBox="1"/>
          <p:nvPr/>
        </p:nvSpPr>
        <p:spPr>
          <a:xfrm>
            <a:off x="10241280" y="5807886"/>
            <a:ext cx="12344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Léo Solana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silience Nuit">
  <a:themeElements>
    <a:clrScheme name="Resilience Nuit">
      <a:dk1>
        <a:srgbClr val="0B1220"/>
      </a:dk1>
      <a:lt1>
        <a:srgbClr val="201C15"/>
      </a:lt1>
      <a:dk2>
        <a:srgbClr val="A7A7A7"/>
      </a:dk2>
      <a:lt2>
        <a:srgbClr val="535353"/>
      </a:lt2>
      <a:accent1>
        <a:srgbClr val="2EE6A6"/>
      </a:accent1>
      <a:accent2>
        <a:srgbClr val="FF5A5F"/>
      </a:accent2>
      <a:accent3>
        <a:srgbClr val="FFB547"/>
      </a:accent3>
      <a:accent4>
        <a:srgbClr val="5B8CFF"/>
      </a:accent4>
      <a:accent5>
        <a:srgbClr val="8A97AE"/>
      </a:accent5>
      <a:accent6>
        <a:srgbClr val="2A3854"/>
      </a:accent6>
      <a:hlink>
        <a:srgbClr val="0000FF"/>
      </a:hlink>
      <a:folHlink>
        <a:srgbClr val="FF00FF"/>
      </a:folHlink>
    </a:clrScheme>
    <a:fontScheme name="Resilience Nui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esilience Nu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122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122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Resilience Nuit">
  <a:themeElements>
    <a:clrScheme name="Resilience Nuit">
      <a:dk1>
        <a:srgbClr val="0B1220"/>
      </a:dk1>
      <a:lt1>
        <a:srgbClr val="201C15"/>
      </a:lt1>
      <a:dk2>
        <a:srgbClr val="A7A7A7"/>
      </a:dk2>
      <a:lt2>
        <a:srgbClr val="535353"/>
      </a:lt2>
      <a:accent1>
        <a:srgbClr val="2EE6A6"/>
      </a:accent1>
      <a:accent2>
        <a:srgbClr val="FF5A5F"/>
      </a:accent2>
      <a:accent3>
        <a:srgbClr val="FFB547"/>
      </a:accent3>
      <a:accent4>
        <a:srgbClr val="5B8CFF"/>
      </a:accent4>
      <a:accent5>
        <a:srgbClr val="8A97AE"/>
      </a:accent5>
      <a:accent6>
        <a:srgbClr val="2A3854"/>
      </a:accent6>
      <a:hlink>
        <a:srgbClr val="0000FF"/>
      </a:hlink>
      <a:folHlink>
        <a:srgbClr val="FF00FF"/>
      </a:folHlink>
    </a:clrScheme>
    <a:fontScheme name="Resilience Nui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esilience Nu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122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122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