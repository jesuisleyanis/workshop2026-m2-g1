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b4cb147-0e21-f46c-dd5e-9f5dbc25e9f2}">
          <p14:sldIdLst>
            <p14:sldId id="256"/>
          </p14:sldIdLst>
        </p14:section>
        <p14:section name="Démarche" id="{50005779-c039-3fee-60fa-3a3188636fdb}">
          <p14:sldIdLst>
            <p14:sldId id="257"/>
            <p14:sldId id="258"/>
          </p14:sldIdLst>
        </p14:section>
        <p14:section name="Démonstration" id="{3feb3898-e5a9-fa1e-2b31-bae827c21943}">
          <p14:sldIdLst>
            <p14:sldId id="259"/>
          </p14:sldIdLst>
        </p14:section>
        <p14:section name="Technique" id="{8df9b5c6-f612-72f5-c442-30cafa5b6dc4}">
          <p14:sldIdLst>
            <p14:sldId id="260"/>
            <p14:sldId id="261"/>
            <p14:sldId id="262"/>
            <p14:sldId id="263"/>
          </p14:sldIdLst>
        </p14:section>
        <p14:section name="Résultats" id="{83f62dee-4236-8d7a-1c0d-8567e54703a4}">
          <p14:sldIdLst>
            <p14:sldId id="264"/>
          </p14:sldIdLst>
        </p14:section>
        <p14:section name="Gouvernance" id="{1f259791-0c77-ec15-a8ad-06d64444ce56}">
          <p14:sldIdLst>
            <p14:sldId id="265"/>
          </p14:sldIdLst>
        </p14:section>
        <p14:section name="Conclusion" id="{f203b664-320e-13aa-4065-3c2a3814ecc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1B2D"/>
                </a:solidFill>
                <a:latin typeface="+mn-lt"/>
              </a:rPr>
              <a:t>Tests automatisés verts par composant (1 667 au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automatisés verts (22 oct. 2026)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B4A5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payment-api</c:v>
                  </c:pt>
                  <c:pt idx="1">
                    <c:v>auth</c:v>
                  </c:pt>
                  <c:pt idx="2">
                    <c:v>remediation</c:v>
                  </c:pt>
                  <c:pt idx="3">
                    <c:v>dashboard</c:v>
                  </c:pt>
                  <c:pt idx="4">
                    <c:v>front</c:v>
                  </c:pt>
                  <c:pt idx="5">
                    <c:v>backoffice</c:v>
                  </c:pt>
                  <c:pt idx="6">
                    <c:v>assistant</c:v>
                  </c:pt>
                  <c:pt idx="7">
                    <c:v>ml</c:v>
                  </c:pt>
                  <c:pt idx="8">
                    <c:v>face-id</c:v>
                  </c:pt>
                  <c:pt idx="9">
                    <c:v>infra</c:v>
                  </c:pt>
                  <c:pt idx="10">
                    <c:v>scripts</c:v>
                  </c:pt>
                  <c:pt idx="11">
                    <c:v>waf</c:v>
                  </c:pt>
                  <c:pt idx="12">
                    <c:v>attacks</c:v>
                  </c:pt>
                  <c:pt idx="13">
                    <c:v>libs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247</c:v>
                </c:pt>
                <c:pt idx="1">
                  <c:v>228</c:v>
                </c:pt>
                <c:pt idx="2">
                  <c:v>176</c:v>
                </c:pt>
                <c:pt idx="3">
                  <c:v>152</c:v>
                </c:pt>
                <c:pt idx="4">
                  <c:v>138</c:v>
                </c:pt>
                <c:pt idx="5">
                  <c:v>134</c:v>
                </c:pt>
                <c:pt idx="6">
                  <c:v>132</c:v>
                </c:pt>
                <c:pt idx="7">
                  <c:v>108</c:v>
                </c:pt>
                <c:pt idx="8">
                  <c:v>94</c:v>
                </c:pt>
                <c:pt idx="9">
                  <c:v>76</c:v>
                </c:pt>
                <c:pt idx="10">
                  <c:v>65</c:v>
                </c:pt>
                <c:pt idx="11">
                  <c:v>50</c:v>
                </c:pt>
                <c:pt idx="12">
                  <c:v>36</c:v>
                </c:pt>
                <c:pt idx="13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B4A5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A5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"/>
        </c:scaling>
        <c:delete val="0"/>
        <c:axPos val="b"/>
        <c:majorGridlines>
          <c:spPr>
            <a:ln w="6350" cap="flat">
              <a:solidFill>
                <a:srgbClr val="C7D2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C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: mission et démarche. Insister : pas de promesse d'infaillibilité, une reprise automatique conçue, observée et vérifiée sur un périmètre maîtrisé.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trois chiffres : l'écart entre aujourd'hui et la cible, et la contrainte du jury. Les deux principes différencient le projet : vérification métier et distinction disponibilité/intégrité, tous deux vérifiés par des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de gauche à droite : le chemin métier (attaquant, WAF, services, base interne) et la chaîne de reprise (observabilité, ML, moteur, actions, dashboard). Python/FastAPI partout, React/Tailwind pour les fronts.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la séquence du Clip Chrono et de la démo live. Annoncer que personne ne touche au clavier entre l'étape 2 et l'étape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Répondre au §3.3 du sujet : données, préparation (z-score avec plancher), modèle, résultats, limites. Le seuil n'est pas une constante : il est dérivé de la distribution des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table YAML est la seule source de vérité ; le moteur ne contient que des invariants de sécurité. Expliquer pourquoi le socket brut serait root sur l'hôte et pourquoi les variables des proxys génériques sont trop larges.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WAF est la seule porte ; le reste est interne. Dire les écarts avant que le jury ne les trouve.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 à la consigne additionnelle du 20/10. Insister sur le garde-fou : le facteur visage ne peut pas auto-saboter la démo de reprise. Dire le résiduel (3 poses rejouées dans l'ordre affiché) avant que le jury le trouve.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Honnêteté : les tests prouvent les contrats et la logique ; les temps viennent des rejeux sur la stack. Raconter la découverte : avant le 21/10, aucun incident n'avait jamais été clos. Remplacer les [M] par les p95 de la recette avant la soutenance.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Axe 4 : chaque recommandation s'appuie sur un élément vérifiable du dépôt (invariants, journal, métriques). Insister sur la distinction classe d'incident / coût 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Clôturer sur les limites (crédibilité) puis enchaîner sur la démo live : 3 minutes, attaque depuis le PC Attaquant, personne ne touche au clavier côté hôte.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Workshop National EPSI 2026 · PROJECT RESILIENCE-ALPHA · Consortium G1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PROJECT RESILIENCE-ALPHA · Consortium G1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</a:rPr>
              <a:t>DÉMONSTRATEUR DE CYBER-RÉSILIENCE · ZERO-TOUCH RECOVERY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PROJECT RESILIENCE-ALPHA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Une plateforme de paiement fictive encaisse une attaque, détecte l'anomalie par ML, se répare seule et le prouve par une transaction.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Consortium G1 — pitch de 5 minutes, puis démonstration en direct.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Un seul critère de réussite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heures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57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reprise manuelle aujourd'hui : de minutes à heures, peu reproductible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887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≤ 60 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2057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cible : attaque → détection → remédiation → nouvelle transaction OK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887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57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intervention humaine dans la boucle de reprise (sanction ND/0)</a:t>
            </a:r>
            <a:endParaRPr lang="en-US" sz="1200" dirty="0"/>
          </a:p>
        </p:txBody>
      </p:sp>
      <p:sp>
        <p:nvSpPr>
          <p:cNvPr id="9" name="principes"/>
          <p:cNvSpPr/>
          <p:nvPr/>
        </p:nvSpPr>
        <p:spPr>
          <a:xfrm>
            <a:off x="457200" y="2971800"/>
            <a:ext cx="82296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08960"/>
            <a:ext cx="7772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Deux principes codés dans le démonstrateur, pas seulement écrits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conteneur qui redémarre n'est pas une preuve : la reprise n'est déclarée que quand une transaction fictive traverse toute la chaîne (verify_tx, code 0).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Restaurer la disponibilité ≠ corriger une corruption : la table de décision refuse de se charger si les deux familles sont mélangées.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Architecture : une seule porte exposée</a:t>
            </a:r>
            <a:endParaRPr lang="en-US" sz="2800" dirty="0"/>
          </a:p>
        </p:txBody>
      </p:sp>
      <p:sp>
        <p:nvSpPr>
          <p:cNvPr id="3" name="box PC Attaquant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090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1887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PC Attaquant</a:t>
            </a:r>
            <a:endParaRPr lang="en-US" sz="1100" dirty="0"/>
          </a:p>
        </p:txBody>
      </p:sp>
      <p:sp>
        <p:nvSpPr>
          <p:cNvPr id="5" name="arrow"/>
          <p:cNvSpPr/>
          <p:nvPr/>
        </p:nvSpPr>
        <p:spPr>
          <a:xfrm>
            <a:off x="1828800" y="1440180"/>
            <a:ext cx="50292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6" name="box WAF · ModSecurity + CRS [edge — seul exposé]"/>
          <p:cNvSpPr/>
          <p:nvPr/>
        </p:nvSpPr>
        <p:spPr>
          <a:xfrm>
            <a:off x="2331720" y="1188720"/>
            <a:ext cx="1737360" cy="50292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11887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WAF · ModSecurity + CRS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[edge — seul exposé]</a:t>
            </a:r>
            <a:endParaRPr lang="en-US" sz="1000" dirty="0"/>
          </a:p>
        </p:txBody>
      </p:sp>
      <p:sp>
        <p:nvSpPr>
          <p:cNvPr id="8" name="arrow"/>
          <p:cNvSpPr/>
          <p:nvPr/>
        </p:nvSpPr>
        <p:spPr>
          <a:xfrm>
            <a:off x="3200400" y="1691640"/>
            <a:ext cx="0" cy="3200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box front"/>
          <p:cNvSpPr/>
          <p:nvPr/>
        </p:nvSpPr>
        <p:spPr>
          <a:xfrm>
            <a:off x="2103120" y="2011680"/>
            <a:ext cx="68580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20116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front</a:t>
            </a:r>
            <a:endParaRPr lang="en-US" sz="1100" dirty="0"/>
          </a:p>
        </p:txBody>
      </p:sp>
      <p:sp>
        <p:nvSpPr>
          <p:cNvPr id="11" name="box payment-api ×3"/>
          <p:cNvSpPr/>
          <p:nvPr/>
        </p:nvSpPr>
        <p:spPr>
          <a:xfrm>
            <a:off x="2834640" y="2011680"/>
            <a:ext cx="91440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80360" y="2011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payment-api ×3</a:t>
            </a:r>
            <a:endParaRPr lang="en-US" sz="1100" dirty="0"/>
          </a:p>
        </p:txBody>
      </p:sp>
      <p:sp>
        <p:nvSpPr>
          <p:cNvPr id="13" name="box auth"/>
          <p:cNvSpPr/>
          <p:nvPr/>
        </p:nvSpPr>
        <p:spPr>
          <a:xfrm>
            <a:off x="3794760" y="2011680"/>
            <a:ext cx="68580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0" y="20116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auth</a:t>
            </a:r>
            <a:endParaRPr lang="en-US" sz="1100" dirty="0"/>
          </a:p>
        </p:txBody>
      </p:sp>
      <p:sp>
        <p:nvSpPr>
          <p:cNvPr id="15" name="arrow"/>
          <p:cNvSpPr/>
          <p:nvPr/>
        </p:nvSpPr>
        <p:spPr>
          <a:xfrm>
            <a:off x="3291840" y="2468880"/>
            <a:ext cx="0" cy="3200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box PostgreSQL [data interne]"/>
          <p:cNvSpPr/>
          <p:nvPr/>
        </p:nvSpPr>
        <p:spPr>
          <a:xfrm>
            <a:off x="2468880" y="2788920"/>
            <a:ext cx="164592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1460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PostgreSQL [data interne]</a:t>
            </a:r>
            <a:endParaRPr lang="en-US" sz="1000" dirty="0"/>
          </a:p>
        </p:txBody>
      </p:sp>
      <p:sp>
        <p:nvSpPr>
          <p:cNvPr id="18" name="box Prometheus · Loki · Grafana [obs]"/>
          <p:cNvSpPr/>
          <p:nvPr/>
        </p:nvSpPr>
        <p:spPr>
          <a:xfrm>
            <a:off x="5120640" y="1188720"/>
            <a:ext cx="1691640" cy="502920"/>
          </a:xfrm>
          <a:prstGeom prst="roundRect">
            <a:avLst>
              <a:gd name="adj" fmla="val 1090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Prometheus · Loki · 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[obs]</a:t>
            </a:r>
            <a:endParaRPr lang="en-US" sz="1000" dirty="0"/>
          </a:p>
        </p:txBody>
      </p:sp>
      <p:sp>
        <p:nvSpPr>
          <p:cNvPr id="20" name="arrow"/>
          <p:cNvSpPr/>
          <p:nvPr/>
        </p:nvSpPr>
        <p:spPr>
          <a:xfrm>
            <a:off x="5966460" y="1691640"/>
            <a:ext cx="0" cy="3200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box collector → detector (1 s) IsolationForest (ML)"/>
          <p:cNvSpPr/>
          <p:nvPr/>
        </p:nvSpPr>
        <p:spPr>
          <a:xfrm>
            <a:off x="5120640" y="2011680"/>
            <a:ext cx="1691640" cy="502920"/>
          </a:xfrm>
          <a:prstGeom prst="roundRect">
            <a:avLst>
              <a:gd name="adj" fmla="val 1090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66360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collector → detector (1 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IsolationForest (ML)</a:t>
            </a:r>
            <a:endParaRPr lang="en-US" sz="1000" dirty="0"/>
          </a:p>
        </p:txBody>
      </p:sp>
      <p:sp>
        <p:nvSpPr>
          <p:cNvPr id="23" name="arrow"/>
          <p:cNvSpPr/>
          <p:nvPr/>
        </p:nvSpPr>
        <p:spPr>
          <a:xfrm>
            <a:off x="5966460" y="2514600"/>
            <a:ext cx="0" cy="2743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4" name="box Moteur de remédiation [app, jamais exposé]"/>
          <p:cNvSpPr/>
          <p:nvPr/>
        </p:nvSpPr>
        <p:spPr>
          <a:xfrm>
            <a:off x="5120640" y="2788920"/>
            <a:ext cx="169164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66360" y="2788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Moteur de remédiation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[app, jamais exposé]</a:t>
            </a:r>
            <a:endParaRPr lang="en-US" sz="1000" dirty="0"/>
          </a:p>
        </p:txBody>
      </p:sp>
      <p:sp>
        <p:nvSpPr>
          <p:cNvPr id="26" name="arrow"/>
          <p:cNvSpPr/>
          <p:nvPr/>
        </p:nvSpPr>
        <p:spPr>
          <a:xfrm>
            <a:off x="6812280" y="3040380"/>
            <a:ext cx="411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box docker-socket-proxy · Ansible · verify_tx"/>
          <p:cNvSpPr/>
          <p:nvPr/>
        </p:nvSpPr>
        <p:spPr>
          <a:xfrm>
            <a:off x="7223760" y="2788920"/>
            <a:ext cx="1463040" cy="50292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788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docker-socket-proxy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· Ansible · verify_tx</a:t>
            </a:r>
            <a:endParaRPr lang="en-US" sz="900" dirty="0"/>
          </a:p>
        </p:txBody>
      </p:sp>
      <p:sp>
        <p:nvSpPr>
          <p:cNvPr id="29" name="arrow"/>
          <p:cNvSpPr/>
          <p:nvPr/>
        </p:nvSpPr>
        <p:spPr>
          <a:xfrm>
            <a:off x="5966460" y="3291840"/>
            <a:ext cx="0" cy="32004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0" name="box Dashboard (SSE, MTTD/MTTR)"/>
          <p:cNvSpPr/>
          <p:nvPr/>
        </p:nvSpPr>
        <p:spPr>
          <a:xfrm>
            <a:off x="5120640" y="3611880"/>
            <a:ext cx="169164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6360" y="3611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Dashboard (SSE, MTTD/MTTR)</a:t>
            </a:r>
            <a:endParaRPr lang="en-US" sz="1000" dirty="0"/>
          </a:p>
        </p:txBody>
      </p:sp>
      <p:sp>
        <p:nvSpPr>
          <p:cNvPr id="32" name="arrow"/>
          <p:cNvSpPr/>
          <p:nvPr/>
        </p:nvSpPr>
        <p:spPr>
          <a:xfrm>
            <a:off x="5120640" y="3040380"/>
            <a:ext cx="-10058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77640" y="3291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actions : blocage IP, redémarrage, restauration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Réseaux séparés (edge, app, data interne, obs, ai, iot) ; audit.sh échoue si un service autre que le WAF publie un port.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Contrats d'interfaces figés en J1 (logs JSON, métriques, AnomalyEvent, table de décision) et vérifiés par des tests.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Back-office joignable depuis l'hôte seul ; assistant RAG isolé de l'automate.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La démo en cinq temps, d'une seule commande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960120" y="1234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arrow"/>
          <p:cNvSpPr/>
          <p:nvPr/>
        </p:nvSpPr>
        <p:spPr>
          <a:xfrm>
            <a:off x="1554480" y="1508760"/>
            <a:ext cx="104241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Avant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verify_tx : une transaction fictive traverse WAF → API → base (code 0).</a:t>
            </a:r>
            <a:endParaRPr lang="en-US" sz="1100" dirty="0"/>
          </a:p>
        </p:txBody>
      </p:sp>
      <p:sp>
        <p:nvSpPr>
          <p:cNvPr id="8" name="step 2"/>
          <p:cNvSpPr/>
          <p:nvPr/>
        </p:nvSpPr>
        <p:spPr>
          <a:xfrm>
            <a:off x="2642616" y="12344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42616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arrow"/>
          <p:cNvSpPr/>
          <p:nvPr/>
        </p:nvSpPr>
        <p:spPr>
          <a:xfrm>
            <a:off x="3236976" y="1508760"/>
            <a:ext cx="104241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139696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Attaque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139696" y="22860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service_flood depuis le PC Attaquant : rafale bornée (≤ 80 req/s, 30 s), kill-switch.</a:t>
            </a:r>
            <a:endParaRPr lang="en-US" sz="1100" dirty="0"/>
          </a:p>
        </p:txBody>
      </p:sp>
      <p:sp>
        <p:nvSpPr>
          <p:cNvPr id="13" name="step 3"/>
          <p:cNvSpPr/>
          <p:nvPr/>
        </p:nvSpPr>
        <p:spPr>
          <a:xfrm>
            <a:off x="4325112" y="12344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25112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arrow"/>
          <p:cNvSpPr/>
          <p:nvPr/>
        </p:nvSpPr>
        <p:spPr>
          <a:xfrm>
            <a:off x="4919472" y="1508760"/>
            <a:ext cx="104241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822192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Détection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822192" y="22860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vecteur de 9 features chaque seconde, score IsolationForest tenu au-dessus du seuil → AnomalyEvent avec l'IP source.</a:t>
            </a:r>
            <a:endParaRPr lang="en-US" sz="1100" dirty="0"/>
          </a:p>
        </p:txBody>
      </p:sp>
      <p:sp>
        <p:nvSpPr>
          <p:cNvPr id="18" name="step 4"/>
          <p:cNvSpPr/>
          <p:nvPr/>
        </p:nvSpPr>
        <p:spPr>
          <a:xfrm>
            <a:off x="6007608" y="1234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07608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arrow"/>
          <p:cNvSpPr/>
          <p:nvPr/>
        </p:nvSpPr>
        <p:spPr>
          <a:xfrm>
            <a:off x="6601968" y="1508760"/>
            <a:ext cx="104241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504688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Remédiation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04688" y="22860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table de décision : vérification d'abord, puis blocage IP (WAF) → redémarrage progressif de payment-api ; verify_tx après chaque action.</a:t>
            </a:r>
            <a:endParaRPr lang="en-US" sz="1100" dirty="0"/>
          </a:p>
        </p:txBody>
      </p:sp>
      <p:sp>
        <p:nvSpPr>
          <p:cNvPr id="23" name="step 5"/>
          <p:cNvSpPr/>
          <p:nvPr/>
        </p:nvSpPr>
        <p:spPr>
          <a:xfrm>
            <a:off x="7690104" y="1234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90104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87184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87184" y="22860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verify_tx OK → incident clos ; timeline, MTTD et MTTR affichés sur le dashboard.</a:t>
            </a:r>
            <a:endParaRPr lang="en-US" sz="1100" dirty="0"/>
          </a:p>
        </p:txBody>
      </p:sp>
      <p:sp>
        <p:nvSpPr>
          <p:cNvPr id="27" name="demo note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7490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make demo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enchaîne les cinq temps et n'exécute aucune action corrective : il observe et prouve. Le même scénario rejoué pour data_corruption montre la réponse d'intégrité (restauration du dump) et non un redémarrage. Clip Chrono ≤ 60 s sans coupe sur cette séquence.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Détection : un modèle décide, pas des if</a:t>
            </a:r>
            <a:endParaRPr lang="en-US" sz="2800" dirty="0"/>
          </a:p>
        </p:txBody>
      </p:sp>
      <p:sp>
        <p:nvSpPr>
          <p:cNvPr id="3" name="card Données et modèle"/>
          <p:cNvSpPr/>
          <p:nvPr/>
        </p:nvSpPr>
        <p:spPr>
          <a:xfrm>
            <a:off x="457200" y="1188720"/>
            <a:ext cx="39319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t Données et modèle"/>
          <p:cNvSpPr/>
          <p:nvPr/>
        </p:nvSpPr>
        <p:spPr>
          <a:xfrm>
            <a:off x="621792" y="135331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325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Données et modèle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602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features chaque seconde (débit, latence, 4xx/5xx, échecs de login, blocages WAF, CPU/RAM, erreurs DB). IsolationForest entraîné sur des séries réelles ; seuil calibré 0,708, 0,65 en démo ; empreinte vérifiée.</a:t>
            </a:r>
            <a:endParaRPr lang="en-US" sz="1200" dirty="0"/>
          </a:p>
        </p:txBody>
      </p:sp>
      <p:sp>
        <p:nvSpPr>
          <p:cNvPr id="7" name="card Limites assumées"/>
          <p:cNvSpPr/>
          <p:nvPr/>
        </p:nvSpPr>
        <p:spPr>
          <a:xfrm>
            <a:off x="457200" y="2971800"/>
            <a:ext cx="39319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t Limites assumées"/>
          <p:cNvSpPr/>
          <p:nvPr/>
        </p:nvSpPr>
        <p:spPr>
          <a:xfrm>
            <a:off x="621792" y="3136392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Limites assumées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538728"/>
            <a:ext cx="3602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Calibré avant les 3 répliques : recapture à refaire. Seuil de démo plus sensible (~2 fausses alertes/h). Le modèle décide qu'il y a anomalie, la table décide quoi faire.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B2D"/>
                          </a:solidFill>
                        </a:rPr>
                        <a:t>Scénario (3 passages)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B2D"/>
                          </a:solidFill>
                        </a:rPr>
                        <a:t>Délai modèle, pire cas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service_flood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9 s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auth_abuse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7 s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web_attack (garde-fou)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4 s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data_corruption (garde-fou)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</a:rPr>
                        <a:t>9 s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B2D"/>
                          </a:solidFill>
                        </a:rPr>
                        <a:t>Faux positifs (3 601 fenêtres, seuil 0,708)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A47B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663440" y="3291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Calibration sur captures réelles (ml/training/data/calibration.json) : 12 passages sur 12 détectés. Avant ce travail : 25 à 37 s (p95). Sur la stack : flood détecté en 2 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Remédiation autonome, privilèges bornés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6974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incident_type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Actions (dans l'ordre)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Famille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service_flood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vérif. d'abord, puis waf_block_ip → restart_service(payment-api)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Disponibilité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auth_abuse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waf_block_ip → tighten_rate_limit(auth, ×0,5)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Accès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web_attack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waf_blacklist_ip → confirm_waf_block (Loki)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Confinement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data_corruption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restore_pg_dump(latest) — seul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</a:rPr>
                        <a:t>Intégrité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unknown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dry_run_report puis escalade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Aucune action destructive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Chaque action modifiante est suivie de verify_tx (5 essais / 3 s) ; cooldown 60 s, 3 tentatives, puis escalade notify_operator. Idempotence, incident actif dédoublonné, dry_run forçable.</a:t>
            </a:r>
            <a:endParaRPr lang="en-US" sz="1100" dirty="0"/>
          </a:p>
        </p:txBody>
      </p:sp>
      <p:sp>
        <p:nvSpPr>
          <p:cNvPr id="5" name="card Privilèges (point jury)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ot Privilèges (point jury)"/>
          <p:cNvSpPr/>
          <p:nvPr/>
        </p:nvSpPr>
        <p:spPr>
          <a:xfrm>
            <a:off x="6016752" y="1353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1325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Privilèges (point jury)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16752" y="1755648"/>
            <a:ext cx="250545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Socket Docker derrière HAProxy : 5 appels autorisés (ping, list, inspect, restart, HUP), jamais exec/create.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Bearer interne (SOPS), aucun port publié, jamais sur edge.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Listes blanches ; réseaux internes jamais bloqués ; blocages expirants (1 h) ; déblocage par jeton opérateur.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Non-root, cap_drop ALL, no-new-privileges.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Token volé = au pire 3 redémarrages tracés.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Red Team bornée, défense en profondeur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 scénarios = contrats Red ↔ Blue (signal, incident_type, remédiation attendue, critère)</a:t>
            </a:r>
            <a:endParaRPr lang="en-US" sz="1300" dirty="0"/>
          </a:p>
        </p:txBody>
      </p:sp>
      <p:sp>
        <p:nvSpPr>
          <p:cNvPr id="4" name="sc service_flood"/>
          <p:cNvSpPr/>
          <p:nvPr/>
        </p:nvSpPr>
        <p:spPr>
          <a:xfrm>
            <a:off x="457200" y="1755648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service_flood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saturation applicative (T1499.002)</a:t>
            </a:r>
            <a:endParaRPr lang="en-US" sz="1100" dirty="0"/>
          </a:p>
        </p:txBody>
      </p:sp>
      <p:sp>
        <p:nvSpPr>
          <p:cNvPr id="7" name="sc auth_abuse"/>
          <p:cNvSpPr/>
          <p:nvPr/>
        </p:nvSpPr>
        <p:spPr>
          <a:xfrm>
            <a:off x="457200" y="246888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auth_abuse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334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credential stuffing (T1110.004)</a:t>
            </a:r>
            <a:endParaRPr lang="en-US" sz="1100" dirty="0"/>
          </a:p>
        </p:txBody>
      </p:sp>
      <p:sp>
        <p:nvSpPr>
          <p:cNvPr id="10" name="sc web_attack"/>
          <p:cNvSpPr/>
          <p:nvPr/>
        </p:nvSpPr>
        <p:spPr>
          <a:xfrm>
            <a:off x="457200" y="3182112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web_attack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3467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SQLi / traversée, bloquées par le CRS (T1190)</a:t>
            </a:r>
            <a:endParaRPr lang="en-US" sz="1100" dirty="0"/>
          </a:p>
        </p:txBody>
      </p:sp>
      <p:sp>
        <p:nvSpPr>
          <p:cNvPr id="13" name="sc data_corruption"/>
          <p:cNvSpPr/>
          <p:nvPr/>
        </p:nvSpPr>
        <p:spPr>
          <a:xfrm>
            <a:off x="457200" y="3895344"/>
            <a:ext cx="256032" cy="25603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data_corruption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0599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altération réversible de données fictives (T1565.001)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233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Périmètre strict : cible = la stack du projet sur RESILIENCE-G1, ≤ 100 req/s, ≤ 60 s, arrêt automatique, kill-switch, reset. Pannes non malveillantes (chaos) en complément.</a:t>
            </a:r>
            <a:endParaRPr lang="en-US" sz="1000" dirty="0"/>
          </a:p>
        </p:txBody>
      </p:sp>
      <p:sp>
        <p:nvSpPr>
          <p:cNvPr id="17" name="card Mesures défensives"/>
          <p:cNvSpPr/>
          <p:nvPr/>
        </p:nvSpPr>
        <p:spPr>
          <a:xfrm>
            <a:off x="4754880" y="114300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ot Mesures défensives"/>
          <p:cNvSpPr/>
          <p:nvPr/>
        </p:nvSpPr>
        <p:spPr>
          <a:xfrm>
            <a:off x="4919472" y="1307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12801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Mesures défensives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1709928"/>
            <a:ext cx="36027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WAF Nginx + ModSecurity + OWASP CRS, image officielle épinglée, non-root, seul point exposé, deny-list IP rechargeable à chaud.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Secrets : SOPS + age, clé privée hors git, gitleaks en pre-commit, archive re-scannée (noms et contenu).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Durcissement : non-root, cap_drop ALL, no-new-privileges, read_only, limites CPU/RAM, healthchecks ; Postgres non-root sans capability.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Fonction SOC : logs JSON normalisés → Loki ; 4 règles Grafana + miroir Prometheus → Alertmanager → moteur (authentifié).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Écarts assumés : pas de MFA client (step-up sur les gros virements), JWT symétrique partagé, TLS auto-signé, sauvegardes sur le même hôte.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Consigne 1 : back-office par le visage</a:t>
            </a:r>
            <a:endParaRPr lang="en-US" sz="2800" dirty="0"/>
          </a:p>
        </p:txBody>
      </p:sp>
      <p:sp>
        <p:nvSpPr>
          <p:cNvPr id="3" name="ca step 1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Identifiant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447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réponse identique, compte existant ou non (anti-énumération).</a:t>
            </a:r>
            <a:endParaRPr lang="en-US" sz="1100" dirty="0"/>
          </a:p>
        </p:txBody>
      </p:sp>
      <p:sp>
        <p:nvSpPr>
          <p:cNvPr id="7" name="ca step 2"/>
          <p:cNvSpPr/>
          <p:nvPr/>
        </p:nvSpPr>
        <p:spPr>
          <a:xfrm>
            <a:off x="457200" y="20574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Visage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134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 poses dans un ordre tiré par le serveur ; pose et identité vérifiées (dlib).</a:t>
            </a:r>
            <a:endParaRPr lang="en-US" sz="1100" dirty="0"/>
          </a:p>
        </p:txBody>
      </p:sp>
      <p:sp>
        <p:nvSpPr>
          <p:cNvPr id="11" name="ca step 3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880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Mot de passe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82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et rôle operator/admin ; 2 échecs → verrouillage 5 min.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 LED ESP8266 (MQTT, fail-open) rend l'état de l'authentification : 5 motifs.</a:t>
            </a:r>
            <a:endParaRPr lang="en-US" sz="1100" dirty="0"/>
          </a:p>
        </p:txBody>
      </p:sp>
      <p:sp>
        <p:nvSpPr>
          <p:cNvPr id="16" name="card Choix et garde-fous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dot Choix et garde-fous"/>
          <p:cNvSpPr/>
          <p:nvPr/>
        </p:nvSpPr>
        <p:spPr>
          <a:xfrm>
            <a:off x="4828032" y="1307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12801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Choix et garde-fous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28032" y="1709928"/>
            <a:ext cx="3694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Facteur sur l'accès privilégié seulement : verify_tx, détection, remédiation et Clip ne dépendent ni de la caméra ni du broker.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Caméra de l'hôte garantie : back-office et /auth, /admin servis par un listener WAF lié à 127.0.0.1:9443.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Biométrie : 3 gabarits + vignettes basse résolution chiffrés AES-256-GCM (clé SOPS), consultation journalisée, effacement total (ADR 0007).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Habilitations : rôles, enrôlement/révocation, bootstrap du 1er admin, dernier admin protégé ; break-glass au PCA.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• Reste à recetter : build dlib, caméra réelle, ESP8266.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Résultats : prouvé, et encore à mesurer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8463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4300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45720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Scénario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Mesuré (1 rejeu)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p95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B2D"/>
                          </a:solidFill>
                        </a:rPr>
                        <a:t>Cible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service_flood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clos en 1,0 s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[M]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≤ 60 s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auth_abuse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clos en 1,3 s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[M]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≤ 60 s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web_attack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[M]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[M]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immédiat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data_corruption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[M]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[M]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B2D"/>
                          </a:solidFill>
                        </a:rPr>
                        <a:t>≤ 2 min</a:t>
                      </a:r>
                      <a:endParaRPr lang="en-US" sz="11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577840" y="2788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Rejeux du 21/10 sur la stack (détection → incident clos). [M] = p95 sur ≥ 10 rejeux en recette J4. Règle : si la cible n'est pas tenue, on révise la cible, pas la mesure.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5577840" y="3703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Bascule : 188/188 requêtes servies en tuant une réplique de payment-api. Tests e2e (7) : les 5 temps contre la stack réelle, dont data_corruption KO → 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Gouvernance reliée au démonstrateur</a:t>
            </a:r>
            <a:endParaRPr lang="en-US" sz="2800" dirty="0"/>
          </a:p>
        </p:txBody>
      </p:sp>
      <p:sp>
        <p:nvSpPr>
          <p:cNvPr id="3" name="card EBIOS RM"/>
          <p:cNvSpPr/>
          <p:nvPr/>
        </p:nvSpPr>
        <p:spPr>
          <a:xfrm>
            <a:off x="457200" y="1143000"/>
            <a:ext cx="2651760" cy="3429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t EBIOS RM"/>
          <p:cNvSpPr/>
          <p:nvPr/>
        </p:nvSpPr>
        <p:spPr>
          <a:xfrm>
            <a:off x="621792" y="1307592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280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EBIOS RM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09928"/>
            <a:ext cx="23225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 scénarios : les 4 attaques, secret exposé, abus de l'automate, et 3 liés au visage.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Résiduel : 0 Élevé ; les Moyens sont proposés à l'acceptation de la direction avec un indicateur chacun ; abus de l'automate ramené à Faible (3) par le proxy restreint.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Coût d'arrêt : ~60 €/min direct, mais les coûts réglementaires croissent par seuils de durée — l'automatisation change la classe de l'incident.</a:t>
            </a:r>
            <a:endParaRPr lang="en-US" sz="1100" dirty="0"/>
          </a:p>
        </p:txBody>
      </p:sp>
      <p:sp>
        <p:nvSpPr>
          <p:cNvPr id="7" name="card PCA / PRA"/>
          <p:cNvSpPr/>
          <p:nvPr/>
        </p:nvSpPr>
        <p:spPr>
          <a:xfrm>
            <a:off x="3246120" y="1143000"/>
            <a:ext cx="2651760" cy="3429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t PCA / PRA"/>
          <p:cNvSpPr/>
          <p:nvPr/>
        </p:nvSpPr>
        <p:spPr>
          <a:xfrm>
            <a:off x="3410712" y="1307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1280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PCA / PRA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1709928"/>
            <a:ext cx="23225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Paiement : RTO ≤ 60 s, RPO 0 (redémarrage, pas de restauration).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Données : RTO ≤ 2 min, RPO ≤ 5 min (dump périodique) — perte bornée, à accepter explicitement.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Sinistre majeur : reconstruction manuelle ≤ 60 min, RPO ≤ 1 h — plus zero-touch.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L'humain décide avant (table versionnée, RTO/RPO), l'automate exécute pendant, l'humain analyse après (RACI).</a:t>
            </a:r>
            <a:endParaRPr lang="en-US" sz="1100" dirty="0"/>
          </a:p>
        </p:txBody>
      </p:sp>
      <p:sp>
        <p:nvSpPr>
          <p:cNvPr id="11" name="card NIS2 / DORA"/>
          <p:cNvSpPr/>
          <p:nvPr/>
        </p:nvSpPr>
        <p:spPr>
          <a:xfrm>
            <a:off x="6035040" y="1143000"/>
            <a:ext cx="2651760" cy="34290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ot NIS2 / DORA"/>
          <p:cNvSpPr/>
          <p:nvPr/>
        </p:nvSpPr>
        <p:spPr>
          <a:xfrm>
            <a:off x="6199632" y="130759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280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NIS2 / DORA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1709928"/>
            <a:ext cx="23225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DORA = référentiel principal (entité financière) ; NIS2 art. 21 en grille croisée. Aucune conformité revendiquée : démontré / partiel / non démontrable en 4 jours.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Arbitrages : reprise hybride (validation humaine avant restauration destructive en production) ; WAL + réplica pour un RPO ~0 ; ré-entraîner sur trafic réel ; Vault + JWT asymétrique ; SIEM avec rétention.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Feuille de route 30 / 90 / 180 jours.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En contexte industriel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Réplication et second site · modèle entraîné sur trafic réel, dérive surveillée · validation humaine avant restauration destructive · expiration des mesures · CI, SIEM, MFA, rotation des secrets.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Contributions (détail : dossier §13) — Yanis Capelle : dév., intégration, gouvernance · Valentin Furcy : IA/Data, infra · Louis Nectoux : cybersécurité, back-office facial · Enzo Palermo : IoT, SOPS · Aurélien Serre : assistant RAG.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Place à la démonstration.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ilience G1">
  <a:themeElements>
    <a:clrScheme name="Resilience G1">
      <a:dk1>
        <a:srgbClr val="0F1B2D"/>
      </a:dk1>
      <a:lt1>
        <a:srgbClr val="FFFFFF"/>
      </a:lt1>
      <a:dk2>
        <a:srgbClr val="3B4A5E"/>
      </a:dk2>
      <a:lt2>
        <a:srgbClr val="EEF2F7"/>
      </a:lt2>
      <a:accent1>
        <a:srgbClr val="13A47B"/>
      </a:accent1>
      <a:accent2>
        <a:srgbClr val="D9482B"/>
      </a:accent2>
      <a:accent3>
        <a:srgbClr val="2F6DB5"/>
      </a:accent3>
      <a:accent4>
        <a:srgbClr val="E8B13D"/>
      </a:accent4>
      <a:accent5>
        <a:srgbClr val="7A8CA3"/>
      </a:accent5>
      <a:accent6>
        <a:srgbClr val="C7D2E0"/>
      </a:accent6>
      <a:hlink>
        <a:srgbClr val="2F6DB5"/>
      </a:hlink>
      <a:folHlink>
        <a:srgbClr val="7A8CA3"/>
      </a:folHlink>
    </a:clrScheme>
    <a:fontScheme name="Resilience G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RESILIENCE-ALPHA — pitch</dc:title>
  <dc:subject>PptxGenJS Presentation</dc:subject>
  <dc:creator>Consortium G1</dc:creator>
  <cp:lastModifiedBy>Consortium G1</cp:lastModifiedBy>
  <cp:revision>1</cp:revision>
  <dcterms:created xsi:type="dcterms:W3CDTF">2026-10-22T11:52:56Z</dcterms:created>
  <dcterms:modified xsi:type="dcterms:W3CDTF">2026-10-22T11:52:56Z</dcterms:modified>
</cp:coreProperties>
</file>