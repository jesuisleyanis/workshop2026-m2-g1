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122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CCF5E0"/>
          </a:solidFill>
        </a:fill>
      </a:tcStyle>
    </a:wholeTbl>
    <a:band2H>
      <a:tcTxStyle b="def" i="def"/>
      <a:tcStyle>
        <a:tcBdr/>
        <a:fill>
          <a:solidFill>
            <a:srgbClr val="E7FAF0"/>
          </a:solidFill>
        </a:fill>
      </a:tcStyle>
    </a:band2H>
    <a:firstCol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381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381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FFE5CE"/>
          </a:solidFill>
        </a:fill>
      </a:tcStyle>
    </a:wholeTbl>
    <a:band2H>
      <a:tcTxStyle b="def" i="def"/>
      <a:tcStyle>
        <a:tcBdr/>
        <a:fill>
          <a:solidFill>
            <a:srgbClr val="FFF2E8"/>
          </a:solidFill>
        </a:fill>
      </a:tcStyle>
    </a:band2H>
    <a:firstCol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381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381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CBCCCF"/>
          </a:solidFill>
        </a:fill>
      </a:tcStyle>
    </a:wholeTbl>
    <a:band2H>
      <a:tcTxStyle b="def" i="def"/>
      <a:tcStyle>
        <a:tcBdr/>
        <a:fill>
          <a:solidFill>
            <a:srgbClr val="E7E7E9"/>
          </a:solidFill>
        </a:fill>
      </a:tcStyle>
    </a:band2H>
    <a:firstCol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381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381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201C15"/>
          </a:solidFill>
        </a:fill>
      </a:tcStyle>
    </a:band2H>
    <a:firstCol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B1220"/>
        </a:fontRef>
        <a:srgbClr val="0B122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1220"/>
              </a:solidFill>
              <a:prstDash val="solid"/>
              <a:round/>
            </a:ln>
          </a:top>
          <a:bottom>
            <a:ln w="254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201C15"/>
          </a:solidFill>
        </a:fill>
      </a:tcStyle>
    </a:lastRow>
    <a:fir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1220"/>
              </a:solidFill>
              <a:prstDash val="solid"/>
              <a:round/>
            </a:ln>
          </a:top>
          <a:bottom>
            <a:ln w="254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0B1220"/>
          </a:solidFill>
        </a:fill>
      </a:tcStyle>
    </a:firstCol>
    <a:la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38100" cap="flat">
              <a:solidFill>
                <a:srgbClr val="201C15"/>
              </a:solidFill>
              <a:prstDash val="solid"/>
              <a:round/>
            </a:ln>
          </a:top>
          <a:bottom>
            <a:ln w="127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0B1220"/>
          </a:solidFill>
        </a:fill>
      </a:tcStyle>
    </a:lastRow>
    <a:firstRow>
      <a:tcTxStyle b="on" i="off">
        <a:fontRef idx="minor">
          <a:srgbClr val="201C15"/>
        </a:fontRef>
        <a:srgbClr val="201C15"/>
      </a:tcTxStyle>
      <a:tcStyle>
        <a:tcBdr>
          <a:left>
            <a:ln w="12700" cap="flat">
              <a:solidFill>
                <a:srgbClr val="201C15"/>
              </a:solidFill>
              <a:prstDash val="solid"/>
              <a:round/>
            </a:ln>
          </a:left>
          <a:right>
            <a:ln w="12700" cap="flat">
              <a:solidFill>
                <a:srgbClr val="201C15"/>
              </a:solidFill>
              <a:prstDash val="solid"/>
              <a:round/>
            </a:ln>
          </a:right>
          <a:top>
            <a:ln w="12700" cap="flat">
              <a:solidFill>
                <a:srgbClr val="201C15"/>
              </a:solidFill>
              <a:prstDash val="solid"/>
              <a:round/>
            </a:ln>
          </a:top>
          <a:bottom>
            <a:ln w="38100" cap="flat">
              <a:solidFill>
                <a:srgbClr val="201C15"/>
              </a:solidFill>
              <a:prstDash val="solid"/>
              <a:round/>
            </a:ln>
          </a:bottom>
          <a:insideH>
            <a:ln w="12700" cap="flat">
              <a:solidFill>
                <a:srgbClr val="201C15"/>
              </a:solidFill>
              <a:prstDash val="solid"/>
              <a:round/>
            </a:ln>
          </a:insideH>
          <a:insideV>
            <a:ln w="12700" cap="flat">
              <a:solidFill>
                <a:srgbClr val="201C15"/>
              </a:solidFill>
              <a:prstDash val="solid"/>
              <a:round/>
            </a:ln>
          </a:insideV>
        </a:tcBdr>
        <a:fill>
          <a:solidFill>
            <a:srgbClr val="0B122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0B1220"/>
              </a:solidFill>
              <a:prstDash val="solid"/>
              <a:round/>
            </a:ln>
          </a:left>
          <a:right>
            <a:ln w="12700" cap="flat">
              <a:solidFill>
                <a:srgbClr val="0B1220"/>
              </a:solidFill>
              <a:prstDash val="solid"/>
              <a:round/>
            </a:ln>
          </a:right>
          <a:top>
            <a:ln w="12700" cap="flat">
              <a:solidFill>
                <a:srgbClr val="0B1220"/>
              </a:solidFill>
              <a:prstDash val="solid"/>
              <a:round/>
            </a:ln>
          </a:top>
          <a:bottom>
            <a:ln w="127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solidFill>
                <a:srgbClr val="0B1220"/>
              </a:solidFill>
              <a:prstDash val="solid"/>
              <a:round/>
            </a:ln>
          </a:insideH>
          <a:insideV>
            <a:ln w="12700" cap="flat">
              <a:solidFill>
                <a:srgbClr val="0B1220"/>
              </a:solidFill>
              <a:prstDash val="solid"/>
              <a:round/>
            </a:ln>
          </a:insideV>
        </a:tcBdr>
        <a:fill>
          <a:solidFill>
            <a:srgbClr val="0B122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0B1220"/>
              </a:solidFill>
              <a:prstDash val="solid"/>
              <a:round/>
            </a:ln>
          </a:left>
          <a:right>
            <a:ln w="12700" cap="flat">
              <a:solidFill>
                <a:srgbClr val="0B1220"/>
              </a:solidFill>
              <a:prstDash val="solid"/>
              <a:round/>
            </a:ln>
          </a:right>
          <a:top>
            <a:ln w="12700" cap="flat">
              <a:solidFill>
                <a:srgbClr val="0B1220"/>
              </a:solidFill>
              <a:prstDash val="solid"/>
              <a:round/>
            </a:ln>
          </a:top>
          <a:bottom>
            <a:ln w="127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solidFill>
                <a:srgbClr val="0B1220"/>
              </a:solidFill>
              <a:prstDash val="solid"/>
              <a:round/>
            </a:ln>
          </a:insideH>
          <a:insideV>
            <a:ln w="12700" cap="flat">
              <a:solidFill>
                <a:srgbClr val="0B1220"/>
              </a:solidFill>
              <a:prstDash val="solid"/>
              <a:round/>
            </a:ln>
          </a:insideV>
        </a:tcBdr>
        <a:fill>
          <a:solidFill>
            <a:srgbClr val="0B1220">
              <a:alpha val="20000"/>
            </a:srgbClr>
          </a:solidFill>
        </a:fill>
      </a:tcStyle>
    </a:firstCol>
    <a:lastRow>
      <a:tcTxStyle b="on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0B1220"/>
              </a:solidFill>
              <a:prstDash val="solid"/>
              <a:round/>
            </a:ln>
          </a:left>
          <a:right>
            <a:ln w="12700" cap="flat">
              <a:solidFill>
                <a:srgbClr val="0B1220"/>
              </a:solidFill>
              <a:prstDash val="solid"/>
              <a:round/>
            </a:ln>
          </a:right>
          <a:top>
            <a:ln w="50800" cap="flat">
              <a:solidFill>
                <a:srgbClr val="0B1220"/>
              </a:solidFill>
              <a:prstDash val="solid"/>
              <a:round/>
            </a:ln>
          </a:top>
          <a:bottom>
            <a:ln w="127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solidFill>
                <a:srgbClr val="0B1220"/>
              </a:solidFill>
              <a:prstDash val="solid"/>
              <a:round/>
            </a:ln>
          </a:insideH>
          <a:insideV>
            <a:ln w="12700" cap="flat">
              <a:solidFill>
                <a:srgbClr val="0B122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B1220"/>
        </a:fontRef>
        <a:srgbClr val="0B1220"/>
      </a:tcTxStyle>
      <a:tcStyle>
        <a:tcBdr>
          <a:left>
            <a:ln w="12700" cap="flat">
              <a:solidFill>
                <a:srgbClr val="0B1220"/>
              </a:solidFill>
              <a:prstDash val="solid"/>
              <a:round/>
            </a:ln>
          </a:left>
          <a:right>
            <a:ln w="12700" cap="flat">
              <a:solidFill>
                <a:srgbClr val="0B1220"/>
              </a:solidFill>
              <a:prstDash val="solid"/>
              <a:round/>
            </a:ln>
          </a:right>
          <a:top>
            <a:ln w="12700" cap="flat">
              <a:solidFill>
                <a:srgbClr val="0B1220"/>
              </a:solidFill>
              <a:prstDash val="solid"/>
              <a:round/>
            </a:ln>
          </a:top>
          <a:bottom>
            <a:ln w="25400" cap="flat">
              <a:solidFill>
                <a:srgbClr val="0B1220"/>
              </a:solidFill>
              <a:prstDash val="solid"/>
              <a:round/>
            </a:ln>
          </a:bottom>
          <a:insideH>
            <a:ln w="12700" cap="flat">
              <a:solidFill>
                <a:srgbClr val="0B1220"/>
              </a:solidFill>
              <a:prstDash val="solid"/>
              <a:round/>
            </a:ln>
          </a:insideH>
          <a:insideV>
            <a:ln w="12700" cap="flat">
              <a:solidFill>
                <a:srgbClr val="0B122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" name="Shape 3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1pPr>
    <a:lvl2pPr indent="2286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2pPr>
    <a:lvl3pPr indent="4572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3pPr>
    <a:lvl4pPr indent="6858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4pPr>
    <a:lvl5pPr indent="9144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5pPr>
    <a:lvl6pPr indent="11430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6pPr>
    <a:lvl7pPr indent="13716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7pPr>
    <a:lvl8pPr indent="16002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8pPr>
    <a:lvl9pPr indent="1828800" latinLnBrk="0">
      <a:defRPr sz="1200">
        <a:solidFill>
          <a:srgbClr val="0B1220"/>
        </a:solidFill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4" name="Shape 4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[0:00 – 0:30] Une phrase : nous avons construit une plateforme de paiement fictive qui, attaquée, se répare seule et prouve son retour à la normale par une vraie transaction. La ligne de pouls est le fil du deck : sain, attaque, détection, reprise.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[0:30 – 6:30] Chacun présente sa carte en une minute, dans l'ordre de la chaîne : Yanis Capelle (« La plateforme, le moteur de reprise, et le fil qui relie tout. ») ; Louis Nectoux (« Celui qui attaque la plateforme, et celui qui la verrouille. ») ; Valentin Furcy (« Faire voir l'attaque au modèle, en quelques secondes. ») ; Aurélien Serre (« Un assistant qui explique l'incident, sans jamais agir. ») ; Enzo Palermo (« Le témoin physique de l'authentification. ») ; Léo Solana (« Ce qui fait démarrer la stack, et ce qui entre dans main. »).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3" name="Shape 21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[6:30 – 8:00] En haut, le chemin métier : un seul composant exposé, le WAF. Clic : la plateforme émet métriques et journaux, le modèle les lit chaque seconde, le moteur décide, la preuve est rejouée. Clic : le moteur agit sur la porte d'entrée et les services — la boucle se referme.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2" name="Shape 2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[8:00 – 9:15] C'est exactement ce que vous verrez en direct. make demo observe et prouve, il n'exécute aucune action corrective. Personne ne touche au clavier côté hôte entre l'attaque et la preuve.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27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7" name="Shape 27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[9:15 – 10:00] Remercier, puis basculer sur la démo live : attaque depuis le PC Attaquant, personne ne touche au clavier côté hôte.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U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ody Level One…"/>
          <p:cNvSpPr txBox="1"/>
          <p:nvPr>
            <p:ph type="body" sz="quarter" idx="1" hasCustomPrompt="1"/>
          </p:nvPr>
        </p:nvSpPr>
        <p:spPr>
          <a:xfrm>
            <a:off x="548640" y="384047"/>
            <a:ext cx="8229601" cy="256033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spcBef>
                <a:spcPts val="200"/>
              </a:spcBef>
              <a:buSzTx/>
              <a:buFontTx/>
              <a:buNone/>
              <a:defRPr spc="300" sz="11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marL="569458" indent="-112258">
              <a:spcBef>
                <a:spcPts val="200"/>
              </a:spcBef>
              <a:buFontTx/>
              <a:defRPr spc="300" sz="11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2pPr>
            <a:lvl3pPr marL="1019175" indent="-104775">
              <a:spcBef>
                <a:spcPts val="200"/>
              </a:spcBef>
              <a:buFontTx/>
              <a:defRPr spc="300" sz="11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3pPr>
            <a:lvl4pPr marL="1497330" indent="-125730">
              <a:spcBef>
                <a:spcPts val="200"/>
              </a:spcBef>
              <a:buFontTx/>
              <a:defRPr spc="300" sz="11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4pPr>
            <a:lvl5pPr marL="1954528" indent="-125728">
              <a:spcBef>
                <a:spcPts val="200"/>
              </a:spcBef>
              <a:buFontTx/>
              <a:defRPr spc="300" sz="11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9" name="Click to add title"/>
          <p:cNvSpPr txBox="1"/>
          <p:nvPr>
            <p:ph type="title" hasCustomPrompt="1"/>
          </p:nvPr>
        </p:nvSpPr>
        <p:spPr>
          <a:xfrm>
            <a:off x="548640" y="676655"/>
            <a:ext cx="11094416" cy="566930"/>
          </a:xfrm>
          <a:prstGeom prst="rect">
            <a:avLst/>
          </a:prstGeom>
        </p:spPr>
        <p:txBody>
          <a:bodyPr anchor="t">
            <a:normAutofit fontScale="100000" lnSpcReduction="0"/>
          </a:bodyPr>
          <a:lstStyle>
            <a:lvl1pPr algn="l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0" name="Text 0"/>
          <p:cNvSpPr txBox="1"/>
          <p:nvPr/>
        </p:nvSpPr>
        <p:spPr>
          <a:xfrm>
            <a:off x="548639" y="6456171"/>
            <a:ext cx="54864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chemeClr val="accent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RESILIENCE-ALPHA   ·   Consortium G1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xfrm>
            <a:off x="11423055" y="6400800"/>
            <a:ext cx="220001" cy="2059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EROS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517599" y="6356350"/>
            <a:ext cx="220002" cy="20591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>
            <a:spAutoFit/>
          </a:bodyPr>
          <a:lstStyle>
            <a:lvl1pPr algn="r">
              <a:defRPr sz="900">
                <a:solidFill>
                  <a:schemeClr val="accent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B122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7.png"/><Relationship Id="rId9" Type="http://schemas.openxmlformats.org/officeDocument/2006/relationships/image" Target="../media/image19.png"/><Relationship Id="rId10" Type="http://schemas.openxmlformats.org/officeDocument/2006/relationships/image" Target="../media/image2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e 1"/>
          <p:cNvSpPr txBox="1"/>
          <p:nvPr/>
        </p:nvSpPr>
        <p:spPr>
          <a:xfrm>
            <a:off x="8138159" y="548640"/>
            <a:ext cx="3230577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Consortium G1</a:t>
            </a:r>
          </a:p>
        </p:txBody>
      </p:sp>
      <p:sp>
        <p:nvSpPr>
          <p:cNvPr id="38" name="texte 2"/>
          <p:cNvSpPr txBox="1"/>
          <p:nvPr/>
        </p:nvSpPr>
        <p:spPr>
          <a:xfrm>
            <a:off x="822960" y="1371600"/>
            <a:ext cx="8229601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400" sz="13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PROJECT RESILIENCE-ALPHA   ·   WORKSHOP EPSI 2026</a:t>
            </a:r>
          </a:p>
        </p:txBody>
      </p:sp>
      <p:sp>
        <p:nvSpPr>
          <p:cNvPr id="39" name="texte 3"/>
          <p:cNvSpPr txBox="1"/>
          <p:nvPr/>
        </p:nvSpPr>
        <p:spPr>
          <a:xfrm>
            <a:off x="822960" y="1783078"/>
            <a:ext cx="9144001" cy="1812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90000"/>
              </a:lnSpc>
              <a:defRPr b="1" sz="6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Zero-Touch</a:t>
            </a:r>
          </a:p>
          <a:p>
            <a:pPr>
              <a:lnSpc>
                <a:spcPct val="90000"/>
              </a:lnSpc>
              <a:defRPr b="1" sz="66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Recovery</a:t>
            </a:r>
          </a:p>
        </p:txBody>
      </p:sp>
      <p:sp>
        <p:nvSpPr>
          <p:cNvPr id="40" name="texte 4"/>
          <p:cNvSpPr txBox="1"/>
          <p:nvPr/>
        </p:nvSpPr>
        <p:spPr>
          <a:xfrm>
            <a:off x="822960" y="3749040"/>
            <a:ext cx="7772401" cy="553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Une plateforme de paiement qui détecte l'attaque, se répare seule et le prouve par une vraie transaction.</a:t>
            </a:r>
          </a:p>
        </p:txBody>
      </p:sp>
      <p:pic>
        <p:nvPicPr>
          <p:cNvPr id="41" name="!!pouls" descr="!!poul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4526279"/>
            <a:ext cx="12191697" cy="914402"/>
          </a:xfrm>
          <a:prstGeom prst="rect">
            <a:avLst/>
          </a:prstGeom>
          <a:ln w="12700">
            <a:miter lim="400000"/>
          </a:ln>
        </p:spPr>
      </p:pic>
      <p:sp>
        <p:nvSpPr>
          <p:cNvPr id="42" name="texte 5"/>
          <p:cNvSpPr txBox="1"/>
          <p:nvPr/>
        </p:nvSpPr>
        <p:spPr>
          <a:xfrm>
            <a:off x="822960" y="5989320"/>
            <a:ext cx="105156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Yanis Capelle   ·   Louis Nectoux   ·   Valentin Furcy   ·   Aurélien Serre   ·   Enzo Palermo   ·   Léo Solana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 txBox="1"/>
          <p:nvPr>
            <p:ph type="body" sz="quarter" idx="1"/>
          </p:nvPr>
        </p:nvSpPr>
        <p:spPr>
          <a:xfrm>
            <a:off x="548640" y="384047"/>
            <a:ext cx="8229601" cy="256033"/>
          </a:xfrm>
          <a:prstGeom prst="rect">
            <a:avLst/>
          </a:prstGeom>
        </p:spPr>
        <p:txBody>
          <a:bodyPr lIns="0" tIns="0" rIns="0" bIns="0" anchor="b"/>
          <a:lstStyle/>
          <a:p>
            <a:pPr/>
            <a:r>
              <a:t>L'ÉQUIPE</a:t>
            </a:r>
          </a:p>
        </p:txBody>
      </p:sp>
      <p:sp>
        <p:nvSpPr>
          <p:cNvPr id="47" name="Text 0"/>
          <p:cNvSpPr txBox="1"/>
          <p:nvPr>
            <p:ph type="title"/>
          </p:nvPr>
        </p:nvSpPr>
        <p:spPr>
          <a:xfrm>
            <a:off x="548638" y="676655"/>
            <a:ext cx="11094419" cy="566930"/>
          </a:xfrm>
          <a:prstGeom prst="rect">
            <a:avLst/>
          </a:prstGeom>
        </p:spPr>
        <p:txBody>
          <a:bodyPr lIns="0" tIns="0" rIns="0" bIns="0"/>
          <a:lstStyle/>
          <a:p>
            <a:pPr/>
            <a:r>
              <a:t>Six développeurs, et ce que chacun a construit</a:t>
            </a:r>
          </a:p>
        </p:txBody>
      </p:sp>
      <p:sp>
        <p:nvSpPr>
          <p:cNvPr id="48" name="carte 22"/>
          <p:cNvSpPr/>
          <p:nvPr/>
        </p:nvSpPr>
        <p:spPr>
          <a:xfrm>
            <a:off x="4307737" y="1389888"/>
            <a:ext cx="3576219" cy="2377440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" name="onglet 23"/>
          <p:cNvSpPr/>
          <p:nvPr/>
        </p:nvSpPr>
        <p:spPr>
          <a:xfrm>
            <a:off x="4508906" y="1389888"/>
            <a:ext cx="502920" cy="4572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0" name="!!avatar 1"/>
          <p:cNvSpPr/>
          <p:nvPr/>
        </p:nvSpPr>
        <p:spPr>
          <a:xfrm>
            <a:off x="4508906" y="1572766"/>
            <a:ext cx="420627" cy="420628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" name="!!initiales 1"/>
          <p:cNvSpPr txBox="1"/>
          <p:nvPr/>
        </p:nvSpPr>
        <p:spPr>
          <a:xfrm>
            <a:off x="4508906" y="1704646"/>
            <a:ext cx="42062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LN</a:t>
            </a:r>
          </a:p>
        </p:txBody>
      </p:sp>
      <p:sp>
        <p:nvSpPr>
          <p:cNvPr id="52" name="texte 24"/>
          <p:cNvSpPr txBox="1"/>
          <p:nvPr/>
        </p:nvSpPr>
        <p:spPr>
          <a:xfrm>
            <a:off x="5057545" y="1554480"/>
            <a:ext cx="26435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Louis Nectoux</a:t>
            </a:r>
          </a:p>
        </p:txBody>
      </p:sp>
      <p:sp>
        <p:nvSpPr>
          <p:cNvPr id="53" name="texte 25"/>
          <p:cNvSpPr txBox="1"/>
          <p:nvPr/>
        </p:nvSpPr>
        <p:spPr>
          <a:xfrm>
            <a:off x="5057545" y="1810511"/>
            <a:ext cx="264353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DÉVELOPPEUR</a:t>
            </a:r>
          </a:p>
        </p:txBody>
      </p:sp>
      <p:sp>
        <p:nvSpPr>
          <p:cNvPr id="54" name="filet 26"/>
          <p:cNvSpPr/>
          <p:nvPr/>
        </p:nvSpPr>
        <p:spPr>
          <a:xfrm>
            <a:off x="4508906" y="2121406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55" name="icône 27" descr="icône 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508906" y="224942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56" name="texte 28"/>
          <p:cNvSpPr txBox="1"/>
          <p:nvPr/>
        </p:nvSpPr>
        <p:spPr>
          <a:xfrm>
            <a:off x="4810657" y="2231134"/>
            <a:ext cx="2890420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Red Team bornée</a:t>
            </a:r>
          </a:p>
        </p:txBody>
      </p:sp>
      <p:sp>
        <p:nvSpPr>
          <p:cNvPr id="57" name="texte 29"/>
          <p:cNvSpPr txBox="1"/>
          <p:nvPr/>
        </p:nvSpPr>
        <p:spPr>
          <a:xfrm>
            <a:off x="4810657" y="2423160"/>
            <a:ext cx="2890420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scénarios d'attaque, console et runbook du PC Attaquant, chaos</a:t>
            </a:r>
          </a:p>
        </p:txBody>
      </p:sp>
      <p:pic>
        <p:nvPicPr>
          <p:cNvPr id="58" name="icône 30" descr="icône 3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508906" y="2761488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59" name="texte 31"/>
          <p:cNvSpPr txBox="1"/>
          <p:nvPr/>
        </p:nvSpPr>
        <p:spPr>
          <a:xfrm>
            <a:off x="4810657" y="2743200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Back-office facial</a:t>
            </a:r>
          </a:p>
        </p:txBody>
      </p:sp>
      <p:sp>
        <p:nvSpPr>
          <p:cNvPr id="60" name="texte 32"/>
          <p:cNvSpPr txBox="1"/>
          <p:nvPr/>
        </p:nvSpPr>
        <p:spPr>
          <a:xfrm>
            <a:off x="4810657" y="2935222"/>
            <a:ext cx="2890420" cy="254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identifiant, visage, mot de passe ; habilitations de bout en bout</a:t>
            </a:r>
          </a:p>
        </p:txBody>
      </p:sp>
      <p:pic>
        <p:nvPicPr>
          <p:cNvPr id="61" name="icône 33" descr="icône 3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508906" y="327355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texte 34"/>
          <p:cNvSpPr txBox="1"/>
          <p:nvPr/>
        </p:nvSpPr>
        <p:spPr>
          <a:xfrm>
            <a:off x="4810657" y="3255264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Durcissement et SOC</a:t>
            </a:r>
          </a:p>
        </p:txBody>
      </p:sp>
      <p:sp>
        <p:nvSpPr>
          <p:cNvPr id="63" name="texte 35"/>
          <p:cNvSpPr txBox="1"/>
          <p:nvPr/>
        </p:nvSpPr>
        <p:spPr>
          <a:xfrm>
            <a:off x="4810657" y="3447288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audit de sécurité, règles SOC, tests de bout en bout</a:t>
            </a:r>
          </a:p>
        </p:txBody>
      </p:sp>
      <p:sp>
        <p:nvSpPr>
          <p:cNvPr id="64" name="carte 36"/>
          <p:cNvSpPr/>
          <p:nvPr/>
        </p:nvSpPr>
        <p:spPr>
          <a:xfrm>
            <a:off x="8066837" y="1389888"/>
            <a:ext cx="3576219" cy="2377440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5" name="onglet 37"/>
          <p:cNvSpPr/>
          <p:nvPr/>
        </p:nvSpPr>
        <p:spPr>
          <a:xfrm>
            <a:off x="8268003" y="1389888"/>
            <a:ext cx="502920" cy="45722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6" name="!!avatar 2"/>
          <p:cNvSpPr/>
          <p:nvPr/>
        </p:nvSpPr>
        <p:spPr>
          <a:xfrm>
            <a:off x="8268003" y="1572766"/>
            <a:ext cx="420627" cy="420628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7" name="!!initiales 2"/>
          <p:cNvSpPr txBox="1"/>
          <p:nvPr/>
        </p:nvSpPr>
        <p:spPr>
          <a:xfrm>
            <a:off x="8268003" y="1704646"/>
            <a:ext cx="42062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VF</a:t>
            </a:r>
          </a:p>
        </p:txBody>
      </p:sp>
      <p:sp>
        <p:nvSpPr>
          <p:cNvPr id="68" name="texte 38"/>
          <p:cNvSpPr txBox="1"/>
          <p:nvPr/>
        </p:nvSpPr>
        <p:spPr>
          <a:xfrm>
            <a:off x="8816644" y="1554480"/>
            <a:ext cx="264353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Valentin Furcy</a:t>
            </a:r>
          </a:p>
        </p:txBody>
      </p:sp>
      <p:sp>
        <p:nvSpPr>
          <p:cNvPr id="69" name="texte 39"/>
          <p:cNvSpPr txBox="1"/>
          <p:nvPr/>
        </p:nvSpPr>
        <p:spPr>
          <a:xfrm>
            <a:off x="8816644" y="1810511"/>
            <a:ext cx="264353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DÉVELOPPEUR IA</a:t>
            </a:r>
          </a:p>
        </p:txBody>
      </p:sp>
      <p:sp>
        <p:nvSpPr>
          <p:cNvPr id="70" name="filet 40"/>
          <p:cNvSpPr/>
          <p:nvPr/>
        </p:nvSpPr>
        <p:spPr>
          <a:xfrm>
            <a:off x="8268003" y="2121406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71" name="icône 41" descr="icône 41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8268003" y="224942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texte 42"/>
          <p:cNvSpPr txBox="1"/>
          <p:nvPr/>
        </p:nvSpPr>
        <p:spPr>
          <a:xfrm>
            <a:off x="8569755" y="2231134"/>
            <a:ext cx="289042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Détection sur séries réelles</a:t>
            </a:r>
          </a:p>
        </p:txBody>
      </p:sp>
      <p:sp>
        <p:nvSpPr>
          <p:cNvPr id="73" name="texte 43"/>
          <p:cNvSpPr txBox="1"/>
          <p:nvPr/>
        </p:nvSpPr>
        <p:spPr>
          <a:xfrm>
            <a:off x="8569755" y="2423160"/>
            <a:ext cx="28904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captures, calibration : de 37 s à 2 s pour voir un flood</a:t>
            </a:r>
          </a:p>
        </p:txBody>
      </p:sp>
      <p:pic>
        <p:nvPicPr>
          <p:cNvPr id="74" name="icône 44" descr="icône 44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268003" y="2761488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texte 45"/>
          <p:cNvSpPr txBox="1"/>
          <p:nvPr/>
        </p:nvSpPr>
        <p:spPr>
          <a:xfrm>
            <a:off x="8569755" y="2743200"/>
            <a:ext cx="28904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L'attaquant désigné</a:t>
            </a:r>
          </a:p>
        </p:txBody>
      </p:sp>
      <p:sp>
        <p:nvSpPr>
          <p:cNvPr id="76" name="texte 46"/>
          <p:cNvSpPr txBox="1"/>
          <p:nvPr/>
        </p:nvSpPr>
        <p:spPr>
          <a:xfrm>
            <a:off x="8569755" y="2935222"/>
            <a:ext cx="28904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IP source retrouvée dans les journaux du WAF, puis bloquée</a:t>
            </a:r>
          </a:p>
        </p:txBody>
      </p:sp>
      <p:pic>
        <p:nvPicPr>
          <p:cNvPr id="77" name="icône 47" descr="icône 47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8268003" y="327355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texte 48"/>
          <p:cNvSpPr txBox="1"/>
          <p:nvPr/>
        </p:nvSpPr>
        <p:spPr>
          <a:xfrm>
            <a:off x="8569755" y="3255264"/>
            <a:ext cx="28904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Une stack qui tient</a:t>
            </a:r>
          </a:p>
        </p:txBody>
      </p:sp>
      <p:sp>
        <p:nvSpPr>
          <p:cNvPr id="79" name="texte 49"/>
          <p:cNvSpPr txBox="1"/>
          <p:nvPr/>
        </p:nvSpPr>
        <p:spPr>
          <a:xfrm>
            <a:off x="8569755" y="3447288"/>
            <a:ext cx="28904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lancement fiable, 3 répliques de payment-api, modèle facial</a:t>
            </a:r>
          </a:p>
        </p:txBody>
      </p:sp>
      <p:sp>
        <p:nvSpPr>
          <p:cNvPr id="80" name="carte 50"/>
          <p:cNvSpPr/>
          <p:nvPr/>
        </p:nvSpPr>
        <p:spPr>
          <a:xfrm>
            <a:off x="548640" y="3858767"/>
            <a:ext cx="3576219" cy="2377442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1" name="onglet 51"/>
          <p:cNvSpPr/>
          <p:nvPr/>
        </p:nvSpPr>
        <p:spPr>
          <a:xfrm>
            <a:off x="749808" y="3858767"/>
            <a:ext cx="502920" cy="45722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2" name="!!avatar 3"/>
          <p:cNvSpPr/>
          <p:nvPr/>
        </p:nvSpPr>
        <p:spPr>
          <a:xfrm>
            <a:off x="749808" y="4041647"/>
            <a:ext cx="420624" cy="42062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4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3" name="!!initiales 3"/>
          <p:cNvSpPr txBox="1"/>
          <p:nvPr/>
        </p:nvSpPr>
        <p:spPr>
          <a:xfrm>
            <a:off x="749808" y="4173526"/>
            <a:ext cx="420624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AS</a:t>
            </a:r>
          </a:p>
        </p:txBody>
      </p:sp>
      <p:sp>
        <p:nvSpPr>
          <p:cNvPr id="84" name="texte 52"/>
          <p:cNvSpPr txBox="1"/>
          <p:nvPr/>
        </p:nvSpPr>
        <p:spPr>
          <a:xfrm>
            <a:off x="1298447" y="4023359"/>
            <a:ext cx="264353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Aurélien Serre</a:t>
            </a:r>
          </a:p>
        </p:txBody>
      </p:sp>
      <p:sp>
        <p:nvSpPr>
          <p:cNvPr id="85" name="texte 53"/>
          <p:cNvSpPr txBox="1"/>
          <p:nvPr/>
        </p:nvSpPr>
        <p:spPr>
          <a:xfrm>
            <a:off x="1298447" y="4279391"/>
            <a:ext cx="264353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4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DÉVELOPPEUR IA</a:t>
            </a:r>
          </a:p>
        </p:txBody>
      </p:sp>
      <p:sp>
        <p:nvSpPr>
          <p:cNvPr id="86" name="filet 54"/>
          <p:cNvSpPr/>
          <p:nvPr/>
        </p:nvSpPr>
        <p:spPr>
          <a:xfrm>
            <a:off x="749808" y="4590287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87" name="icône 55" descr="icône 55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49808" y="4718303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texte 56"/>
          <p:cNvSpPr txBox="1"/>
          <p:nvPr/>
        </p:nvSpPr>
        <p:spPr>
          <a:xfrm>
            <a:off x="1051560" y="4700015"/>
            <a:ext cx="28904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Assistant RAG</a:t>
            </a:r>
          </a:p>
        </p:txBody>
      </p:sp>
      <p:sp>
        <p:nvSpPr>
          <p:cNvPr id="89" name="texte 57"/>
          <p:cNvSpPr txBox="1"/>
          <p:nvPr/>
        </p:nvSpPr>
        <p:spPr>
          <a:xfrm>
            <a:off x="1051560" y="4892040"/>
            <a:ext cx="28904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modèle local ≤ 8B, LangChain, Chroma, dans le dashboard</a:t>
            </a:r>
          </a:p>
        </p:txBody>
      </p:sp>
      <p:pic>
        <p:nvPicPr>
          <p:cNvPr id="90" name="icône 58" descr="icône 5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49808" y="5230367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texte 59"/>
          <p:cNvSpPr txBox="1"/>
          <p:nvPr/>
        </p:nvSpPr>
        <p:spPr>
          <a:xfrm>
            <a:off x="1051560" y="5212079"/>
            <a:ext cx="28904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Résumé DSI et post-mortem</a:t>
            </a:r>
          </a:p>
        </p:txBody>
      </p:sp>
      <p:sp>
        <p:nvSpPr>
          <p:cNvPr id="92" name="texte 60"/>
          <p:cNvSpPr txBox="1"/>
          <p:nvPr/>
        </p:nvSpPr>
        <p:spPr>
          <a:xfrm>
            <a:off x="1051560" y="5404103"/>
            <a:ext cx="28904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rédigés à partir du journal d'incident</a:t>
            </a:r>
          </a:p>
        </p:txBody>
      </p:sp>
      <p:pic>
        <p:nvPicPr>
          <p:cNvPr id="93" name="icône 61" descr="icône 61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749808" y="574243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texte 62"/>
          <p:cNvSpPr txBox="1"/>
          <p:nvPr/>
        </p:nvSpPr>
        <p:spPr>
          <a:xfrm>
            <a:off x="1051560" y="5724144"/>
            <a:ext cx="28904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Isolé de l'automate</a:t>
            </a:r>
          </a:p>
        </p:txBody>
      </p:sp>
      <p:sp>
        <p:nvSpPr>
          <p:cNvPr id="95" name="texte 63"/>
          <p:cNvSpPr txBox="1"/>
          <p:nvPr/>
        </p:nvSpPr>
        <p:spPr>
          <a:xfrm>
            <a:off x="1051560" y="5916167"/>
            <a:ext cx="2890418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réseau séparé ; toute commande proposée exige une confirmation</a:t>
            </a:r>
          </a:p>
        </p:txBody>
      </p:sp>
      <p:sp>
        <p:nvSpPr>
          <p:cNvPr id="96" name="carte 64"/>
          <p:cNvSpPr/>
          <p:nvPr/>
        </p:nvSpPr>
        <p:spPr>
          <a:xfrm>
            <a:off x="4307737" y="3858767"/>
            <a:ext cx="3576219" cy="2377442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7" name="onglet 65"/>
          <p:cNvSpPr/>
          <p:nvPr/>
        </p:nvSpPr>
        <p:spPr>
          <a:xfrm>
            <a:off x="4508906" y="3858767"/>
            <a:ext cx="502920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8" name="!!avatar 4"/>
          <p:cNvSpPr/>
          <p:nvPr/>
        </p:nvSpPr>
        <p:spPr>
          <a:xfrm>
            <a:off x="4508906" y="4041647"/>
            <a:ext cx="420627" cy="42062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9" name="!!initiales 4"/>
          <p:cNvSpPr txBox="1"/>
          <p:nvPr/>
        </p:nvSpPr>
        <p:spPr>
          <a:xfrm>
            <a:off x="4508906" y="4173526"/>
            <a:ext cx="42062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EP</a:t>
            </a:r>
          </a:p>
        </p:txBody>
      </p:sp>
      <p:sp>
        <p:nvSpPr>
          <p:cNvPr id="100" name="texte 66"/>
          <p:cNvSpPr txBox="1"/>
          <p:nvPr/>
        </p:nvSpPr>
        <p:spPr>
          <a:xfrm>
            <a:off x="5057545" y="4023359"/>
            <a:ext cx="26435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Enzo Palermo</a:t>
            </a:r>
          </a:p>
        </p:txBody>
      </p:sp>
      <p:sp>
        <p:nvSpPr>
          <p:cNvPr id="101" name="texte 67"/>
          <p:cNvSpPr txBox="1"/>
          <p:nvPr/>
        </p:nvSpPr>
        <p:spPr>
          <a:xfrm>
            <a:off x="5057545" y="4279391"/>
            <a:ext cx="264353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DÉVELOPPEUR</a:t>
            </a:r>
          </a:p>
        </p:txBody>
      </p:sp>
      <p:sp>
        <p:nvSpPr>
          <p:cNvPr id="102" name="filet 68"/>
          <p:cNvSpPr/>
          <p:nvPr/>
        </p:nvSpPr>
        <p:spPr>
          <a:xfrm>
            <a:off x="4508906" y="4590287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03" name="icône 69" descr="icône 69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4508906" y="4718303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texte 70"/>
          <p:cNvSpPr txBox="1"/>
          <p:nvPr/>
        </p:nvSpPr>
        <p:spPr>
          <a:xfrm>
            <a:off x="4810657" y="4700015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Firmware ESP8266</a:t>
            </a:r>
          </a:p>
        </p:txBody>
      </p:sp>
      <p:sp>
        <p:nvSpPr>
          <p:cNvPr id="105" name="texte 71"/>
          <p:cNvSpPr txBox="1"/>
          <p:nvPr/>
        </p:nvSpPr>
        <p:spPr>
          <a:xfrm>
            <a:off x="4810657" y="4892040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LED bicolore, machine à états, Wi-Fi, HTTP et MQTT</a:t>
            </a:r>
          </a:p>
        </p:txBody>
      </p:sp>
      <p:pic>
        <p:nvPicPr>
          <p:cNvPr id="106" name="icône 72" descr="icône 72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508906" y="5230367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exte 73"/>
          <p:cNvSpPr txBox="1"/>
          <p:nvPr/>
        </p:nvSpPr>
        <p:spPr>
          <a:xfrm>
            <a:off x="4810657" y="5212079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Broker MQTT durci</a:t>
            </a:r>
          </a:p>
        </p:txBody>
      </p:sp>
      <p:sp>
        <p:nvSpPr>
          <p:cNvPr id="108" name="texte 74"/>
          <p:cNvSpPr txBox="1"/>
          <p:nvPr/>
        </p:nvSpPr>
        <p:spPr>
          <a:xfrm>
            <a:off x="4810657" y="5404103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Mosquitto authentifié, ACL par topic, profil iot</a:t>
            </a:r>
          </a:p>
        </p:txBody>
      </p:sp>
      <p:pic>
        <p:nvPicPr>
          <p:cNvPr id="109" name="icône 75" descr="icône 75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4508906" y="574243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e 76"/>
          <p:cNvSpPr txBox="1"/>
          <p:nvPr/>
        </p:nvSpPr>
        <p:spPr>
          <a:xfrm>
            <a:off x="4810657" y="5724144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Secrets chiffrés</a:t>
            </a:r>
          </a:p>
        </p:txBody>
      </p:sp>
      <p:sp>
        <p:nvSpPr>
          <p:cNvPr id="111" name="texte 77"/>
          <p:cNvSpPr txBox="1"/>
          <p:nvPr/>
        </p:nvSpPr>
        <p:spPr>
          <a:xfrm>
            <a:off x="4810657" y="5916167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SOPS et age : aucun secret en clair dans le dépôt</a:t>
            </a:r>
          </a:p>
        </p:txBody>
      </p:sp>
      <p:sp>
        <p:nvSpPr>
          <p:cNvPr id="112" name="carte 78"/>
          <p:cNvSpPr/>
          <p:nvPr/>
        </p:nvSpPr>
        <p:spPr>
          <a:xfrm>
            <a:off x="548640" y="1382249"/>
            <a:ext cx="3576219" cy="2377442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3" name="onglet 79"/>
          <p:cNvSpPr/>
          <p:nvPr/>
        </p:nvSpPr>
        <p:spPr>
          <a:xfrm>
            <a:off x="749806" y="1382249"/>
            <a:ext cx="502920" cy="45722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4" name="!!avatar 5"/>
          <p:cNvSpPr/>
          <p:nvPr/>
        </p:nvSpPr>
        <p:spPr>
          <a:xfrm>
            <a:off x="749806" y="1565129"/>
            <a:ext cx="420627" cy="42062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5" name="!!initiales 5"/>
          <p:cNvSpPr txBox="1"/>
          <p:nvPr/>
        </p:nvSpPr>
        <p:spPr>
          <a:xfrm>
            <a:off x="749806" y="1697009"/>
            <a:ext cx="420626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LS</a:t>
            </a:r>
          </a:p>
        </p:txBody>
      </p:sp>
      <p:sp>
        <p:nvSpPr>
          <p:cNvPr id="116" name="texte 80"/>
          <p:cNvSpPr txBox="1"/>
          <p:nvPr/>
        </p:nvSpPr>
        <p:spPr>
          <a:xfrm>
            <a:off x="1298446" y="1546841"/>
            <a:ext cx="264353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Léo Solana</a:t>
            </a:r>
          </a:p>
        </p:txBody>
      </p:sp>
      <p:sp>
        <p:nvSpPr>
          <p:cNvPr id="117" name="texte 81"/>
          <p:cNvSpPr txBox="1"/>
          <p:nvPr/>
        </p:nvSpPr>
        <p:spPr>
          <a:xfrm>
            <a:off x="1298446" y="1802873"/>
            <a:ext cx="264353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HAPPYNESS MANAGER</a:t>
            </a:r>
          </a:p>
        </p:txBody>
      </p:sp>
      <p:sp>
        <p:nvSpPr>
          <p:cNvPr id="118" name="filet 82"/>
          <p:cNvSpPr/>
          <p:nvPr/>
        </p:nvSpPr>
        <p:spPr>
          <a:xfrm>
            <a:off x="749806" y="2113769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19" name="icône 83" descr="icône 83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749806" y="2241785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texte 84"/>
          <p:cNvSpPr txBox="1"/>
          <p:nvPr/>
        </p:nvSpPr>
        <p:spPr>
          <a:xfrm>
            <a:off x="1051558" y="2223497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.env</a:t>
            </a:r>
          </a:p>
        </p:txBody>
      </p:sp>
      <p:sp>
        <p:nvSpPr>
          <p:cNvPr id="121" name="texte 85"/>
          <p:cNvSpPr txBox="1"/>
          <p:nvPr/>
        </p:nvSpPr>
        <p:spPr>
          <a:xfrm>
            <a:off x="1051558" y="2415522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rédaction du .env</a:t>
            </a:r>
          </a:p>
        </p:txBody>
      </p:sp>
      <p:pic>
        <p:nvPicPr>
          <p:cNvPr id="122" name="icône 86" descr="icône 86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749806" y="2753849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texte 87"/>
          <p:cNvSpPr txBox="1"/>
          <p:nvPr/>
        </p:nvSpPr>
        <p:spPr>
          <a:xfrm>
            <a:off x="1051558" y="2735561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Ambiance dans l’équipe</a:t>
            </a:r>
          </a:p>
        </p:txBody>
      </p:sp>
      <p:sp>
        <p:nvSpPr>
          <p:cNvPr id="124" name="texte 88"/>
          <p:cNvSpPr txBox="1"/>
          <p:nvPr/>
        </p:nvSpPr>
        <p:spPr>
          <a:xfrm>
            <a:off x="1051558" y="2927585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Météo des humeurs, afterwork chez michel</a:t>
            </a:r>
          </a:p>
        </p:txBody>
      </p:sp>
      <p:pic>
        <p:nvPicPr>
          <p:cNvPr id="125" name="icône 89" descr="icône 89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749806" y="3381893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texte 90"/>
          <p:cNvSpPr txBox="1"/>
          <p:nvPr/>
        </p:nvSpPr>
        <p:spPr>
          <a:xfrm>
            <a:off x="1051558" y="3314760"/>
            <a:ext cx="289042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Gitignore</a:t>
            </a:r>
          </a:p>
        </p:txBody>
      </p:sp>
      <p:sp>
        <p:nvSpPr>
          <p:cNvPr id="127" name="texte 91"/>
          <p:cNvSpPr txBox="1"/>
          <p:nvPr/>
        </p:nvSpPr>
        <p:spPr>
          <a:xfrm>
            <a:off x="1051558" y="3486858"/>
            <a:ext cx="28904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Maintenance du gitignore</a:t>
            </a:r>
          </a:p>
        </p:txBody>
      </p:sp>
      <p:sp>
        <p:nvSpPr>
          <p:cNvPr id="128" name="Slide Number Placeholder 0"/>
          <p:cNvSpPr txBox="1"/>
          <p:nvPr>
            <p:ph type="sldNum" sz="quarter" idx="4294967295"/>
          </p:nvPr>
        </p:nvSpPr>
        <p:spPr>
          <a:xfrm>
            <a:off x="3962785" y="3924282"/>
            <a:ext cx="162071" cy="20591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9" name="carte 6"/>
          <p:cNvSpPr/>
          <p:nvPr/>
        </p:nvSpPr>
        <p:spPr>
          <a:xfrm>
            <a:off x="8071596" y="3858767"/>
            <a:ext cx="3576220" cy="2377441"/>
          </a:xfrm>
          <a:prstGeom prst="roundRect">
            <a:avLst>
              <a:gd name="adj" fmla="val 307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0" name="onglet 7"/>
          <p:cNvSpPr/>
          <p:nvPr/>
        </p:nvSpPr>
        <p:spPr>
          <a:xfrm>
            <a:off x="8272764" y="3858767"/>
            <a:ext cx="502920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1" name="anneau 8"/>
          <p:cNvSpPr/>
          <p:nvPr/>
        </p:nvSpPr>
        <p:spPr>
          <a:xfrm>
            <a:off x="8272764" y="4041646"/>
            <a:ext cx="420625" cy="42062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2" name="libellé 9"/>
          <p:cNvSpPr txBox="1"/>
          <p:nvPr/>
        </p:nvSpPr>
        <p:spPr>
          <a:xfrm>
            <a:off x="8272764" y="4173526"/>
            <a:ext cx="420625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YC</a:t>
            </a:r>
          </a:p>
        </p:txBody>
      </p:sp>
      <p:sp>
        <p:nvSpPr>
          <p:cNvPr id="133" name="texte 10"/>
          <p:cNvSpPr txBox="1"/>
          <p:nvPr/>
        </p:nvSpPr>
        <p:spPr>
          <a:xfrm>
            <a:off x="8821403" y="4023359"/>
            <a:ext cx="264353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Yanis Capelle</a:t>
            </a:r>
          </a:p>
        </p:txBody>
      </p:sp>
      <p:sp>
        <p:nvSpPr>
          <p:cNvPr id="134" name="texte 11"/>
          <p:cNvSpPr txBox="1"/>
          <p:nvPr/>
        </p:nvSpPr>
        <p:spPr>
          <a:xfrm>
            <a:off x="8821403" y="4279390"/>
            <a:ext cx="264353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9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DÉVELOPPEUR</a:t>
            </a:r>
          </a:p>
        </p:txBody>
      </p:sp>
      <p:sp>
        <p:nvSpPr>
          <p:cNvPr id="135" name="filet 12"/>
          <p:cNvSpPr/>
          <p:nvPr/>
        </p:nvSpPr>
        <p:spPr>
          <a:xfrm>
            <a:off x="8272764" y="4590286"/>
            <a:ext cx="3173884" cy="3"/>
          </a:xfrm>
          <a:prstGeom prst="line">
            <a:avLst/>
          </a:prstGeom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36" name="icône 13" descr="icône 13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8272764" y="4718302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texte 14"/>
          <p:cNvSpPr txBox="1"/>
          <p:nvPr/>
        </p:nvSpPr>
        <p:spPr>
          <a:xfrm>
            <a:off x="8574516" y="4700014"/>
            <a:ext cx="2890419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Plateforme bancaire</a:t>
            </a:r>
          </a:p>
        </p:txBody>
      </p:sp>
      <p:sp>
        <p:nvSpPr>
          <p:cNvPr id="138" name="texte 15"/>
          <p:cNvSpPr txBox="1"/>
          <p:nvPr/>
        </p:nvSpPr>
        <p:spPr>
          <a:xfrm>
            <a:off x="8574516" y="4892039"/>
            <a:ext cx="2890419" cy="254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payment-api, auth et front : comptes, virements, cartes, relevés</a:t>
            </a:r>
          </a:p>
        </p:txBody>
      </p:sp>
      <p:pic>
        <p:nvPicPr>
          <p:cNvPr id="139" name="icône 16" descr="icôn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8272764" y="5230367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texte 17"/>
          <p:cNvSpPr txBox="1"/>
          <p:nvPr/>
        </p:nvSpPr>
        <p:spPr>
          <a:xfrm>
            <a:off x="8574516" y="5212079"/>
            <a:ext cx="2890419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Moteur de remédiation</a:t>
            </a:r>
          </a:p>
        </p:txBody>
      </p:sp>
      <p:sp>
        <p:nvSpPr>
          <p:cNvPr id="141" name="texte 18"/>
          <p:cNvSpPr txBox="1"/>
          <p:nvPr/>
        </p:nvSpPr>
        <p:spPr>
          <a:xfrm>
            <a:off x="8574516" y="5404102"/>
            <a:ext cx="28904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table de décision, privilèges bornés, contrats d'interfaces</a:t>
            </a:r>
          </a:p>
        </p:txBody>
      </p:sp>
      <p:pic>
        <p:nvPicPr>
          <p:cNvPr id="142" name="icône 19" descr="icône 19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8272764" y="5742431"/>
            <a:ext cx="182882" cy="182882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texte 20"/>
          <p:cNvSpPr txBox="1"/>
          <p:nvPr/>
        </p:nvSpPr>
        <p:spPr>
          <a:xfrm>
            <a:off x="8574516" y="5724143"/>
            <a:ext cx="2890419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Intégration et gouvernance</a:t>
            </a:r>
          </a:p>
        </p:txBody>
      </p:sp>
      <p:sp>
        <p:nvSpPr>
          <p:cNvPr id="144" name="texte 21"/>
          <p:cNvSpPr txBox="1"/>
          <p:nvPr/>
        </p:nvSpPr>
        <p:spPr>
          <a:xfrm>
            <a:off x="8574516" y="5916167"/>
            <a:ext cx="28904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revues et fusions, EBIOS RM, PCA/PRA, NIS2/DORA, dossier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500">
        <p:fade/>
      </p:transition>
    </mc:Choice>
    <mc:Fallback>
      <p:transition spd="fast">
        <p:fade/>
      </p:transition>
    </mc:Fallback>
  </mc:AlternateContent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Class="entr" nodeType="afterEffect" presetID="10" grpId="2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Class="entr" nodeType="afterEffect" presetID="10" grpId="3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Class="entr" nodeType="afterEffect" presetID="10" grpId="4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Class="entr" nodeType="afterEffect" presetID="10" grpId="5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Class="entr" nodeType="afterEffect" presetID="10" grpId="6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Class="entr" nodeType="afterEffect" presetID="10" grpId="7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Class="entr" nodeType="afterEffect" presetID="10" grpId="8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Class="entr" nodeType="afterEffect" presetID="10" grpId="9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Class="entr" nodeType="afterEffect" presetID="10" grpId="10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Class="entr" nodeType="afterEffect" presetID="10" grpId="11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Class="entr" nodeType="afterEffect" presetID="10" grpId="12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Class="entr" nodeType="afterEffect" presetID="10" grpId="13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Class="entr" nodeType="afterEffect" presetID="10" grpId="14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Class="entr" nodeType="afterEffect" presetID="10" grpId="15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0"/>
                            </p:stCondLst>
                            <p:childTnLst>
                              <p:par>
                                <p:cTn id="65" presetClass="entr" nodeType="afterEffect" presetID="10" grpId="16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0"/>
                            </p:stCondLst>
                            <p:childTnLst>
                              <p:par>
                                <p:cTn id="69" presetClass="entr" nodeType="afterEffect" presetID="10" grpId="17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1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8600"/>
                            </p:stCondLst>
                            <p:childTnLst>
                              <p:par>
                                <p:cTn id="73" presetClass="entr" nodeType="afterEffect" presetID="10" grpId="18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9200"/>
                            </p:stCondLst>
                            <p:childTnLst>
                              <p:par>
                                <p:cTn id="77" presetClass="entr" nodeType="afterEffect" presetID="10" grpId="19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9800"/>
                            </p:stCondLst>
                            <p:childTnLst>
                              <p:par>
                                <p:cTn id="81" presetClass="entr" nodeType="afterEffect" presetID="10" grpId="20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0"/>
                            </p:stCondLst>
                            <p:childTnLst>
                              <p:par>
                                <p:cTn id="85" presetClass="entr" nodeType="afterEffect" presetID="10" grpId="21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000"/>
                            </p:stCondLst>
                            <p:childTnLst>
                              <p:par>
                                <p:cTn id="89" presetClass="entr" nodeType="afterEffect" presetID="10" grpId="22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600"/>
                            </p:stCondLst>
                            <p:childTnLst>
                              <p:par>
                                <p:cTn id="93" presetClass="entr" nodeType="afterEffect" presetID="10" grpId="23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2200"/>
                            </p:stCondLst>
                            <p:childTnLst>
                              <p:par>
                                <p:cTn id="97" presetClass="entr" nodeType="afterEffect" presetID="10" grpId="24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9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800"/>
                            </p:stCondLst>
                            <p:childTnLst>
                              <p:par>
                                <p:cTn id="101" presetClass="entr" nodeType="afterEffect" presetID="10" grpId="25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3400"/>
                            </p:stCondLst>
                            <p:childTnLst>
                              <p:par>
                                <p:cTn id="105" presetClass="entr" nodeType="afterEffect" presetID="10" grpId="26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7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4000"/>
                            </p:stCondLst>
                            <p:childTnLst>
                              <p:par>
                                <p:cTn id="109" presetClass="entr" nodeType="afterEffect" presetID="10" grpId="27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1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4600"/>
                            </p:stCondLst>
                            <p:childTnLst>
                              <p:par>
                                <p:cTn id="113" presetClass="entr" nodeType="afterEffect" presetID="10" grpId="28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5200"/>
                            </p:stCondLst>
                            <p:childTnLst>
                              <p:par>
                                <p:cTn id="117" presetClass="entr" nodeType="afterEffect" presetID="10" grpId="29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5800"/>
                            </p:stCondLst>
                            <p:childTnLst>
                              <p:par>
                                <p:cTn id="121" presetClass="entr" nodeType="afterEffect" presetID="10" grpId="30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3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6400"/>
                            </p:stCondLst>
                            <p:childTnLst>
                              <p:par>
                                <p:cTn id="125" presetClass="entr" nodeType="afterEffect" presetID="10" grpId="31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6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7000"/>
                            </p:stCondLst>
                            <p:childTnLst>
                              <p:par>
                                <p:cTn id="129" presetClass="entr" nodeType="afterEffect" presetID="10" grpId="32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7600"/>
                            </p:stCondLst>
                            <p:childTnLst>
                              <p:par>
                                <p:cTn id="133" presetClass="entr" nodeType="afterEffect" presetID="10" grpId="33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4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5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18300"/>
                            </p:stCondLst>
                            <p:childTnLst>
                              <p:par>
                                <p:cTn id="137" presetClass="entr" nodeType="afterEffect" presetID="10" grpId="34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8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9000"/>
                            </p:stCondLst>
                            <p:childTnLst>
                              <p:par>
                                <p:cTn id="141" presetClass="entr" nodeType="afterEffect" presetID="10" grpId="35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4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9700"/>
                            </p:stCondLst>
                            <p:childTnLst>
                              <p:par>
                                <p:cTn id="145" presetClass="entr" nodeType="afterEffect" presetID="10" grpId="36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6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47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0400"/>
                            </p:stCondLst>
                            <p:childTnLst>
                              <p:par>
                                <p:cTn id="149" presetClass="entr" nodeType="afterEffect" presetID="10" grpId="37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21100"/>
                            </p:stCondLst>
                            <p:childTnLst>
                              <p:par>
                                <p:cTn id="153" presetClass="entr" nodeType="afterEffect" presetID="10" grpId="38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5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21800"/>
                            </p:stCondLst>
                            <p:childTnLst>
                              <p:par>
                                <p:cTn id="157" presetClass="entr" nodeType="afterEffect" presetID="10" grpId="39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8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2500"/>
                            </p:stCondLst>
                            <p:childTnLst>
                              <p:par>
                                <p:cTn id="161" presetClass="entr" nodeType="afterEffect" presetID="10" grpId="40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2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63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23200"/>
                            </p:stCondLst>
                            <p:childTnLst>
                              <p:par>
                                <p:cTn id="165" presetClass="entr" nodeType="afterEffect" presetID="10" grpId="41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67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23900"/>
                            </p:stCondLst>
                            <p:childTnLst>
                              <p:par>
                                <p:cTn id="169" presetClass="entr" nodeType="afterEffect" presetID="10" grpId="42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7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4600"/>
                            </p:stCondLst>
                            <p:childTnLst>
                              <p:par>
                                <p:cTn id="173" presetClass="entr" nodeType="afterEffect" presetID="10" grpId="43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4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75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25300"/>
                            </p:stCondLst>
                            <p:childTnLst>
                              <p:par>
                                <p:cTn id="177" presetClass="entr" nodeType="afterEffect" presetID="10" grpId="44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79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26000"/>
                            </p:stCondLst>
                            <p:childTnLst>
                              <p:par>
                                <p:cTn id="181" presetClass="entr" nodeType="afterEffect" presetID="10" grpId="45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2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83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26700"/>
                            </p:stCondLst>
                            <p:childTnLst>
                              <p:par>
                                <p:cTn id="185" presetClass="entr" nodeType="afterEffect" presetID="10" grpId="46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6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87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27400"/>
                            </p:stCondLst>
                            <p:childTnLst>
                              <p:par>
                                <p:cTn id="189" presetClass="entr" nodeType="afterEffect" presetID="10" grpId="47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1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28100"/>
                            </p:stCondLst>
                            <p:childTnLst>
                              <p:par>
                                <p:cTn id="193" presetClass="entr" nodeType="afterEffect" presetID="10" grpId="48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4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5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28800"/>
                            </p:stCondLst>
                            <p:childTnLst>
                              <p:par>
                                <p:cTn id="197" presetClass="entr" nodeType="afterEffect" presetID="10" grpId="49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8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9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29600"/>
                            </p:stCondLst>
                            <p:childTnLst>
                              <p:par>
                                <p:cTn id="201" presetClass="entr" nodeType="afterEffect" presetID="10" grpId="50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03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30400"/>
                            </p:stCondLst>
                            <p:childTnLst>
                              <p:par>
                                <p:cTn id="205" presetClass="entr" nodeType="afterEffect" presetID="10" grpId="51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6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07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31200"/>
                            </p:stCondLst>
                            <p:childTnLst>
                              <p:par>
                                <p:cTn id="209" presetClass="entr" nodeType="afterEffect" presetID="10" grpId="52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11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32000"/>
                            </p:stCondLst>
                            <p:childTnLst>
                              <p:par>
                                <p:cTn id="213" presetClass="entr" nodeType="afterEffect" presetID="10" grpId="53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15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32800"/>
                            </p:stCondLst>
                            <p:childTnLst>
                              <p:par>
                                <p:cTn id="217" presetClass="entr" nodeType="afterEffect" presetID="10" grpId="54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8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19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33600"/>
                            </p:stCondLst>
                            <p:childTnLst>
                              <p:par>
                                <p:cTn id="221" presetClass="entr" nodeType="afterEffect" presetID="10" grpId="55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2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23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34400"/>
                            </p:stCondLst>
                            <p:childTnLst>
                              <p:par>
                                <p:cTn id="225" presetClass="entr" nodeType="afterEffect" presetID="10" grpId="56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6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27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35200"/>
                            </p:stCondLst>
                            <p:childTnLst>
                              <p:par>
                                <p:cTn id="229" presetClass="entr" nodeType="afterEffect" presetID="10" grpId="57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36000"/>
                            </p:stCondLst>
                            <p:childTnLst>
                              <p:par>
                                <p:cTn id="233" presetClass="entr" nodeType="afterEffect" presetID="10" grpId="58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4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5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36800"/>
                            </p:stCondLst>
                            <p:childTnLst>
                              <p:par>
                                <p:cTn id="237" presetClass="entr" nodeType="afterEffect" presetID="10" grpId="59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8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9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37600"/>
                            </p:stCondLst>
                            <p:childTnLst>
                              <p:par>
                                <p:cTn id="241" presetClass="entr" nodeType="afterEffect" presetID="10" grpId="60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2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43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38400"/>
                            </p:stCondLst>
                            <p:childTnLst>
                              <p:par>
                                <p:cTn id="245" presetClass="entr" nodeType="afterEffect" presetID="10" grpId="61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6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4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8" fill="hold">
                            <p:stCondLst>
                              <p:cond delay="39200"/>
                            </p:stCondLst>
                            <p:childTnLst>
                              <p:par>
                                <p:cTn id="249" presetClass="entr" nodeType="afterEffect" presetID="10" grpId="62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51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53" presetClass="entr" nodeType="afterEffect" presetID="10" grpId="63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5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40800"/>
                            </p:stCondLst>
                            <p:childTnLst>
                              <p:par>
                                <p:cTn id="257" presetClass="entr" nodeType="afterEffect" presetID="10" grpId="64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8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5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41600"/>
                            </p:stCondLst>
                            <p:childTnLst>
                              <p:par>
                                <p:cTn id="261" presetClass="entr" nodeType="afterEffect" presetID="10" grpId="65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2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6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42500"/>
                            </p:stCondLst>
                            <p:childTnLst>
                              <p:par>
                                <p:cTn id="265" presetClass="entr" nodeType="afterEffect" presetID="10" grpId="66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6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6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43400"/>
                            </p:stCondLst>
                            <p:childTnLst>
                              <p:par>
                                <p:cTn id="269" presetClass="entr" nodeType="afterEffect" presetID="10" grpId="67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44300"/>
                            </p:stCondLst>
                            <p:childTnLst>
                              <p:par>
                                <p:cTn id="273" presetClass="entr" nodeType="afterEffect" presetID="10" grpId="68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4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5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45200"/>
                            </p:stCondLst>
                            <p:childTnLst>
                              <p:par>
                                <p:cTn id="277" presetClass="entr" nodeType="afterEffect" presetID="10" grpId="69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8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9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0" fill="hold">
                            <p:stCondLst>
                              <p:cond delay="46100"/>
                            </p:stCondLst>
                            <p:childTnLst>
                              <p:par>
                                <p:cTn id="281" presetClass="entr" nodeType="afterEffect" presetID="10" grpId="70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2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83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47000"/>
                            </p:stCondLst>
                            <p:childTnLst>
                              <p:par>
                                <p:cTn id="285" presetClass="entr" nodeType="afterEffect" presetID="10" grpId="71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6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8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47900"/>
                            </p:stCondLst>
                            <p:childTnLst>
                              <p:par>
                                <p:cTn id="289" presetClass="entr" nodeType="afterEffect" presetID="10" grpId="72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91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8800"/>
                            </p:stCondLst>
                            <p:childTnLst>
                              <p:par>
                                <p:cTn id="293" presetClass="entr" nodeType="afterEffect" presetID="10" grpId="73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4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95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6" fill="hold">
                            <p:stCondLst>
                              <p:cond delay="49700"/>
                            </p:stCondLst>
                            <p:childTnLst>
                              <p:par>
                                <p:cTn id="297" presetClass="entr" nodeType="afterEffect" presetID="10" grpId="74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8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99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0" fill="hold">
                            <p:stCondLst>
                              <p:cond delay="50600"/>
                            </p:stCondLst>
                            <p:childTnLst>
                              <p:par>
                                <p:cTn id="301" presetClass="entr" nodeType="afterEffect" presetID="10" grpId="75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2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03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4" fill="hold">
                            <p:stCondLst>
                              <p:cond delay="51500"/>
                            </p:stCondLst>
                            <p:childTnLst>
                              <p:par>
                                <p:cTn id="305" presetClass="entr" nodeType="afterEffect" presetID="10" grpId="76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6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07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8" fill="hold">
                            <p:stCondLst>
                              <p:cond delay="52400"/>
                            </p:stCondLst>
                            <p:childTnLst>
                              <p:par>
                                <p:cTn id="309" presetClass="entr" nodeType="afterEffect" presetID="10" grpId="77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1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2" fill="hold">
                            <p:stCondLst>
                              <p:cond delay="53300"/>
                            </p:stCondLst>
                            <p:childTnLst>
                              <p:par>
                                <p:cTn id="313" presetClass="entr" nodeType="afterEffect" presetID="10" grpId="78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4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5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6" fill="hold">
                            <p:stCondLst>
                              <p:cond delay="54200"/>
                            </p:stCondLst>
                            <p:childTnLst>
                              <p:par>
                                <p:cTn id="317" presetClass="entr" nodeType="afterEffect" presetID="10" grpId="79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8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9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5100"/>
                            </p:stCondLst>
                            <p:childTnLst>
                              <p:par>
                                <p:cTn id="321" presetClass="entr" nodeType="afterEffect" presetID="10" grpId="80" fill="hold">
                                  <p:stCondLst>
                                    <p:cond delay="5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2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23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4" fill="hold">
                            <p:stCondLst>
                              <p:cond delay="56000"/>
                            </p:stCondLst>
                            <p:childTnLst>
                              <p:par>
                                <p:cTn id="325" presetClass="entr" nodeType="afterEffect" presetID="10" grpId="8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6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2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8" fill="hold">
                            <p:stCondLst>
                              <p:cond delay="56400"/>
                            </p:stCondLst>
                            <p:childTnLst>
                              <p:par>
                                <p:cTn id="329" presetClass="entr" nodeType="afterEffect" presetID="10" grpId="8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31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2" fill="hold">
                            <p:stCondLst>
                              <p:cond delay="56800"/>
                            </p:stCondLst>
                            <p:childTnLst>
                              <p:par>
                                <p:cTn id="333" presetClass="entr" nodeType="afterEffect" presetID="10" grpId="8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4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35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6" fill="hold">
                            <p:stCondLst>
                              <p:cond delay="57200"/>
                            </p:stCondLst>
                            <p:childTnLst>
                              <p:par>
                                <p:cTn id="337" presetClass="entr" nodeType="afterEffect" presetID="10" grpId="8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8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39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57600"/>
                            </p:stCondLst>
                            <p:childTnLst>
                              <p:par>
                                <p:cTn id="341" presetClass="entr" nodeType="afterEffect" presetID="10" grpId="8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2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43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4" fill="hold">
                            <p:stCondLst>
                              <p:cond delay="58000"/>
                            </p:stCondLst>
                            <p:childTnLst>
                              <p:par>
                                <p:cTn id="345" presetClass="entr" nodeType="afterEffect" presetID="10" grpId="8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6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47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8" fill="hold">
                            <p:stCondLst>
                              <p:cond delay="58400"/>
                            </p:stCondLst>
                            <p:childTnLst>
                              <p:par>
                                <p:cTn id="349" presetClass="entr" nodeType="afterEffect" presetID="10" grpId="8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1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2" fill="hold">
                            <p:stCondLst>
                              <p:cond delay="58800"/>
                            </p:stCondLst>
                            <p:childTnLst>
                              <p:par>
                                <p:cTn id="353" presetClass="entr" nodeType="afterEffect" presetID="10" grpId="8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4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5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6" fill="hold">
                            <p:stCondLst>
                              <p:cond delay="59200"/>
                            </p:stCondLst>
                            <p:childTnLst>
                              <p:par>
                                <p:cTn id="357" presetClass="entr" nodeType="afterEffect" presetID="10" grpId="8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8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9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0" fill="hold">
                            <p:stCondLst>
                              <p:cond delay="59600"/>
                            </p:stCondLst>
                            <p:childTnLst>
                              <p:par>
                                <p:cTn id="361" presetClass="entr" nodeType="afterEffect" presetID="10" grpId="9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2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63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60000"/>
                            </p:stCondLst>
                            <p:childTnLst>
                              <p:par>
                                <p:cTn id="365" presetClass="entr" nodeType="afterEffect" presetID="10" grpId="9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6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67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8" fill="hold">
                            <p:stCondLst>
                              <p:cond delay="60400"/>
                            </p:stCondLst>
                            <p:childTnLst>
                              <p:par>
                                <p:cTn id="369" presetClass="entr" nodeType="afterEffect" presetID="10" grpId="9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71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60800"/>
                            </p:stCondLst>
                            <p:childTnLst>
                              <p:par>
                                <p:cTn id="373" presetClass="entr" nodeType="afterEffect" presetID="10" grpId="9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4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75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6" fill="hold">
                            <p:stCondLst>
                              <p:cond delay="61200"/>
                            </p:stCondLst>
                            <p:childTnLst>
                              <p:par>
                                <p:cTn id="377" presetClass="entr" nodeType="afterEffect" presetID="10" grpId="9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8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79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0" fill="hold">
                            <p:stCondLst>
                              <p:cond delay="61600"/>
                            </p:stCondLst>
                            <p:childTnLst>
                              <p:par>
                                <p:cTn id="381" presetClass="entr" nodeType="afterEffect" presetID="10" grpId="9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2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83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4" fill="hold">
                            <p:stCondLst>
                              <p:cond delay="62000"/>
                            </p:stCondLst>
                            <p:childTnLst>
                              <p:par>
                                <p:cTn id="385" presetClass="entr" nodeType="afterEffect" presetID="10" grpId="9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6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87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0" grpId="13"/>
      <p:bldP build="whole" bldLvl="1" animBg="1" rev="0" advAuto="0" spid="84" grpId="37"/>
      <p:bldP build="whole" bldLvl="1" animBg="1" rev="0" advAuto="0" spid="51" grpId="4"/>
      <p:bldP build="whole" bldLvl="1" animBg="1" rev="0" advAuto="0" spid="127" grpId="80"/>
      <p:bldP build="whole" bldLvl="1" animBg="1" rev="0" advAuto="0" spid="140" grpId="92"/>
      <p:bldP build="whole" bldLvl="1" animBg="1" rev="0" advAuto="0" spid="61" grpId="14"/>
      <p:bldP build="whole" bldLvl="1" animBg="1" rev="0" advAuto="0" spid="143" grpId="95"/>
      <p:bldP build="whole" bldLvl="1" animBg="1" rev="0" advAuto="0" spid="54" grpId="7"/>
      <p:bldP build="whole" bldLvl="1" animBg="1" rev="0" advAuto="0" spid="97" grpId="50"/>
      <p:bldP build="whole" bldLvl="1" animBg="1" rev="0" advAuto="0" spid="141" grpId="93"/>
      <p:bldP build="whole" bldLvl="1" animBg="1" rev="0" advAuto="0" spid="55" grpId="8"/>
      <p:bldP build="whole" bldLvl="1" animBg="1" rev="0" advAuto="0" spid="65" grpId="18"/>
      <p:bldP build="whole" bldLvl="1" animBg="1" rev="0" advAuto="0" spid="131" grpId="83"/>
      <p:bldP build="whole" bldLvl="1" animBg="1" rev="0" advAuto="0" spid="118" grpId="71"/>
      <p:bldP build="whole" bldLvl="1" animBg="1" rev="0" advAuto="0" spid="115" grpId="68"/>
      <p:bldP build="whole" bldLvl="1" animBg="1" rev="0" advAuto="0" spid="52" grpId="5"/>
      <p:bldP build="whole" bldLvl="1" animBg="1" rev="0" advAuto="0" spid="126" grpId="79"/>
      <p:bldP build="whole" bldLvl="1" animBg="1" rev="0" advAuto="0" spid="53" grpId="6"/>
      <p:bldP build="whole" bldLvl="1" animBg="1" rev="0" advAuto="0" spid="93" grpId="46"/>
      <p:bldP build="whole" bldLvl="1" animBg="1" rev="0" advAuto="0" spid="88" grpId="41"/>
      <p:bldP build="whole" bldLvl="1" animBg="1" rev="0" advAuto="0" spid="80" grpId="33"/>
      <p:bldP build="whole" bldLvl="1" animBg="1" rev="0" advAuto="0" spid="121" grpId="74"/>
      <p:bldP build="whole" bldLvl="1" animBg="1" rev="0" advAuto="0" spid="124" grpId="77"/>
      <p:bldP build="whole" bldLvl="1" animBg="1" rev="0" advAuto="0" spid="73" grpId="26"/>
      <p:bldP build="whole" bldLvl="1" animBg="1" rev="0" advAuto="0" spid="69" grpId="22"/>
      <p:bldP build="whole" bldLvl="1" animBg="1" rev="0" advAuto="0" spid="94" grpId="47"/>
      <p:bldP build="whole" bldLvl="1" animBg="1" rev="0" advAuto="0" spid="95" grpId="48"/>
      <p:bldP build="whole" bldLvl="1" animBg="1" rev="0" advAuto="0" spid="63" grpId="16"/>
      <p:bldP build="whole" bldLvl="1" animBg="1" rev="0" advAuto="0" spid="66" grpId="19"/>
      <p:bldP build="whole" bldLvl="1" animBg="1" rev="0" advAuto="0" spid="116" grpId="69"/>
      <p:bldP build="whole" bldLvl="1" animBg="1" rev="0" advAuto="0" spid="136" grpId="88"/>
      <p:bldP build="whole" bldLvl="1" animBg="1" rev="0" advAuto="0" spid="89" grpId="42"/>
      <p:bldP build="whole" bldLvl="1" animBg="1" rev="0" advAuto="0" spid="142" grpId="94"/>
      <p:bldP build="whole" bldLvl="1" animBg="1" rev="0" advAuto="0" spid="68" grpId="21"/>
      <p:bldP build="whole" bldLvl="1" animBg="1" rev="0" advAuto="0" spid="90" grpId="43"/>
      <p:bldP build="whole" bldLvl="1" animBg="1" rev="0" advAuto="0" spid="77" grpId="30"/>
      <p:bldP build="whole" bldLvl="1" animBg="1" rev="0" advAuto="0" spid="111" grpId="64"/>
      <p:bldP build="whole" bldLvl="1" animBg="1" rev="0" advAuto="0" spid="129" grpId="81"/>
      <p:bldP build="whole" bldLvl="1" animBg="1" rev="0" advAuto="0" spid="58" grpId="11"/>
      <p:bldP build="whole" bldLvl="1" animBg="1" rev="0" advAuto="0" spid="133" grpId="85"/>
      <p:bldP build="whole" bldLvl="1" animBg="1" rev="0" advAuto="0" spid="130" grpId="82"/>
      <p:bldP build="whole" bldLvl="1" animBg="1" rev="0" advAuto="0" spid="98" grpId="51"/>
      <p:bldP build="whole" bldLvl="1" animBg="1" rev="0" advAuto="0" spid="135" grpId="87"/>
      <p:bldP build="whole" bldLvl="1" animBg="1" rev="0" advAuto="0" spid="49" grpId="2"/>
      <p:bldP build="whole" bldLvl="1" animBg="1" rev="0" advAuto="0" spid="64" grpId="17"/>
      <p:bldP build="whole" bldLvl="1" animBg="1" rev="0" advAuto="0" spid="105" grpId="58"/>
      <p:bldP build="whole" bldLvl="1" animBg="1" rev="0" advAuto="0" spid="59" grpId="12"/>
      <p:bldP build="whole" bldLvl="1" animBg="1" rev="0" advAuto="0" spid="82" grpId="35"/>
      <p:bldP build="whole" bldLvl="1" animBg="1" rev="0" advAuto="0" spid="76" grpId="29"/>
      <p:bldP build="whole" bldLvl="1" animBg="1" rev="0" advAuto="0" spid="83" grpId="36"/>
      <p:bldP build="whole" bldLvl="1" animBg="1" rev="0" advAuto="0" spid="138" grpId="90"/>
      <p:bldP build="whole" bldLvl="1" animBg="1" rev="0" advAuto="0" spid="117" grpId="70"/>
      <p:bldP build="whole" bldLvl="1" animBg="1" rev="0" advAuto="0" spid="81" grpId="34"/>
      <p:bldP build="whole" bldLvl="1" animBg="1" rev="0" advAuto="0" spid="92" grpId="45"/>
      <p:bldP build="whole" bldLvl="1" animBg="1" rev="0" advAuto="0" spid="112" grpId="65"/>
      <p:bldP build="whole" bldLvl="1" animBg="1" rev="0" advAuto="0" spid="102" grpId="55"/>
      <p:bldP build="whole" bldLvl="1" animBg="1" rev="0" advAuto="0" spid="107" grpId="60"/>
      <p:bldP build="whole" bldLvl="1" animBg="1" rev="0" advAuto="0" spid="62" grpId="15"/>
      <p:bldP build="whole" bldLvl="1" animBg="1" rev="0" advAuto="0" spid="71" grpId="24"/>
      <p:bldP build="whole" bldLvl="1" animBg="1" rev="0" advAuto="0" spid="101" grpId="54"/>
      <p:bldP build="whole" bldLvl="1" animBg="1" rev="0" advAuto="0" spid="100" grpId="53"/>
      <p:bldP build="whole" bldLvl="1" animBg="1" rev="0" advAuto="0" spid="110" grpId="63"/>
      <p:bldP build="whole" bldLvl="1" animBg="1" rev="0" advAuto="0" spid="123" grpId="76"/>
      <p:bldP build="whole" bldLvl="1" animBg="1" rev="0" advAuto="0" spid="132" grpId="84"/>
      <p:bldP build="whole" bldLvl="1" animBg="1" rev="0" advAuto="0" spid="144" grpId="96"/>
      <p:bldP build="whole" bldLvl="1" animBg="1" rev="0" advAuto="0" spid="70" grpId="23"/>
      <p:bldP build="whole" bldLvl="1" animBg="1" rev="0" advAuto="0" spid="75" grpId="28"/>
      <p:bldP build="whole" bldLvl="1" animBg="1" rev="0" advAuto="0" spid="106" grpId="59"/>
      <p:bldP build="whole" bldLvl="1" animBg="1" rev="0" advAuto="0" spid="113" grpId="66"/>
      <p:bldP build="whole" bldLvl="1" animBg="1" rev="0" advAuto="0" spid="91" grpId="44"/>
      <p:bldP build="whole" bldLvl="1" animBg="1" rev="0" advAuto="0" spid="72" grpId="25"/>
      <p:bldP build="whole" bldLvl="1" animBg="1" rev="0" advAuto="0" spid="139" grpId="91"/>
      <p:bldP build="whole" bldLvl="1" animBg="1" rev="0" advAuto="0" spid="50" grpId="3"/>
      <p:bldP build="whole" bldLvl="1" animBg="1" rev="0" advAuto="0" spid="87" grpId="40"/>
      <p:bldP build="whole" bldLvl="1" animBg="1" rev="0" advAuto="0" spid="57" grpId="10"/>
      <p:bldP build="whole" bldLvl="1" animBg="1" rev="0" advAuto="0" spid="114" grpId="67"/>
      <p:bldP build="whole" bldLvl="1" animBg="1" rev="0" advAuto="0" spid="48" grpId="1"/>
      <p:bldP build="whole" bldLvl="1" animBg="1" rev="0" advAuto="0" spid="85" grpId="38"/>
      <p:bldP build="whole" bldLvl="1" animBg="1" rev="0" advAuto="0" spid="109" grpId="62"/>
      <p:bldP build="whole" bldLvl="1" animBg="1" rev="0" advAuto="0" spid="56" grpId="9"/>
      <p:bldP build="whole" bldLvl="1" animBg="1" rev="0" advAuto="0" spid="78" grpId="31"/>
      <p:bldP build="whole" bldLvl="1" animBg="1" rev="0" advAuto="0" spid="122" grpId="75"/>
      <p:bldP build="whole" bldLvl="1" animBg="1" rev="0" advAuto="0" spid="134" grpId="86"/>
      <p:bldP build="whole" bldLvl="1" animBg="1" rev="0" advAuto="0" spid="119" grpId="72"/>
      <p:bldP build="whole" bldLvl="1" animBg="1" rev="0" advAuto="0" spid="103" grpId="56"/>
      <p:bldP build="whole" bldLvl="1" animBg="1" rev="0" advAuto="0" spid="137" grpId="89"/>
      <p:bldP build="whole" bldLvl="1" animBg="1" rev="0" advAuto="0" spid="74" grpId="27"/>
      <p:bldP build="whole" bldLvl="1" animBg="1" rev="0" advAuto="0" spid="96" grpId="49"/>
      <p:bldP build="whole" bldLvl="1" animBg="1" rev="0" advAuto="0" spid="67" grpId="20"/>
      <p:bldP build="whole" bldLvl="1" animBg="1" rev="0" advAuto="0" spid="120" grpId="73"/>
      <p:bldP build="whole" bldLvl="1" animBg="1" rev="0" advAuto="0" spid="125" grpId="78"/>
      <p:bldP build="whole" bldLvl="1" animBg="1" rev="0" advAuto="0" spid="86" grpId="39"/>
      <p:bldP build="whole" bldLvl="1" animBg="1" rev="0" advAuto="0" spid="104" grpId="57"/>
      <p:bldP build="whole" bldLvl="1" animBg="1" rev="0" advAuto="0" spid="99" grpId="52"/>
      <p:bldP build="whole" bldLvl="1" animBg="1" rev="0" advAuto="0" spid="108" grpId="61"/>
      <p:bldP build="whole" bldLvl="1" animBg="1" rev="0" advAuto="0" spid="79" grpId="32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 txBox="1"/>
          <p:nvPr>
            <p:ph type="body" sz="quarter" idx="1"/>
          </p:nvPr>
        </p:nvSpPr>
        <p:spPr>
          <a:xfrm>
            <a:off x="548640" y="384047"/>
            <a:ext cx="8229601" cy="256033"/>
          </a:xfrm>
          <a:prstGeom prst="rect">
            <a:avLst/>
          </a:prstGeom>
        </p:spPr>
        <p:txBody>
          <a:bodyPr lIns="0" tIns="0" rIns="0" bIns="0" anchor="b"/>
          <a:lstStyle/>
          <a:p>
            <a:pPr/>
            <a:r>
              <a:t>LE PROJET · ARCHITECTURE</a:t>
            </a:r>
          </a:p>
        </p:txBody>
      </p:sp>
      <p:sp>
        <p:nvSpPr>
          <p:cNvPr id="149" name="Text 0"/>
          <p:cNvSpPr txBox="1"/>
          <p:nvPr>
            <p:ph type="title"/>
          </p:nvPr>
        </p:nvSpPr>
        <p:spPr>
          <a:xfrm>
            <a:off x="548638" y="676655"/>
            <a:ext cx="11094419" cy="566930"/>
          </a:xfrm>
          <a:prstGeom prst="rect">
            <a:avLst/>
          </a:prstGeom>
        </p:spPr>
        <p:txBody>
          <a:bodyPr lIns="0" tIns="0" rIns="0" bIns="0"/>
          <a:lstStyle/>
          <a:p>
            <a:pPr/>
            <a:r>
              <a:t>Une seule porte, une boucle qui se referme</a:t>
            </a:r>
          </a:p>
        </p:txBody>
      </p:sp>
      <p:sp>
        <p:nvSpPr>
          <p:cNvPr id="150" name="texte 92"/>
          <p:cNvSpPr txBox="1"/>
          <p:nvPr/>
        </p:nvSpPr>
        <p:spPr>
          <a:xfrm>
            <a:off x="548639" y="1463038"/>
            <a:ext cx="365760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CHEMIN MÉTIER</a:t>
            </a:r>
          </a:p>
        </p:txBody>
      </p:sp>
      <p:sp>
        <p:nvSpPr>
          <p:cNvPr id="151" name="carte 93"/>
          <p:cNvSpPr/>
          <p:nvPr/>
        </p:nvSpPr>
        <p:spPr>
          <a:xfrm>
            <a:off x="548640" y="1810511"/>
            <a:ext cx="2567865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2" name="onglet 94"/>
          <p:cNvSpPr/>
          <p:nvPr/>
        </p:nvSpPr>
        <p:spPr>
          <a:xfrm>
            <a:off x="749808" y="1810511"/>
            <a:ext cx="502920" cy="4572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3" name="tuile 95"/>
          <p:cNvSpPr/>
          <p:nvPr/>
        </p:nvSpPr>
        <p:spPr>
          <a:xfrm>
            <a:off x="749808" y="2112264"/>
            <a:ext cx="457202" cy="457202"/>
          </a:xfrm>
          <a:prstGeom prst="roundRect">
            <a:avLst>
              <a:gd name="adj" fmla="val 16000"/>
            </a:avLst>
          </a:prstGeom>
          <a:solidFill>
            <a:schemeClr val="accent2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54" name="icône 96" descr="icône 9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0391" y="2212848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e 97"/>
          <p:cNvSpPr txBox="1"/>
          <p:nvPr/>
        </p:nvSpPr>
        <p:spPr>
          <a:xfrm>
            <a:off x="1371600" y="2048255"/>
            <a:ext cx="1607745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PC Attaquant</a:t>
            </a:r>
          </a:p>
        </p:txBody>
      </p:sp>
      <p:sp>
        <p:nvSpPr>
          <p:cNvPr id="156" name="texte 98"/>
          <p:cNvSpPr txBox="1"/>
          <p:nvPr/>
        </p:nvSpPr>
        <p:spPr>
          <a:xfrm>
            <a:off x="1371600" y="2340864"/>
            <a:ext cx="1607745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hotspot du projet, 4 scénarios bornés</a:t>
            </a:r>
          </a:p>
        </p:txBody>
      </p:sp>
      <p:sp>
        <p:nvSpPr>
          <p:cNvPr id="157" name="flèche 99"/>
          <p:cNvSpPr/>
          <p:nvPr/>
        </p:nvSpPr>
        <p:spPr>
          <a:xfrm>
            <a:off x="3162224" y="2336292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8" name="carte 100"/>
          <p:cNvSpPr/>
          <p:nvPr/>
        </p:nvSpPr>
        <p:spPr>
          <a:xfrm>
            <a:off x="3390824" y="1810511"/>
            <a:ext cx="2567866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 w="15875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9" name="onglet 101"/>
          <p:cNvSpPr/>
          <p:nvPr/>
        </p:nvSpPr>
        <p:spPr>
          <a:xfrm>
            <a:off x="3591990" y="1810511"/>
            <a:ext cx="502922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0" name="tuile 102"/>
          <p:cNvSpPr/>
          <p:nvPr/>
        </p:nvSpPr>
        <p:spPr>
          <a:xfrm>
            <a:off x="3591990" y="2112264"/>
            <a:ext cx="457202" cy="457202"/>
          </a:xfrm>
          <a:prstGeom prst="roundRect">
            <a:avLst>
              <a:gd name="adj" fmla="val 16000"/>
            </a:avLst>
          </a:prstGeom>
          <a:solidFill>
            <a:schemeClr val="accent1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61" name="icône 103" descr="icône 10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692576" y="2212848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xte 104"/>
          <p:cNvSpPr txBox="1"/>
          <p:nvPr/>
        </p:nvSpPr>
        <p:spPr>
          <a:xfrm>
            <a:off x="4213783" y="2048255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WAF</a:t>
            </a:r>
          </a:p>
        </p:txBody>
      </p:sp>
      <p:sp>
        <p:nvSpPr>
          <p:cNvPr id="163" name="texte 105"/>
          <p:cNvSpPr txBox="1"/>
          <p:nvPr/>
        </p:nvSpPr>
        <p:spPr>
          <a:xfrm>
            <a:off x="4213783" y="2340864"/>
            <a:ext cx="1607746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ModSecurity + CRS, seul exposé</a:t>
            </a:r>
          </a:p>
        </p:txBody>
      </p:sp>
      <p:sp>
        <p:nvSpPr>
          <p:cNvPr id="164" name="flèche 106"/>
          <p:cNvSpPr/>
          <p:nvPr/>
        </p:nvSpPr>
        <p:spPr>
          <a:xfrm>
            <a:off x="6004407" y="2336292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5" name="carte 107"/>
          <p:cNvSpPr/>
          <p:nvPr/>
        </p:nvSpPr>
        <p:spPr>
          <a:xfrm>
            <a:off x="6233007" y="1810511"/>
            <a:ext cx="2567866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6" name="onglet 108"/>
          <p:cNvSpPr/>
          <p:nvPr/>
        </p:nvSpPr>
        <p:spPr>
          <a:xfrm>
            <a:off x="6434175" y="1810511"/>
            <a:ext cx="502920" cy="45722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7" name="tuile 109"/>
          <p:cNvSpPr/>
          <p:nvPr/>
        </p:nvSpPr>
        <p:spPr>
          <a:xfrm>
            <a:off x="6434175" y="2112264"/>
            <a:ext cx="457202" cy="457202"/>
          </a:xfrm>
          <a:prstGeom prst="roundRect">
            <a:avLst>
              <a:gd name="adj" fmla="val 16000"/>
            </a:avLst>
          </a:prstGeom>
          <a:solidFill>
            <a:schemeClr val="accent4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68" name="icône 110" descr="icône 110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534760" y="2212848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texte 111"/>
          <p:cNvSpPr txBox="1"/>
          <p:nvPr/>
        </p:nvSpPr>
        <p:spPr>
          <a:xfrm>
            <a:off x="7055966" y="2048255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Services</a:t>
            </a:r>
          </a:p>
        </p:txBody>
      </p:sp>
      <p:sp>
        <p:nvSpPr>
          <p:cNvPr id="170" name="texte 112"/>
          <p:cNvSpPr txBox="1"/>
          <p:nvPr/>
        </p:nvSpPr>
        <p:spPr>
          <a:xfrm>
            <a:off x="7055966" y="2340864"/>
            <a:ext cx="160774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front · auth · payment-api ×3</a:t>
            </a:r>
          </a:p>
        </p:txBody>
      </p:sp>
      <p:sp>
        <p:nvSpPr>
          <p:cNvPr id="171" name="flèche 113"/>
          <p:cNvSpPr/>
          <p:nvPr/>
        </p:nvSpPr>
        <p:spPr>
          <a:xfrm>
            <a:off x="8846591" y="2336292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carte 114"/>
          <p:cNvSpPr/>
          <p:nvPr/>
        </p:nvSpPr>
        <p:spPr>
          <a:xfrm>
            <a:off x="9075191" y="1810511"/>
            <a:ext cx="2567865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3" name="onglet 115"/>
          <p:cNvSpPr/>
          <p:nvPr/>
        </p:nvSpPr>
        <p:spPr>
          <a:xfrm>
            <a:off x="9276359" y="1810511"/>
            <a:ext cx="502920" cy="45722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4" name="tuile 116"/>
          <p:cNvSpPr/>
          <p:nvPr/>
        </p:nvSpPr>
        <p:spPr>
          <a:xfrm>
            <a:off x="9276359" y="2112264"/>
            <a:ext cx="457202" cy="457202"/>
          </a:xfrm>
          <a:prstGeom prst="roundRect">
            <a:avLst>
              <a:gd name="adj" fmla="val 16000"/>
            </a:avLst>
          </a:prstGeom>
          <a:solidFill>
            <a:schemeClr val="accent4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75" name="icône 117" descr="icône 11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376943" y="2212848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texte 118"/>
          <p:cNvSpPr txBox="1"/>
          <p:nvPr/>
        </p:nvSpPr>
        <p:spPr>
          <a:xfrm>
            <a:off x="9898150" y="2048255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PostgreSQL 16</a:t>
            </a:r>
          </a:p>
        </p:txBody>
      </p:sp>
      <p:sp>
        <p:nvSpPr>
          <p:cNvPr id="177" name="texte 119"/>
          <p:cNvSpPr txBox="1"/>
          <p:nvPr/>
        </p:nvSpPr>
        <p:spPr>
          <a:xfrm>
            <a:off x="9898150" y="2340864"/>
            <a:ext cx="160774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réseau data interne</a:t>
            </a:r>
          </a:p>
        </p:txBody>
      </p:sp>
      <p:sp>
        <p:nvSpPr>
          <p:cNvPr id="178" name="flèche 120"/>
          <p:cNvSpPr/>
          <p:nvPr/>
        </p:nvSpPr>
        <p:spPr>
          <a:xfrm>
            <a:off x="10359121" y="2916934"/>
            <a:ext cx="3" cy="1069850"/>
          </a:xfrm>
          <a:prstGeom prst="line">
            <a:avLst/>
          </a:prstGeom>
          <a:ln w="19050">
            <a:solidFill>
              <a:schemeClr val="accent3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9" name="texte 121"/>
          <p:cNvSpPr txBox="1"/>
          <p:nvPr/>
        </p:nvSpPr>
        <p:spPr>
          <a:xfrm>
            <a:off x="8118843" y="3332988"/>
            <a:ext cx="21031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métriques · journaux</a:t>
            </a:r>
          </a:p>
        </p:txBody>
      </p:sp>
      <p:sp>
        <p:nvSpPr>
          <p:cNvPr id="180" name="texte 122"/>
          <p:cNvSpPr txBox="1"/>
          <p:nvPr/>
        </p:nvSpPr>
        <p:spPr>
          <a:xfrm>
            <a:off x="548639" y="3694176"/>
            <a:ext cx="365760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200"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BOUCLE DE REPRISE</a:t>
            </a:r>
          </a:p>
        </p:txBody>
      </p:sp>
      <p:sp>
        <p:nvSpPr>
          <p:cNvPr id="181" name="carte 123"/>
          <p:cNvSpPr/>
          <p:nvPr/>
        </p:nvSpPr>
        <p:spPr>
          <a:xfrm>
            <a:off x="9075191" y="4041647"/>
            <a:ext cx="2567865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2" name="onglet 124"/>
          <p:cNvSpPr/>
          <p:nvPr/>
        </p:nvSpPr>
        <p:spPr>
          <a:xfrm>
            <a:off x="9276359" y="4041647"/>
            <a:ext cx="502920" cy="45722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3" name="tuile 125"/>
          <p:cNvSpPr/>
          <p:nvPr/>
        </p:nvSpPr>
        <p:spPr>
          <a:xfrm>
            <a:off x="9276359" y="4343400"/>
            <a:ext cx="457202" cy="457200"/>
          </a:xfrm>
          <a:prstGeom prst="roundRect">
            <a:avLst>
              <a:gd name="adj" fmla="val 16000"/>
            </a:avLst>
          </a:prstGeom>
          <a:solidFill>
            <a:schemeClr val="accent3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84" name="icône 126" descr="icône 12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9376943" y="4443984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texte 127"/>
          <p:cNvSpPr txBox="1"/>
          <p:nvPr/>
        </p:nvSpPr>
        <p:spPr>
          <a:xfrm>
            <a:off x="9898150" y="4279391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Observabilité</a:t>
            </a:r>
          </a:p>
        </p:txBody>
      </p:sp>
      <p:sp>
        <p:nvSpPr>
          <p:cNvPr id="186" name="texte 128"/>
          <p:cNvSpPr txBox="1"/>
          <p:nvPr/>
        </p:nvSpPr>
        <p:spPr>
          <a:xfrm>
            <a:off x="9898150" y="4572000"/>
            <a:ext cx="1607746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Prometheus · Loki, chaque seconde</a:t>
            </a:r>
          </a:p>
        </p:txBody>
      </p:sp>
      <p:sp>
        <p:nvSpPr>
          <p:cNvPr id="187" name="flèche 129"/>
          <p:cNvSpPr/>
          <p:nvPr/>
        </p:nvSpPr>
        <p:spPr>
          <a:xfrm>
            <a:off x="8846591" y="4567428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head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8" name="carte 130"/>
          <p:cNvSpPr/>
          <p:nvPr/>
        </p:nvSpPr>
        <p:spPr>
          <a:xfrm>
            <a:off x="6233007" y="4041647"/>
            <a:ext cx="2567866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9" name="onglet 131"/>
          <p:cNvSpPr/>
          <p:nvPr/>
        </p:nvSpPr>
        <p:spPr>
          <a:xfrm>
            <a:off x="6434175" y="4041647"/>
            <a:ext cx="502920" cy="45722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0" name="tuile 132"/>
          <p:cNvSpPr/>
          <p:nvPr/>
        </p:nvSpPr>
        <p:spPr>
          <a:xfrm>
            <a:off x="6434175" y="4343400"/>
            <a:ext cx="457202" cy="457200"/>
          </a:xfrm>
          <a:prstGeom prst="roundRect">
            <a:avLst>
              <a:gd name="adj" fmla="val 16000"/>
            </a:avLst>
          </a:prstGeom>
          <a:solidFill>
            <a:schemeClr val="accent3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91" name="icône 133" descr="icône 133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534760" y="4443984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texte 134"/>
          <p:cNvSpPr txBox="1"/>
          <p:nvPr/>
        </p:nvSpPr>
        <p:spPr>
          <a:xfrm>
            <a:off x="7055966" y="4279391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Détection ML</a:t>
            </a:r>
          </a:p>
        </p:txBody>
      </p:sp>
      <p:sp>
        <p:nvSpPr>
          <p:cNvPr id="193" name="texte 135"/>
          <p:cNvSpPr txBox="1"/>
          <p:nvPr/>
        </p:nvSpPr>
        <p:spPr>
          <a:xfrm>
            <a:off x="7055966" y="4572000"/>
            <a:ext cx="1607746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IsolationForest → AnomalyEvent</a:t>
            </a:r>
          </a:p>
        </p:txBody>
      </p:sp>
      <p:sp>
        <p:nvSpPr>
          <p:cNvPr id="194" name="flèche 136"/>
          <p:cNvSpPr/>
          <p:nvPr/>
        </p:nvSpPr>
        <p:spPr>
          <a:xfrm>
            <a:off x="6004407" y="4567428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head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5" name="carte 137"/>
          <p:cNvSpPr/>
          <p:nvPr/>
        </p:nvSpPr>
        <p:spPr>
          <a:xfrm>
            <a:off x="3390824" y="4041647"/>
            <a:ext cx="2567866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6" name="onglet 138"/>
          <p:cNvSpPr/>
          <p:nvPr/>
        </p:nvSpPr>
        <p:spPr>
          <a:xfrm>
            <a:off x="3591990" y="4041647"/>
            <a:ext cx="502922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7" name="tuile 139"/>
          <p:cNvSpPr/>
          <p:nvPr/>
        </p:nvSpPr>
        <p:spPr>
          <a:xfrm>
            <a:off x="3591990" y="4343400"/>
            <a:ext cx="45720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98" name="icône 140" descr="icône 14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3692576" y="4443984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texte 141"/>
          <p:cNvSpPr txBox="1"/>
          <p:nvPr/>
        </p:nvSpPr>
        <p:spPr>
          <a:xfrm>
            <a:off x="4213783" y="4279391"/>
            <a:ext cx="1607746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Remédiation</a:t>
            </a:r>
          </a:p>
        </p:txBody>
      </p:sp>
      <p:sp>
        <p:nvSpPr>
          <p:cNvPr id="200" name="texte 142"/>
          <p:cNvSpPr txBox="1"/>
          <p:nvPr/>
        </p:nvSpPr>
        <p:spPr>
          <a:xfrm>
            <a:off x="4213783" y="4572000"/>
            <a:ext cx="1607746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table de décision, jamais exposée</a:t>
            </a:r>
          </a:p>
        </p:txBody>
      </p:sp>
      <p:sp>
        <p:nvSpPr>
          <p:cNvPr id="201" name="flèche 143"/>
          <p:cNvSpPr/>
          <p:nvPr/>
        </p:nvSpPr>
        <p:spPr>
          <a:xfrm>
            <a:off x="3162224" y="4567428"/>
            <a:ext cx="182882" cy="2"/>
          </a:xfrm>
          <a:prstGeom prst="line">
            <a:avLst/>
          </a:prstGeom>
          <a:ln w="19050">
            <a:solidFill>
              <a:schemeClr val="accent5"/>
            </a:solidFill>
            <a:head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carte 144"/>
          <p:cNvSpPr/>
          <p:nvPr/>
        </p:nvSpPr>
        <p:spPr>
          <a:xfrm>
            <a:off x="548640" y="4041647"/>
            <a:ext cx="2567865" cy="1051562"/>
          </a:xfrm>
          <a:prstGeom prst="roundRect">
            <a:avLst>
              <a:gd name="adj" fmla="val 6957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3" name="onglet 145"/>
          <p:cNvSpPr/>
          <p:nvPr/>
        </p:nvSpPr>
        <p:spPr>
          <a:xfrm>
            <a:off x="749808" y="4041647"/>
            <a:ext cx="502920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4" name="tuile 146"/>
          <p:cNvSpPr/>
          <p:nvPr/>
        </p:nvSpPr>
        <p:spPr>
          <a:xfrm>
            <a:off x="749808" y="4343400"/>
            <a:ext cx="45720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5000"/>
            </a:scheme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205" name="icône 147" descr="icône 147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850391" y="4443984"/>
            <a:ext cx="256034" cy="256034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exte 148"/>
          <p:cNvSpPr txBox="1"/>
          <p:nvPr/>
        </p:nvSpPr>
        <p:spPr>
          <a:xfrm>
            <a:off x="1371600" y="4279391"/>
            <a:ext cx="1607745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Preuve</a:t>
            </a:r>
          </a:p>
        </p:txBody>
      </p:sp>
      <p:sp>
        <p:nvSpPr>
          <p:cNvPr id="207" name="texte 149"/>
          <p:cNvSpPr txBox="1"/>
          <p:nvPr/>
        </p:nvSpPr>
        <p:spPr>
          <a:xfrm>
            <a:off x="1371600" y="4572000"/>
            <a:ext cx="1607745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3AEC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verify_tx + timeline au dashboard</a:t>
            </a:r>
          </a:p>
        </p:txBody>
      </p:sp>
      <p:sp>
        <p:nvSpPr>
          <p:cNvPr id="208" name="flèche 150"/>
          <p:cNvSpPr/>
          <p:nvPr/>
        </p:nvSpPr>
        <p:spPr>
          <a:xfrm>
            <a:off x="4674756" y="2916934"/>
            <a:ext cx="2" cy="1069850"/>
          </a:xfrm>
          <a:prstGeom prst="line">
            <a:avLst/>
          </a:prstGeom>
          <a:ln w="19050">
            <a:solidFill>
              <a:schemeClr val="accent1"/>
            </a:solidFill>
            <a:head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texte 151"/>
          <p:cNvSpPr txBox="1"/>
          <p:nvPr/>
        </p:nvSpPr>
        <p:spPr>
          <a:xfrm>
            <a:off x="4811914" y="3332988"/>
            <a:ext cx="292608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bloque l'IP · redémarre · restaure</a:t>
            </a:r>
          </a:p>
        </p:txBody>
      </p:sp>
      <p:sp>
        <p:nvSpPr>
          <p:cNvPr id="210" name="texte 152"/>
          <p:cNvSpPr txBox="1"/>
          <p:nvPr/>
        </p:nvSpPr>
        <p:spPr>
          <a:xfrm>
            <a:off x="548638" y="5715000"/>
            <a:ext cx="11094419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Seuls 80/443 publiés   ·   réseaux data et obs internes   ·   Docker via un proxy : 5 appels autorisés</a:t>
            </a:r>
          </a:p>
        </p:txBody>
      </p:sp>
      <p:sp>
        <p:nvSpPr>
          <p:cNvPr id="211" name="Slide Number Placeholder 0"/>
          <p:cNvSpPr txBox="1"/>
          <p:nvPr>
            <p:ph type="sldNum" sz="quarter" idx="4294967295"/>
          </p:nvPr>
        </p:nvSpPr>
        <p:spPr>
          <a:xfrm>
            <a:off x="11480982" y="6400800"/>
            <a:ext cx="162071" cy="20591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500">
        <p:fade/>
      </p:transition>
    </mc:Choice>
    <mc:Fallback>
      <p:transition spd="fast">
        <p:fade/>
      </p:transition>
    </mc:Fallback>
  </mc:AlternateContent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Class="entr" nodeType="afterEffect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Class="entr" nodeType="afterEffect" presetID="10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" dur="4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Class="entr" nodeType="afterEffect" presetID="10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" dur="4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Class="entr" nodeType="afterEffect" presetID="10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" dur="4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Class="entr" nodeType="afterEffect" presetID="10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" dur="4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Class="entr" nodeType="afterEffect" presetID="10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" dur="4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Class="entr" nodeType="afterEffect" presetID="10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" dur="4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200"/>
                            </p:stCondLst>
                            <p:childTnLst>
                              <p:par>
                                <p:cTn id="37" presetClass="entr" nodeType="afterEffect" presetID="10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9" dur="4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600"/>
                            </p:stCondLst>
                            <p:childTnLst>
                              <p:par>
                                <p:cTn id="41" presetClass="entr" nodeType="afterEffect" presetID="10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3" dur="4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Class="entr" nodeType="afterEffect" presetID="10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7" dur="4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400"/>
                            </p:stCondLst>
                            <p:childTnLst>
                              <p:par>
                                <p:cTn id="49" presetClass="entr" nodeType="afterEffect" presetID="10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1" dur="4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800"/>
                            </p:stCondLst>
                            <p:childTnLst>
                              <p:par>
                                <p:cTn id="53" presetClass="entr" nodeType="afterEffect" presetID="10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5" dur="4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200"/>
                            </p:stCondLst>
                            <p:childTnLst>
                              <p:par>
                                <p:cTn id="57" presetClass="entr" nodeType="afterEffect" presetID="10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9" dur="4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600"/>
                            </p:stCondLst>
                            <p:childTnLst>
                              <p:par>
                                <p:cTn id="61" presetClass="entr" nodeType="afterEffect" presetID="10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3" dur="4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000"/>
                            </p:stCondLst>
                            <p:childTnLst>
                              <p:par>
                                <p:cTn id="65" presetClass="entr" nodeType="afterEffect" presetID="10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7" dur="4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6400"/>
                            </p:stCondLst>
                            <p:childTnLst>
                              <p:par>
                                <p:cTn id="69" presetClass="entr" nodeType="afterEffect" presetID="10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1" dur="4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800"/>
                            </p:stCondLst>
                            <p:childTnLst>
                              <p:par>
                                <p:cTn id="73" presetClass="entr" nodeType="afterEffect" presetID="10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5" dur="4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200"/>
                            </p:stCondLst>
                            <p:childTnLst>
                              <p:par>
                                <p:cTn id="77" presetClass="entr" nodeType="afterEffect" presetID="10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9" dur="4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600"/>
                            </p:stCondLst>
                            <p:childTnLst>
                              <p:par>
                                <p:cTn id="81" presetClass="entr" nodeType="afterEffect" presetID="10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3" dur="4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000"/>
                            </p:stCondLst>
                            <p:childTnLst>
                              <p:par>
                                <p:cTn id="85" presetClass="entr" nodeType="afterEffect" presetID="10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7" dur="4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8400"/>
                            </p:stCondLst>
                            <p:childTnLst>
                              <p:par>
                                <p:cTn id="89" presetClass="entr" nodeType="afterEffect" presetID="10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1" dur="4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8800"/>
                            </p:stCondLst>
                            <p:childTnLst>
                              <p:par>
                                <p:cTn id="93" presetClass="entr" nodeType="afterEffect" presetID="10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5" dur="4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9200"/>
                            </p:stCondLst>
                            <p:childTnLst>
                              <p:par>
                                <p:cTn id="97" presetClass="entr" nodeType="afterEffect" presetID="10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9" dur="4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9600"/>
                            </p:stCondLst>
                            <p:childTnLst>
                              <p:par>
                                <p:cTn id="101" presetClass="entr" nodeType="afterEffect" presetID="10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3" dur="4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000"/>
                            </p:stCondLst>
                            <p:childTnLst>
                              <p:par>
                                <p:cTn id="105" presetClass="entr" nodeType="afterEffect" presetID="10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7" dur="4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0400"/>
                            </p:stCondLst>
                            <p:childTnLst>
                              <p:par>
                                <p:cTn id="109" presetClass="entr" nodeType="afterEffect" presetID="10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1" dur="4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800"/>
                            </p:stCondLst>
                            <p:childTnLst>
                              <p:par>
                                <p:cTn id="113" presetClass="entr" nodeType="afterEffect" presetID="10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5" dur="4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1200"/>
                            </p:stCondLst>
                            <p:childTnLst>
                              <p:par>
                                <p:cTn id="117" presetClass="entr" nodeType="afterEffect" presetID="10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9" dur="4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1600"/>
                            </p:stCondLst>
                            <p:childTnLst>
                              <p:par>
                                <p:cTn id="121" presetClass="entr" nodeType="afterEffect" presetID="10" grpId="3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3" dur="4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Class="entr" nodeType="clickEffect" presetID="10" grpId="3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8" dur="4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400"/>
                            </p:stCondLst>
                            <p:childTnLst>
                              <p:par>
                                <p:cTn id="130" presetClass="entr" nodeType="afterEffect" presetID="10" grpId="3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1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2" dur="4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800"/>
                            </p:stCondLst>
                            <p:childTnLst>
                              <p:par>
                                <p:cTn id="134" presetClass="entr" nodeType="afterEffect" presetID="10" grpId="3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6" dur="4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04" grpId="27"/>
      <p:bldP build="whole" bldLvl="1" animBg="1" rev="0" advAuto="0" spid="209" grpId="32"/>
      <p:bldP build="whole" bldLvl="1" animBg="1" rev="0" advAuto="0" spid="201" grpId="24"/>
      <p:bldP build="whole" bldLvl="1" animBg="1" rev="0" advAuto="0" spid="182" grpId="5"/>
      <p:bldP build="whole" bldLvl="1" animBg="1" rev="0" advAuto="0" spid="210" grpId="33"/>
      <p:bldP build="whole" bldLvl="1" animBg="1" rev="0" advAuto="0" spid="184" grpId="7"/>
      <p:bldP build="whole" bldLvl="1" animBg="1" rev="0" advAuto="0" spid="199" grpId="22"/>
      <p:bldP build="whole" bldLvl="1" animBg="1" rev="0" advAuto="0" spid="192" grpId="15"/>
      <p:bldP build="whole" bldLvl="1" animBg="1" rev="0" advAuto="0" spid="205" grpId="28"/>
      <p:bldP build="whole" bldLvl="1" animBg="1" rev="0" advAuto="0" spid="207" grpId="30"/>
      <p:bldP build="whole" bldLvl="1" animBg="1" rev="0" advAuto="0" spid="196" grpId="19"/>
      <p:bldP build="whole" bldLvl="1" animBg="1" rev="0" advAuto="0" spid="191" grpId="14"/>
      <p:bldP build="whole" bldLvl="1" animBg="1" rev="0" advAuto="0" spid="206" grpId="29"/>
      <p:bldP build="whole" bldLvl="1" animBg="1" rev="0" advAuto="0" spid="180" grpId="3"/>
      <p:bldP build="whole" bldLvl="1" animBg="1" rev="0" advAuto="0" spid="200" grpId="23"/>
      <p:bldP build="whole" bldLvl="1" animBg="1" rev="0" advAuto="0" spid="178" grpId="1"/>
      <p:bldP build="whole" bldLvl="1" animBg="1" rev="0" advAuto="0" spid="194" grpId="17"/>
      <p:bldP build="whole" bldLvl="1" animBg="1" rev="0" advAuto="0" spid="198" grpId="21"/>
      <p:bldP build="whole" bldLvl="1" animBg="1" rev="0" advAuto="0" spid="190" grpId="13"/>
      <p:bldP build="whole" bldLvl="1" animBg="1" rev="0" advAuto="0" spid="181" grpId="4"/>
      <p:bldP build="whole" bldLvl="1" animBg="1" rev="0" advAuto="0" spid="185" grpId="8"/>
      <p:bldP build="whole" bldLvl="1" animBg="1" rev="0" advAuto="0" spid="183" grpId="6"/>
      <p:bldP build="whole" bldLvl="1" animBg="1" rev="0" advAuto="0" spid="195" grpId="18"/>
      <p:bldP build="whole" bldLvl="1" animBg="1" rev="0" advAuto="0" spid="197" grpId="20"/>
      <p:bldP build="whole" bldLvl="1" animBg="1" rev="0" advAuto="0" spid="186" grpId="9"/>
      <p:bldP build="whole" bldLvl="1" animBg="1" rev="0" advAuto="0" spid="208" grpId="31"/>
      <p:bldP build="whole" bldLvl="1" animBg="1" rev="0" advAuto="0" spid="188" grpId="11"/>
      <p:bldP build="whole" bldLvl="1" animBg="1" rev="0" advAuto="0" spid="187" grpId="10"/>
      <p:bldP build="whole" bldLvl="1" animBg="1" rev="0" advAuto="0" spid="193" grpId="16"/>
      <p:bldP build="whole" bldLvl="1" animBg="1" rev="0" advAuto="0" spid="202" grpId="25"/>
      <p:bldP build="whole" bldLvl="1" animBg="1" rev="0" advAuto="0" spid="179" grpId="2"/>
      <p:bldP build="whole" bldLvl="1" animBg="1" rev="0" advAuto="0" spid="203" grpId="26"/>
      <p:bldP build="whole" bldLvl="1" animBg="1" rev="0" advAuto="0" spid="189" grpId="1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 txBox="1"/>
          <p:nvPr>
            <p:ph type="body" sz="quarter" idx="1"/>
          </p:nvPr>
        </p:nvSpPr>
        <p:spPr>
          <a:xfrm>
            <a:off x="548640" y="384047"/>
            <a:ext cx="8229601" cy="256033"/>
          </a:xfrm>
          <a:prstGeom prst="rect">
            <a:avLst/>
          </a:prstGeom>
        </p:spPr>
        <p:txBody>
          <a:bodyPr lIns="0" tIns="0" rIns="0" bIns="0" anchor="b"/>
          <a:lstStyle/>
          <a:p>
            <a:pPr/>
            <a:r>
              <a:t>LE PROJET · LA DÉMO</a:t>
            </a:r>
          </a:p>
        </p:txBody>
      </p:sp>
      <p:sp>
        <p:nvSpPr>
          <p:cNvPr id="216" name="Text 0"/>
          <p:cNvSpPr txBox="1"/>
          <p:nvPr>
            <p:ph type="title"/>
          </p:nvPr>
        </p:nvSpPr>
        <p:spPr>
          <a:xfrm>
            <a:off x="548638" y="676655"/>
            <a:ext cx="11094419" cy="566930"/>
          </a:xfrm>
          <a:prstGeom prst="rect">
            <a:avLst/>
          </a:prstGeom>
        </p:spPr>
        <p:txBody>
          <a:bodyPr lIns="0" tIns="0" rIns="0" bIns="0"/>
          <a:lstStyle/>
          <a:p>
            <a:pPr/>
            <a:r>
              <a:t>Cinq temps, une seule commande</a:t>
            </a:r>
          </a:p>
        </p:txBody>
      </p:sp>
      <p:sp>
        <p:nvSpPr>
          <p:cNvPr id="217" name="frise 153"/>
          <p:cNvSpPr/>
          <p:nvPr/>
        </p:nvSpPr>
        <p:spPr>
          <a:xfrm>
            <a:off x="1577612" y="2103120"/>
            <a:ext cx="9036471" cy="1"/>
          </a:xfrm>
          <a:prstGeom prst="line">
            <a:avLst/>
          </a:prstGeom>
          <a:ln w="19050"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anneau 154"/>
          <p:cNvSpPr/>
          <p:nvPr/>
        </p:nvSpPr>
        <p:spPr>
          <a:xfrm>
            <a:off x="1321582" y="1847088"/>
            <a:ext cx="512067" cy="51206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9" name="libellé 155"/>
          <p:cNvSpPr txBox="1"/>
          <p:nvPr/>
        </p:nvSpPr>
        <p:spPr>
          <a:xfrm>
            <a:off x="1321582" y="2009841"/>
            <a:ext cx="512066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0" name="carte 156"/>
          <p:cNvSpPr/>
          <p:nvPr/>
        </p:nvSpPr>
        <p:spPr>
          <a:xfrm>
            <a:off x="548640" y="2651760"/>
            <a:ext cx="2057950" cy="1828802"/>
          </a:xfrm>
          <a:prstGeom prst="roundRect">
            <a:avLst>
              <a:gd name="adj" fmla="val 4000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1" name="onglet 157"/>
          <p:cNvSpPr/>
          <p:nvPr/>
        </p:nvSpPr>
        <p:spPr>
          <a:xfrm>
            <a:off x="749808" y="2651760"/>
            <a:ext cx="502920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2" name="texte 158"/>
          <p:cNvSpPr txBox="1"/>
          <p:nvPr/>
        </p:nvSpPr>
        <p:spPr>
          <a:xfrm>
            <a:off x="749806" y="2926078"/>
            <a:ext cx="1655617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Avant</a:t>
            </a:r>
          </a:p>
        </p:txBody>
      </p:sp>
      <p:sp>
        <p:nvSpPr>
          <p:cNvPr id="223" name="texte 159"/>
          <p:cNvSpPr txBox="1"/>
          <p:nvPr/>
        </p:nvSpPr>
        <p:spPr>
          <a:xfrm>
            <a:off x="749806" y="3401567"/>
            <a:ext cx="1655617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verify_tx passe : un virement fictif traverse WAF, API et base.</a:t>
            </a:r>
          </a:p>
        </p:txBody>
      </p:sp>
      <p:sp>
        <p:nvSpPr>
          <p:cNvPr id="224" name="anneau 160"/>
          <p:cNvSpPr/>
          <p:nvPr/>
        </p:nvSpPr>
        <p:spPr>
          <a:xfrm>
            <a:off x="3580698" y="1847088"/>
            <a:ext cx="512067" cy="51206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5" name="libellé 161"/>
          <p:cNvSpPr txBox="1"/>
          <p:nvPr/>
        </p:nvSpPr>
        <p:spPr>
          <a:xfrm>
            <a:off x="3580698" y="2009841"/>
            <a:ext cx="512066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chemeClr val="accent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26" name="carte 162"/>
          <p:cNvSpPr/>
          <p:nvPr/>
        </p:nvSpPr>
        <p:spPr>
          <a:xfrm>
            <a:off x="2807755" y="2651760"/>
            <a:ext cx="2057951" cy="1828802"/>
          </a:xfrm>
          <a:prstGeom prst="roundRect">
            <a:avLst>
              <a:gd name="adj" fmla="val 4000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7" name="onglet 163"/>
          <p:cNvSpPr/>
          <p:nvPr/>
        </p:nvSpPr>
        <p:spPr>
          <a:xfrm>
            <a:off x="3008925" y="2651760"/>
            <a:ext cx="502920" cy="4572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8" name="texte 164"/>
          <p:cNvSpPr txBox="1"/>
          <p:nvPr/>
        </p:nvSpPr>
        <p:spPr>
          <a:xfrm>
            <a:off x="3008925" y="2926078"/>
            <a:ext cx="1655615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chemeClr val="accent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Attaque</a:t>
            </a:r>
          </a:p>
        </p:txBody>
      </p:sp>
      <p:sp>
        <p:nvSpPr>
          <p:cNvPr id="229" name="texte 165"/>
          <p:cNvSpPr txBox="1"/>
          <p:nvPr/>
        </p:nvSpPr>
        <p:spPr>
          <a:xfrm>
            <a:off x="3008925" y="3401567"/>
            <a:ext cx="1655615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service_flood depuis le PC Attaquant, intensité et durée bornées.</a:t>
            </a:r>
          </a:p>
        </p:txBody>
      </p:sp>
      <p:sp>
        <p:nvSpPr>
          <p:cNvPr id="230" name="anneau 166"/>
          <p:cNvSpPr/>
          <p:nvPr/>
        </p:nvSpPr>
        <p:spPr>
          <a:xfrm>
            <a:off x="5839816" y="1847088"/>
            <a:ext cx="512067" cy="51206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1" name="libellé 167"/>
          <p:cNvSpPr txBox="1"/>
          <p:nvPr/>
        </p:nvSpPr>
        <p:spPr>
          <a:xfrm>
            <a:off x="5839816" y="2009841"/>
            <a:ext cx="512066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32" name="carte 168"/>
          <p:cNvSpPr/>
          <p:nvPr/>
        </p:nvSpPr>
        <p:spPr>
          <a:xfrm>
            <a:off x="5066872" y="2651760"/>
            <a:ext cx="2057951" cy="1828802"/>
          </a:xfrm>
          <a:prstGeom prst="roundRect">
            <a:avLst>
              <a:gd name="adj" fmla="val 4000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3" name="onglet 169"/>
          <p:cNvSpPr/>
          <p:nvPr/>
        </p:nvSpPr>
        <p:spPr>
          <a:xfrm>
            <a:off x="5268040" y="2651760"/>
            <a:ext cx="502920" cy="45722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4" name="texte 170"/>
          <p:cNvSpPr txBox="1"/>
          <p:nvPr/>
        </p:nvSpPr>
        <p:spPr>
          <a:xfrm>
            <a:off x="5268040" y="2926078"/>
            <a:ext cx="1655615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Détection</a:t>
            </a:r>
          </a:p>
        </p:txBody>
      </p:sp>
      <p:sp>
        <p:nvSpPr>
          <p:cNvPr id="235" name="texte 171"/>
          <p:cNvSpPr txBox="1"/>
          <p:nvPr/>
        </p:nvSpPr>
        <p:spPr>
          <a:xfrm>
            <a:off x="5268040" y="3401567"/>
            <a:ext cx="1655615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le modèle voit l'anomalie en secondes et désigne l'IP source.</a:t>
            </a:r>
          </a:p>
        </p:txBody>
      </p:sp>
      <p:sp>
        <p:nvSpPr>
          <p:cNvPr id="236" name="anneau 172"/>
          <p:cNvSpPr/>
          <p:nvPr/>
        </p:nvSpPr>
        <p:spPr>
          <a:xfrm>
            <a:off x="8098932" y="1847088"/>
            <a:ext cx="512067" cy="51206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4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7" name="libellé 173"/>
          <p:cNvSpPr txBox="1"/>
          <p:nvPr/>
        </p:nvSpPr>
        <p:spPr>
          <a:xfrm>
            <a:off x="8098932" y="2009841"/>
            <a:ext cx="512066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chemeClr val="accent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38" name="carte 174"/>
          <p:cNvSpPr/>
          <p:nvPr/>
        </p:nvSpPr>
        <p:spPr>
          <a:xfrm>
            <a:off x="7325990" y="2651760"/>
            <a:ext cx="2057951" cy="1828802"/>
          </a:xfrm>
          <a:prstGeom prst="roundRect">
            <a:avLst>
              <a:gd name="adj" fmla="val 4000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9" name="onglet 175"/>
          <p:cNvSpPr/>
          <p:nvPr/>
        </p:nvSpPr>
        <p:spPr>
          <a:xfrm>
            <a:off x="7527158" y="2651760"/>
            <a:ext cx="502920" cy="45722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0" name="texte 176"/>
          <p:cNvSpPr txBox="1"/>
          <p:nvPr/>
        </p:nvSpPr>
        <p:spPr>
          <a:xfrm>
            <a:off x="7527158" y="2926078"/>
            <a:ext cx="1655615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chemeClr val="accent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Remédiation</a:t>
            </a:r>
          </a:p>
        </p:txBody>
      </p:sp>
      <p:sp>
        <p:nvSpPr>
          <p:cNvPr id="241" name="texte 177"/>
          <p:cNvSpPr txBox="1"/>
          <p:nvPr/>
        </p:nvSpPr>
        <p:spPr>
          <a:xfrm>
            <a:off x="7527158" y="3401567"/>
            <a:ext cx="1655615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le moteur bloque l'IP, relance si besoin, rejoue verify_tx.</a:t>
            </a:r>
          </a:p>
        </p:txBody>
      </p:sp>
      <p:sp>
        <p:nvSpPr>
          <p:cNvPr id="242" name="anneau 178"/>
          <p:cNvSpPr/>
          <p:nvPr/>
        </p:nvSpPr>
        <p:spPr>
          <a:xfrm>
            <a:off x="10358049" y="1847088"/>
            <a:ext cx="512067" cy="512067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3" name="libellé 179"/>
          <p:cNvSpPr txBox="1"/>
          <p:nvPr/>
        </p:nvSpPr>
        <p:spPr>
          <a:xfrm>
            <a:off x="10358049" y="2009841"/>
            <a:ext cx="512066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44" name="carte 180"/>
          <p:cNvSpPr/>
          <p:nvPr/>
        </p:nvSpPr>
        <p:spPr>
          <a:xfrm>
            <a:off x="9585107" y="2651760"/>
            <a:ext cx="2057951" cy="1828802"/>
          </a:xfrm>
          <a:prstGeom prst="roundRect">
            <a:avLst>
              <a:gd name="adj" fmla="val 4000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5" name="onglet 181"/>
          <p:cNvSpPr/>
          <p:nvPr/>
        </p:nvSpPr>
        <p:spPr>
          <a:xfrm>
            <a:off x="9786273" y="2651760"/>
            <a:ext cx="502920" cy="4572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6" name="texte 182"/>
          <p:cNvSpPr txBox="1"/>
          <p:nvPr/>
        </p:nvSpPr>
        <p:spPr>
          <a:xfrm>
            <a:off x="9786273" y="2926078"/>
            <a:ext cx="1655616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Après</a:t>
            </a:r>
          </a:p>
        </p:txBody>
      </p:sp>
      <p:sp>
        <p:nvSpPr>
          <p:cNvPr id="247" name="texte 183"/>
          <p:cNvSpPr txBox="1"/>
          <p:nvPr/>
        </p:nvSpPr>
        <p:spPr>
          <a:xfrm>
            <a:off x="9786273" y="3401567"/>
            <a:ext cx="1655616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transaction OK : incident clos, MTTD et MTTR affichés.</a:t>
            </a:r>
          </a:p>
        </p:txBody>
      </p:sp>
      <p:sp>
        <p:nvSpPr>
          <p:cNvPr id="248" name="carte 184"/>
          <p:cNvSpPr/>
          <p:nvPr/>
        </p:nvSpPr>
        <p:spPr>
          <a:xfrm>
            <a:off x="548640" y="4892040"/>
            <a:ext cx="11094416" cy="566930"/>
          </a:xfrm>
          <a:prstGeom prst="roundRect">
            <a:avLst>
              <a:gd name="adj" fmla="val 12903"/>
            </a:avLst>
          </a:prstGeom>
          <a:solidFill>
            <a:srgbClr val="1A2438"/>
          </a:solidFill>
          <a:ln>
            <a:solidFill>
              <a:schemeClr val="accent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9" name="texte 185"/>
          <p:cNvSpPr txBox="1"/>
          <p:nvPr/>
        </p:nvSpPr>
        <p:spPr>
          <a:xfrm>
            <a:off x="548638" y="5086603"/>
            <a:ext cx="1109441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make demo   ·   aucune main sur le clavier entre ② et ⑤   ·   Clip Chrono ≤ 60 s, sans coupe</a:t>
            </a:r>
          </a:p>
        </p:txBody>
      </p:sp>
      <p:sp>
        <p:nvSpPr>
          <p:cNvPr id="250" name="Slide Number Placeholder 0"/>
          <p:cNvSpPr txBox="1"/>
          <p:nvPr>
            <p:ph type="sldNum" sz="quarter" idx="4294967295"/>
          </p:nvPr>
        </p:nvSpPr>
        <p:spPr>
          <a:xfrm>
            <a:off x="11480982" y="6400800"/>
            <a:ext cx="162071" cy="20591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500">
        <p:fade/>
      </p:transition>
    </mc:Choice>
    <mc:Fallback>
      <p:transition spd="fast">
        <p:fade/>
      </p:transition>
    </mc:Fallback>
  </mc:AlternateContent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Class="entr" nodeType="afterEffect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" dur="4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Class="entr" nodeType="afterEffect" presetID="10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5" dur="4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Class="entr" nodeType="afterEffect" presetID="10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9" dur="4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Class="entr" nodeType="afterEffect" presetID="10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3" dur="4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Class="entr" nodeType="afterEffect" presetID="10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7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Class="entr" nodeType="afterEffect" presetID="10" grpId="7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1" dur="4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Class="entr" nodeType="afterEffect" presetID="10" grpId="8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5" dur="4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400"/>
                            </p:stCondLst>
                            <p:childTnLst>
                              <p:par>
                                <p:cTn id="37" presetClass="entr" nodeType="afterEffect" presetID="10" grpId="9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39" dur="4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900"/>
                            </p:stCondLst>
                            <p:childTnLst>
                              <p:par>
                                <p:cTn id="41" presetClass="entr" nodeType="afterEffect" presetID="10" grpId="10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3" dur="4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400"/>
                            </p:stCondLst>
                            <p:childTnLst>
                              <p:par>
                                <p:cTn id="45" presetClass="entr" nodeType="afterEffect" presetID="10" grpId="11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47" dur="4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00"/>
                            </p:stCondLst>
                            <p:childTnLst>
                              <p:par>
                                <p:cTn id="49" presetClass="entr" nodeType="afterEffect" presetID="10" grpId="12" fill="hold">
                                  <p:stCondLst>
                                    <p:cond delay="1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1" dur="4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Class="entr" nodeType="afterEffect" presetID="10" grpId="13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5" dur="4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0"/>
                            </p:stCondLst>
                            <p:childTnLst>
                              <p:par>
                                <p:cTn id="57" presetClass="entr" nodeType="afterEffect" presetID="10" grpId="14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59" dur="4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600"/>
                            </p:stCondLst>
                            <p:childTnLst>
                              <p:par>
                                <p:cTn id="61" presetClass="entr" nodeType="afterEffect" presetID="10" grpId="15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3" dur="4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200"/>
                            </p:stCondLst>
                            <p:childTnLst>
                              <p:par>
                                <p:cTn id="65" presetClass="entr" nodeType="afterEffect" presetID="10" grpId="16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67" dur="4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800"/>
                            </p:stCondLst>
                            <p:childTnLst>
                              <p:par>
                                <p:cTn id="69" presetClass="entr" nodeType="afterEffect" presetID="10" grpId="17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1" dur="4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8400"/>
                            </p:stCondLst>
                            <p:childTnLst>
                              <p:par>
                                <p:cTn id="73" presetClass="entr" nodeType="afterEffect" presetID="10" grpId="18" fill="hold">
                                  <p:stCondLst>
                                    <p:cond delay="2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5" dur="4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9000"/>
                            </p:stCondLst>
                            <p:childTnLst>
                              <p:par>
                                <p:cTn id="77" presetClass="entr" nodeType="afterEffect" presetID="10" grpId="19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9" dur="4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9700"/>
                            </p:stCondLst>
                            <p:childTnLst>
                              <p:par>
                                <p:cTn id="81" presetClass="entr" nodeType="afterEffect" presetID="10" grpId="20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3" dur="4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0"/>
                            </p:stCondLst>
                            <p:childTnLst>
                              <p:par>
                                <p:cTn id="85" presetClass="entr" nodeType="afterEffect" presetID="10" grpId="21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87" dur="4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100"/>
                            </p:stCondLst>
                            <p:childTnLst>
                              <p:par>
                                <p:cTn id="89" presetClass="entr" nodeType="afterEffect" presetID="10" grpId="22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1" dur="4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800"/>
                            </p:stCondLst>
                            <p:childTnLst>
                              <p:par>
                                <p:cTn id="93" presetClass="entr" nodeType="afterEffect" presetID="10" grpId="23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5" dur="4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2500"/>
                            </p:stCondLst>
                            <p:childTnLst>
                              <p:par>
                                <p:cTn id="97" presetClass="entr" nodeType="afterEffect" presetID="10" grpId="24" fill="hold">
                                  <p:stCondLst>
                                    <p:cond delay="3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99" dur="4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3200"/>
                            </p:stCondLst>
                            <p:childTnLst>
                              <p:par>
                                <p:cTn id="101" presetClass="entr" nodeType="afterEffect" presetID="10" grpId="25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3" dur="4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4000"/>
                            </p:stCondLst>
                            <p:childTnLst>
                              <p:par>
                                <p:cTn id="105" presetClass="entr" nodeType="afterEffect" presetID="10" grpId="26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07" dur="4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4800"/>
                            </p:stCondLst>
                            <p:childTnLst>
                              <p:par>
                                <p:cTn id="109" presetClass="entr" nodeType="afterEffect" presetID="10" grpId="27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1" dur="4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5600"/>
                            </p:stCondLst>
                            <p:childTnLst>
                              <p:par>
                                <p:cTn id="113" presetClass="entr" nodeType="afterEffect" presetID="10" grpId="28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5" dur="4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6400"/>
                            </p:stCondLst>
                            <p:childTnLst>
                              <p:par>
                                <p:cTn id="117" presetClass="entr" nodeType="afterEffect" presetID="10" grpId="29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19" dur="4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7200"/>
                            </p:stCondLst>
                            <p:childTnLst>
                              <p:par>
                                <p:cTn id="121" presetClass="entr" nodeType="afterEffect" presetID="10" grpId="30" fill="hold">
                                  <p:stCondLst>
                                    <p:cond delay="40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3" dur="4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33" grpId="16"/>
      <p:bldP build="whole" bldLvl="1" animBg="1" rev="0" advAuto="0" spid="226" grpId="9"/>
      <p:bldP build="whole" bldLvl="1" animBg="1" rev="0" advAuto="0" spid="218" grpId="1"/>
      <p:bldP build="whole" bldLvl="1" animBg="1" rev="0" advAuto="0" spid="232" grpId="15"/>
      <p:bldP build="whole" bldLvl="1" animBg="1" rev="0" advAuto="0" spid="230" grpId="13"/>
      <p:bldP build="whole" bldLvl="1" animBg="1" rev="0" advAuto="0" spid="222" grpId="5"/>
      <p:bldP build="whole" bldLvl="1" animBg="1" rev="0" advAuto="0" spid="239" grpId="22"/>
      <p:bldP build="whole" bldLvl="1" animBg="1" rev="0" advAuto="0" spid="225" grpId="8"/>
      <p:bldP build="whole" bldLvl="1" animBg="1" rev="0" advAuto="0" spid="221" grpId="4"/>
      <p:bldP build="whole" bldLvl="1" animBg="1" rev="0" advAuto="0" spid="235" grpId="18"/>
      <p:bldP build="whole" bldLvl="1" animBg="1" rev="0" advAuto="0" spid="237" grpId="20"/>
      <p:bldP build="whole" bldLvl="1" animBg="1" rev="0" advAuto="0" spid="219" grpId="2"/>
      <p:bldP build="whole" bldLvl="1" animBg="1" rev="0" advAuto="0" spid="220" grpId="3"/>
      <p:bldP build="whole" bldLvl="1" animBg="1" rev="0" advAuto="0" spid="246" grpId="29"/>
      <p:bldP build="whole" bldLvl="1" animBg="1" rev="0" advAuto="0" spid="224" grpId="7"/>
      <p:bldP build="whole" bldLvl="1" animBg="1" rev="0" advAuto="0" spid="240" grpId="23"/>
      <p:bldP build="whole" bldLvl="1" animBg="1" rev="0" advAuto="0" spid="241" grpId="24"/>
      <p:bldP build="whole" bldLvl="1" animBg="1" rev="0" advAuto="0" spid="247" grpId="30"/>
      <p:bldP build="whole" bldLvl="1" animBg="1" rev="0" advAuto="0" spid="227" grpId="10"/>
      <p:bldP build="whole" bldLvl="1" animBg="1" rev="0" advAuto="0" spid="244" grpId="27"/>
      <p:bldP build="whole" bldLvl="1" animBg="1" rev="0" advAuto="0" spid="238" grpId="21"/>
      <p:bldP build="whole" bldLvl="1" animBg="1" rev="0" advAuto="0" spid="245" grpId="28"/>
      <p:bldP build="whole" bldLvl="1" animBg="1" rev="0" advAuto="0" spid="243" grpId="26"/>
      <p:bldP build="whole" bldLvl="1" animBg="1" rev="0" advAuto="0" spid="229" grpId="12"/>
      <p:bldP build="whole" bldLvl="1" animBg="1" rev="0" advAuto="0" spid="223" grpId="6"/>
      <p:bldP build="whole" bldLvl="1" animBg="1" rev="0" advAuto="0" spid="234" grpId="17"/>
      <p:bldP build="whole" bldLvl="1" animBg="1" rev="0" advAuto="0" spid="236" grpId="19"/>
      <p:bldP build="whole" bldLvl="1" animBg="1" rev="0" advAuto="0" spid="231" grpId="14"/>
      <p:bldP build="whole" bldLvl="1" animBg="1" rev="0" advAuto="0" spid="228" grpId="11"/>
      <p:bldP build="whole" bldLvl="1" animBg="1" rev="0" advAuto="0" spid="242" grpId="2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e 186"/>
          <p:cNvSpPr txBox="1"/>
          <p:nvPr/>
        </p:nvSpPr>
        <p:spPr>
          <a:xfrm>
            <a:off x="822960" y="1371600"/>
            <a:ext cx="8229601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pc="400" sz="130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À VOUS DE JUGER</a:t>
            </a:r>
          </a:p>
        </p:txBody>
      </p:sp>
      <p:sp>
        <p:nvSpPr>
          <p:cNvPr id="255" name="texte 187"/>
          <p:cNvSpPr txBox="1"/>
          <p:nvPr/>
        </p:nvSpPr>
        <p:spPr>
          <a:xfrm>
            <a:off x="822960" y="1783078"/>
            <a:ext cx="10515601" cy="8564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6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Place à la démo</a:t>
            </a:r>
          </a:p>
        </p:txBody>
      </p:sp>
      <p:sp>
        <p:nvSpPr>
          <p:cNvPr id="256" name="texte 188"/>
          <p:cNvSpPr txBox="1"/>
          <p:nvPr/>
        </p:nvSpPr>
        <p:spPr>
          <a:xfrm>
            <a:off x="822960" y="2971800"/>
            <a:ext cx="100584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E8EDF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Attaque depuis le PC Attaquant, détection, reprise, preuve — sans toucher au clavier.</a:t>
            </a:r>
          </a:p>
        </p:txBody>
      </p:sp>
      <p:pic>
        <p:nvPicPr>
          <p:cNvPr id="257" name="!!pouls" descr="!!poul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4526279"/>
            <a:ext cx="12191697" cy="914402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anneau 189"/>
          <p:cNvSpPr/>
          <p:nvPr/>
        </p:nvSpPr>
        <p:spPr>
          <a:xfrm>
            <a:off x="822960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9" name="libellé 190"/>
          <p:cNvSpPr txBox="1"/>
          <p:nvPr/>
        </p:nvSpPr>
        <p:spPr>
          <a:xfrm>
            <a:off x="822960" y="5807886"/>
            <a:ext cx="411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YC</a:t>
            </a:r>
          </a:p>
        </p:txBody>
      </p:sp>
      <p:sp>
        <p:nvSpPr>
          <p:cNvPr id="260" name="texte 191"/>
          <p:cNvSpPr txBox="1"/>
          <p:nvPr/>
        </p:nvSpPr>
        <p:spPr>
          <a:xfrm>
            <a:off x="1325880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Yanis Capelle</a:t>
            </a:r>
          </a:p>
        </p:txBody>
      </p:sp>
      <p:sp>
        <p:nvSpPr>
          <p:cNvPr id="261" name="!!avatar 1"/>
          <p:cNvSpPr/>
          <p:nvPr/>
        </p:nvSpPr>
        <p:spPr>
          <a:xfrm>
            <a:off x="2606038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2" name="!!initiales 1"/>
          <p:cNvSpPr txBox="1"/>
          <p:nvPr/>
        </p:nvSpPr>
        <p:spPr>
          <a:xfrm>
            <a:off x="2606038" y="5807886"/>
            <a:ext cx="411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LN</a:t>
            </a:r>
          </a:p>
        </p:txBody>
      </p:sp>
      <p:sp>
        <p:nvSpPr>
          <p:cNvPr id="263" name="texte 192"/>
          <p:cNvSpPr txBox="1"/>
          <p:nvPr/>
        </p:nvSpPr>
        <p:spPr>
          <a:xfrm>
            <a:off x="3108960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Louis Nectoux</a:t>
            </a:r>
          </a:p>
        </p:txBody>
      </p:sp>
      <p:sp>
        <p:nvSpPr>
          <p:cNvPr id="264" name="!!avatar 2"/>
          <p:cNvSpPr/>
          <p:nvPr/>
        </p:nvSpPr>
        <p:spPr>
          <a:xfrm>
            <a:off x="4389120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5" name="!!initiales 2"/>
          <p:cNvSpPr txBox="1"/>
          <p:nvPr/>
        </p:nvSpPr>
        <p:spPr>
          <a:xfrm>
            <a:off x="4389120" y="5807886"/>
            <a:ext cx="411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VF</a:t>
            </a:r>
          </a:p>
        </p:txBody>
      </p:sp>
      <p:sp>
        <p:nvSpPr>
          <p:cNvPr id="266" name="texte 193"/>
          <p:cNvSpPr txBox="1"/>
          <p:nvPr/>
        </p:nvSpPr>
        <p:spPr>
          <a:xfrm>
            <a:off x="4892040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Valentin Furcy</a:t>
            </a:r>
          </a:p>
        </p:txBody>
      </p:sp>
      <p:sp>
        <p:nvSpPr>
          <p:cNvPr id="267" name="!!avatar 3"/>
          <p:cNvSpPr/>
          <p:nvPr/>
        </p:nvSpPr>
        <p:spPr>
          <a:xfrm>
            <a:off x="6172200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4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8" name="!!initiales 3"/>
          <p:cNvSpPr txBox="1"/>
          <p:nvPr/>
        </p:nvSpPr>
        <p:spPr>
          <a:xfrm>
            <a:off x="6172200" y="5807886"/>
            <a:ext cx="41148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AS</a:t>
            </a:r>
          </a:p>
        </p:txBody>
      </p:sp>
      <p:sp>
        <p:nvSpPr>
          <p:cNvPr id="269" name="texte 194"/>
          <p:cNvSpPr txBox="1"/>
          <p:nvPr/>
        </p:nvSpPr>
        <p:spPr>
          <a:xfrm>
            <a:off x="6675118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Aurélien Serre</a:t>
            </a:r>
          </a:p>
        </p:txBody>
      </p:sp>
      <p:sp>
        <p:nvSpPr>
          <p:cNvPr id="270" name="!!avatar 4"/>
          <p:cNvSpPr/>
          <p:nvPr/>
        </p:nvSpPr>
        <p:spPr>
          <a:xfrm>
            <a:off x="7955280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1" name="!!initiales 4"/>
          <p:cNvSpPr txBox="1"/>
          <p:nvPr/>
        </p:nvSpPr>
        <p:spPr>
          <a:xfrm>
            <a:off x="7955280" y="5807886"/>
            <a:ext cx="411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EP</a:t>
            </a:r>
          </a:p>
        </p:txBody>
      </p:sp>
      <p:sp>
        <p:nvSpPr>
          <p:cNvPr id="272" name="texte 195"/>
          <p:cNvSpPr txBox="1"/>
          <p:nvPr/>
        </p:nvSpPr>
        <p:spPr>
          <a:xfrm>
            <a:off x="8458200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Enzo Palermo</a:t>
            </a:r>
          </a:p>
        </p:txBody>
      </p:sp>
      <p:sp>
        <p:nvSpPr>
          <p:cNvPr id="273" name="!!avatar 5"/>
          <p:cNvSpPr/>
          <p:nvPr/>
        </p:nvSpPr>
        <p:spPr>
          <a:xfrm>
            <a:off x="9738359" y="5669279"/>
            <a:ext cx="411483" cy="411483"/>
          </a:xfrm>
          <a:prstGeom prst="ellipse">
            <a:avLst/>
          </a:prstGeom>
          <a:solidFill>
            <a:srgbClr val="0B1220"/>
          </a:solidFill>
          <a:ln w="1905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4" name="!!initiales 5"/>
          <p:cNvSpPr txBox="1"/>
          <p:nvPr/>
        </p:nvSpPr>
        <p:spPr>
          <a:xfrm>
            <a:off x="9738359" y="5807886"/>
            <a:ext cx="411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chemeClr val="accent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LS</a:t>
            </a:r>
          </a:p>
        </p:txBody>
      </p:sp>
      <p:sp>
        <p:nvSpPr>
          <p:cNvPr id="275" name="texte 196"/>
          <p:cNvSpPr txBox="1"/>
          <p:nvPr/>
        </p:nvSpPr>
        <p:spPr>
          <a:xfrm>
            <a:off x="10241280" y="5807886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Léo Solana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500">
        <p:fade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Resilience Nuit">
  <a:themeElements>
    <a:clrScheme name="Resilience Nuit">
      <a:dk1>
        <a:srgbClr val="0B1220"/>
      </a:dk1>
      <a:lt1>
        <a:srgbClr val="201C15"/>
      </a:lt1>
      <a:dk2>
        <a:srgbClr val="A7A7A7"/>
      </a:dk2>
      <a:lt2>
        <a:srgbClr val="535353"/>
      </a:lt2>
      <a:accent1>
        <a:srgbClr val="2EE6A6"/>
      </a:accent1>
      <a:accent2>
        <a:srgbClr val="FF5A5F"/>
      </a:accent2>
      <a:accent3>
        <a:srgbClr val="FFB547"/>
      </a:accent3>
      <a:accent4>
        <a:srgbClr val="5B8CFF"/>
      </a:accent4>
      <a:accent5>
        <a:srgbClr val="8A97AE"/>
      </a:accent5>
      <a:accent6>
        <a:srgbClr val="2A3854"/>
      </a:accent6>
      <a:hlink>
        <a:srgbClr val="0000FF"/>
      </a:hlink>
      <a:folHlink>
        <a:srgbClr val="FF00FF"/>
      </a:folHlink>
    </a:clrScheme>
    <a:fontScheme name="Resilience Nui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Resilience Nu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201C15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122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122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Resilience Nuit">
  <a:themeElements>
    <a:clrScheme name="Resilience Nuit">
      <a:dk1>
        <a:srgbClr val="0B1220"/>
      </a:dk1>
      <a:lt1>
        <a:srgbClr val="201C15"/>
      </a:lt1>
      <a:dk2>
        <a:srgbClr val="A7A7A7"/>
      </a:dk2>
      <a:lt2>
        <a:srgbClr val="535353"/>
      </a:lt2>
      <a:accent1>
        <a:srgbClr val="2EE6A6"/>
      </a:accent1>
      <a:accent2>
        <a:srgbClr val="FF5A5F"/>
      </a:accent2>
      <a:accent3>
        <a:srgbClr val="FFB547"/>
      </a:accent3>
      <a:accent4>
        <a:srgbClr val="5B8CFF"/>
      </a:accent4>
      <a:accent5>
        <a:srgbClr val="8A97AE"/>
      </a:accent5>
      <a:accent6>
        <a:srgbClr val="2A3854"/>
      </a:accent6>
      <a:hlink>
        <a:srgbClr val="0000FF"/>
      </a:hlink>
      <a:folHlink>
        <a:srgbClr val="FF00FF"/>
      </a:folHlink>
    </a:clrScheme>
    <a:fontScheme name="Resilience Nui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Resilience Nu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201C15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122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122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