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3" r:id="rId6"/>
    <p:sldId id="271" r:id="rId7"/>
    <p:sldId id="274" r:id="rId8"/>
    <p:sldId id="273" r:id="rId9"/>
    <p:sldId id="267" r:id="rId10"/>
    <p:sldId id="268" r:id="rId11"/>
    <p:sldId id="270" r:id="rId12"/>
    <p:sldId id="262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1E48"/>
    <a:srgbClr val="A1A6D4"/>
    <a:srgbClr val="E4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31EFA7-7031-49C3-977B-42746F8B6103}" v="1" dt="2026-10-15T08:16:39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701" autoAdjust="0"/>
  </p:normalViewPr>
  <p:slideViewPr>
    <p:cSldViewPr snapToGrid="0">
      <p:cViewPr>
        <p:scale>
          <a:sx n="92" d="100"/>
          <a:sy n="92" d="100"/>
        </p:scale>
        <p:origin x="67" y="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COMBLEZ" userId="767defee-383f-47d4-8442-96b55406b48b" providerId="ADAL" clId="{F2FAD57F-CD2E-4E41-A65D-3ED0BCA4AEF4}"/>
    <pc:docChg chg="undo custSel modSld">
      <pc:chgData name="Julien COMBLEZ" userId="767defee-383f-47d4-8442-96b55406b48b" providerId="ADAL" clId="{F2FAD57F-CD2E-4E41-A65D-3ED0BCA4AEF4}" dt="2026-10-13T15:01:30.441" v="207"/>
      <pc:docMkLst>
        <pc:docMk/>
      </pc:docMkLst>
      <pc:sldChg chg="modSp mod">
        <pc:chgData name="Julien COMBLEZ" userId="767defee-383f-47d4-8442-96b55406b48b" providerId="ADAL" clId="{F2FAD57F-CD2E-4E41-A65D-3ED0BCA4AEF4}" dt="2026-10-13T15:00:31.047" v="204" actId="20577"/>
        <pc:sldMkLst>
          <pc:docMk/>
          <pc:sldMk cId="2283085552" sldId="263"/>
        </pc:sldMkLst>
        <pc:spChg chg="mod">
          <ac:chgData name="Julien COMBLEZ" userId="767defee-383f-47d4-8442-96b55406b48b" providerId="ADAL" clId="{F2FAD57F-CD2E-4E41-A65D-3ED0BCA4AEF4}" dt="2026-10-13T15:00:31.047" v="204" actId="20577"/>
          <ac:spMkLst>
            <pc:docMk/>
            <pc:sldMk cId="2283085552" sldId="263"/>
            <ac:spMk id="2" creationId="{5AB00639-13DA-577A-0F1C-BE0E25805CD2}"/>
          </ac:spMkLst>
        </pc:spChg>
      </pc:sldChg>
      <pc:sldChg chg="modSp mod">
        <pc:chgData name="Julien COMBLEZ" userId="767defee-383f-47d4-8442-96b55406b48b" providerId="ADAL" clId="{F2FAD57F-CD2E-4E41-A65D-3ED0BCA4AEF4}" dt="2026-10-13T15:00:47.337" v="205" actId="20577"/>
        <pc:sldMkLst>
          <pc:docMk/>
          <pc:sldMk cId="807039865" sldId="267"/>
        </pc:sldMkLst>
        <pc:spChg chg="mod">
          <ac:chgData name="Julien COMBLEZ" userId="767defee-383f-47d4-8442-96b55406b48b" providerId="ADAL" clId="{F2FAD57F-CD2E-4E41-A65D-3ED0BCA4AEF4}" dt="2026-10-13T15:00:47.337" v="205" actId="20577"/>
          <ac:spMkLst>
            <pc:docMk/>
            <pc:sldMk cId="807039865" sldId="267"/>
            <ac:spMk id="2" creationId="{9909EBA1-F143-065F-E848-49027520FC15}"/>
          </ac:spMkLst>
        </pc:spChg>
      </pc:sldChg>
      <pc:sldChg chg="modSp mod">
        <pc:chgData name="Julien COMBLEZ" userId="767defee-383f-47d4-8442-96b55406b48b" providerId="ADAL" clId="{F2FAD57F-CD2E-4E41-A65D-3ED0BCA4AEF4}" dt="2026-10-13T15:00:18.673" v="195" actId="2711"/>
        <pc:sldMkLst>
          <pc:docMk/>
          <pc:sldMk cId="3783561545" sldId="268"/>
        </pc:sldMkLst>
        <pc:spChg chg="mod">
          <ac:chgData name="Julien COMBLEZ" userId="767defee-383f-47d4-8442-96b55406b48b" providerId="ADAL" clId="{F2FAD57F-CD2E-4E41-A65D-3ED0BCA4AEF4}" dt="2026-10-13T14:57:49.501" v="56" actId="20577"/>
          <ac:spMkLst>
            <pc:docMk/>
            <pc:sldMk cId="3783561545" sldId="268"/>
            <ac:spMk id="3" creationId="{0EB50662-5959-3462-8BCB-2C956A3BF309}"/>
          </ac:spMkLst>
        </pc:spChg>
        <pc:graphicFrameChg chg="modGraphic">
          <ac:chgData name="Julien COMBLEZ" userId="767defee-383f-47d4-8442-96b55406b48b" providerId="ADAL" clId="{F2FAD57F-CD2E-4E41-A65D-3ED0BCA4AEF4}" dt="2026-10-13T15:00:18.673" v="195" actId="2711"/>
          <ac:graphicFrameMkLst>
            <pc:docMk/>
            <pc:sldMk cId="3783561545" sldId="268"/>
            <ac:graphicFrameMk id="8" creationId="{14B5718E-5D04-9A30-64C6-33586247B1F8}"/>
          </ac:graphicFrameMkLst>
        </pc:graphicFrameChg>
        <pc:graphicFrameChg chg="mod modGraphic">
          <ac:chgData name="Julien COMBLEZ" userId="767defee-383f-47d4-8442-96b55406b48b" providerId="ADAL" clId="{F2FAD57F-CD2E-4E41-A65D-3ED0BCA4AEF4}" dt="2026-10-13T15:00:14.215" v="194" actId="2711"/>
          <ac:graphicFrameMkLst>
            <pc:docMk/>
            <pc:sldMk cId="3783561545" sldId="268"/>
            <ac:graphicFrameMk id="10" creationId="{8773ADD0-7BA7-FE25-DC7B-4DC5E6385BC6}"/>
          </ac:graphicFrameMkLst>
        </pc:graphicFrameChg>
      </pc:sldChg>
      <pc:sldChg chg="modSp">
        <pc:chgData name="Julien COMBLEZ" userId="767defee-383f-47d4-8442-96b55406b48b" providerId="ADAL" clId="{F2FAD57F-CD2E-4E41-A65D-3ED0BCA4AEF4}" dt="2026-10-13T15:01:30.441" v="207"/>
        <pc:sldMkLst>
          <pc:docMk/>
          <pc:sldMk cId="1829911416" sldId="273"/>
        </pc:sldMkLst>
        <pc:spChg chg="mod">
          <ac:chgData name="Julien COMBLEZ" userId="767defee-383f-47d4-8442-96b55406b48b" providerId="ADAL" clId="{F2FAD57F-CD2E-4E41-A65D-3ED0BCA4AEF4}" dt="2026-10-13T15:01:30.441" v="207"/>
          <ac:spMkLst>
            <pc:docMk/>
            <pc:sldMk cId="1829911416" sldId="273"/>
            <ac:spMk id="12" creationId="{813A1F49-3D22-AEAE-8F11-CB4F30603226}"/>
          </ac:spMkLst>
        </pc:spChg>
        <pc:spChg chg="mod">
          <ac:chgData name="Julien COMBLEZ" userId="767defee-383f-47d4-8442-96b55406b48b" providerId="ADAL" clId="{F2FAD57F-CD2E-4E41-A65D-3ED0BCA4AEF4}" dt="2026-10-13T15:01:26.271" v="206"/>
          <ac:spMkLst>
            <pc:docMk/>
            <pc:sldMk cId="1829911416" sldId="273"/>
            <ac:spMk id="13" creationId="{75982571-AABF-E6D2-64F4-C53DB715F3C8}"/>
          </ac:spMkLst>
        </pc:spChg>
      </pc:sldChg>
    </pc:docChg>
  </pc:docChgLst>
  <pc:docChgLst>
    <pc:chgData name="BAEZA Yvan" userId="a7b141fc-4e19-48c1-b5db-47b4212acff9" providerId="ADAL" clId="{08A425C7-81E3-4A55-8DCE-B1462E3EB5E1}"/>
    <pc:docChg chg="undo custSel modSld">
      <pc:chgData name="BAEZA Yvan" userId="a7b141fc-4e19-48c1-b5db-47b4212acff9" providerId="ADAL" clId="{08A425C7-81E3-4A55-8DCE-B1462E3EB5E1}" dt="2026-10-15T08:20:42.938" v="188" actId="20577"/>
      <pc:docMkLst>
        <pc:docMk/>
      </pc:docMkLst>
      <pc:sldChg chg="modSp mod">
        <pc:chgData name="BAEZA Yvan" userId="a7b141fc-4e19-48c1-b5db-47b4212acff9" providerId="ADAL" clId="{08A425C7-81E3-4A55-8DCE-B1462E3EB5E1}" dt="2026-10-15T07:46:30.311" v="104" actId="20577"/>
        <pc:sldMkLst>
          <pc:docMk/>
          <pc:sldMk cId="807039865" sldId="267"/>
        </pc:sldMkLst>
        <pc:spChg chg="mod">
          <ac:chgData name="BAEZA Yvan" userId="a7b141fc-4e19-48c1-b5db-47b4212acff9" providerId="ADAL" clId="{08A425C7-81E3-4A55-8DCE-B1462E3EB5E1}" dt="2026-10-15T07:46:30.311" v="104" actId="20577"/>
          <ac:spMkLst>
            <pc:docMk/>
            <pc:sldMk cId="807039865" sldId="267"/>
            <ac:spMk id="3" creationId="{A157F832-8530-1D91-78EB-DA474ADFFA47}"/>
          </ac:spMkLst>
        </pc:spChg>
      </pc:sldChg>
      <pc:sldChg chg="modSp mod">
        <pc:chgData name="BAEZA Yvan" userId="a7b141fc-4e19-48c1-b5db-47b4212acff9" providerId="ADAL" clId="{08A425C7-81E3-4A55-8DCE-B1462E3EB5E1}" dt="2026-10-15T08:05:36.501" v="109" actId="14734"/>
        <pc:sldMkLst>
          <pc:docMk/>
          <pc:sldMk cId="3783561545" sldId="268"/>
        </pc:sldMkLst>
        <pc:graphicFrameChg chg="modGraphic">
          <ac:chgData name="BAEZA Yvan" userId="a7b141fc-4e19-48c1-b5db-47b4212acff9" providerId="ADAL" clId="{08A425C7-81E3-4A55-8DCE-B1462E3EB5E1}" dt="2026-10-15T08:05:36.501" v="109" actId="14734"/>
          <ac:graphicFrameMkLst>
            <pc:docMk/>
            <pc:sldMk cId="3783561545" sldId="268"/>
            <ac:graphicFrameMk id="10" creationId="{8773ADD0-7BA7-FE25-DC7B-4DC5E6385BC6}"/>
          </ac:graphicFrameMkLst>
        </pc:graphicFrameChg>
      </pc:sldChg>
      <pc:sldChg chg="addSp modSp mod">
        <pc:chgData name="BAEZA Yvan" userId="a7b141fc-4e19-48c1-b5db-47b4212acff9" providerId="ADAL" clId="{08A425C7-81E3-4A55-8DCE-B1462E3EB5E1}" dt="2026-10-15T08:16:39.727" v="177" actId="14826"/>
        <pc:sldMkLst>
          <pc:docMk/>
          <pc:sldMk cId="3429768748" sldId="270"/>
        </pc:sldMkLst>
        <pc:spChg chg="add mod">
          <ac:chgData name="BAEZA Yvan" userId="a7b141fc-4e19-48c1-b5db-47b4212acff9" providerId="ADAL" clId="{08A425C7-81E3-4A55-8DCE-B1462E3EB5E1}" dt="2026-10-15T08:16:13.866" v="176" actId="1076"/>
          <ac:spMkLst>
            <pc:docMk/>
            <pc:sldMk cId="3429768748" sldId="270"/>
            <ac:spMk id="8" creationId="{99E988D3-4C26-C291-C617-9C6B1DC9DBA0}"/>
          </ac:spMkLst>
        </pc:spChg>
        <pc:picChg chg="add mod">
          <ac:chgData name="BAEZA Yvan" userId="a7b141fc-4e19-48c1-b5db-47b4212acff9" providerId="ADAL" clId="{08A425C7-81E3-4A55-8DCE-B1462E3EB5E1}" dt="2026-10-15T08:16:39.727" v="177" actId="14826"/>
          <ac:picMkLst>
            <pc:docMk/>
            <pc:sldMk cId="3429768748" sldId="270"/>
            <ac:picMk id="6" creationId="{DA4ED5A6-EA74-3B1E-0CB5-F875D67DE1A3}"/>
          </ac:picMkLst>
        </pc:picChg>
      </pc:sldChg>
      <pc:sldChg chg="addSp delSp modSp mod">
        <pc:chgData name="BAEZA Yvan" userId="a7b141fc-4e19-48c1-b5db-47b4212acff9" providerId="ADAL" clId="{08A425C7-81E3-4A55-8DCE-B1462E3EB5E1}" dt="2026-10-15T08:09:41.354" v="120" actId="113"/>
        <pc:sldMkLst>
          <pc:docMk/>
          <pc:sldMk cId="2755797371" sldId="271"/>
        </pc:sldMkLst>
        <pc:spChg chg="mod">
          <ac:chgData name="BAEZA Yvan" userId="a7b141fc-4e19-48c1-b5db-47b4212acff9" providerId="ADAL" clId="{08A425C7-81E3-4A55-8DCE-B1462E3EB5E1}" dt="2026-10-15T08:09:41.354" v="120" actId="113"/>
          <ac:spMkLst>
            <pc:docMk/>
            <pc:sldMk cId="2755797371" sldId="271"/>
            <ac:spMk id="5" creationId="{D6D1D996-AF78-2E33-4D03-879719943FD6}"/>
          </ac:spMkLst>
        </pc:spChg>
        <pc:spChg chg="add del mod">
          <ac:chgData name="BAEZA Yvan" userId="a7b141fc-4e19-48c1-b5db-47b4212acff9" providerId="ADAL" clId="{08A425C7-81E3-4A55-8DCE-B1462E3EB5E1}" dt="2026-10-15T07:40:53.584" v="15" actId="478"/>
          <ac:spMkLst>
            <pc:docMk/>
            <pc:sldMk cId="2755797371" sldId="271"/>
            <ac:spMk id="9" creationId="{22224BE1-BF30-E97A-CB01-3466FAB55876}"/>
          </ac:spMkLst>
        </pc:spChg>
        <pc:spChg chg="del">
          <ac:chgData name="BAEZA Yvan" userId="a7b141fc-4e19-48c1-b5db-47b4212acff9" providerId="ADAL" clId="{08A425C7-81E3-4A55-8DCE-B1462E3EB5E1}" dt="2026-10-15T07:35:50.201" v="0" actId="22"/>
          <ac:spMkLst>
            <pc:docMk/>
            <pc:sldMk cId="2755797371" sldId="271"/>
            <ac:spMk id="15" creationId="{18F74703-167B-1C54-5781-1AA08BD47816}"/>
          </ac:spMkLst>
        </pc:spChg>
        <pc:picChg chg="add mod ord">
          <ac:chgData name="BAEZA Yvan" userId="a7b141fc-4e19-48c1-b5db-47b4212acff9" providerId="ADAL" clId="{08A425C7-81E3-4A55-8DCE-B1462E3EB5E1}" dt="2026-10-15T07:41:35.402" v="20" actId="167"/>
          <ac:picMkLst>
            <pc:docMk/>
            <pc:sldMk cId="2755797371" sldId="271"/>
            <ac:picMk id="7" creationId="{B0C12F6C-C011-618D-6375-CFF2EA633ADF}"/>
          </ac:picMkLst>
        </pc:picChg>
      </pc:sldChg>
      <pc:sldChg chg="modSp mod">
        <pc:chgData name="BAEZA Yvan" userId="a7b141fc-4e19-48c1-b5db-47b4212acff9" providerId="ADAL" clId="{08A425C7-81E3-4A55-8DCE-B1462E3EB5E1}" dt="2026-10-15T08:20:42.938" v="188" actId="20577"/>
        <pc:sldMkLst>
          <pc:docMk/>
          <pc:sldMk cId="1829911416" sldId="273"/>
        </pc:sldMkLst>
        <pc:spChg chg="mod">
          <ac:chgData name="BAEZA Yvan" userId="a7b141fc-4e19-48c1-b5db-47b4212acff9" providerId="ADAL" clId="{08A425C7-81E3-4A55-8DCE-B1462E3EB5E1}" dt="2026-10-15T08:20:42.938" v="188" actId="20577"/>
          <ac:spMkLst>
            <pc:docMk/>
            <pc:sldMk cId="1829911416" sldId="273"/>
            <ac:spMk id="14" creationId="{64B4EA27-ABA3-50B4-017D-D6C0F453C450}"/>
          </ac:spMkLst>
        </pc:spChg>
      </pc:sldChg>
      <pc:sldChg chg="modSp mod">
        <pc:chgData name="BAEZA Yvan" userId="a7b141fc-4e19-48c1-b5db-47b4212acff9" providerId="ADAL" clId="{08A425C7-81E3-4A55-8DCE-B1462E3EB5E1}" dt="2026-10-15T08:10:16.376" v="122" actId="113"/>
        <pc:sldMkLst>
          <pc:docMk/>
          <pc:sldMk cId="3776301485" sldId="274"/>
        </pc:sldMkLst>
        <pc:spChg chg="mod">
          <ac:chgData name="BAEZA Yvan" userId="a7b141fc-4e19-48c1-b5db-47b4212acff9" providerId="ADAL" clId="{08A425C7-81E3-4A55-8DCE-B1462E3EB5E1}" dt="2026-10-15T08:10:16.376" v="122" actId="113"/>
          <ac:spMkLst>
            <pc:docMk/>
            <pc:sldMk cId="3776301485" sldId="274"/>
            <ac:spMk id="6" creationId="{330DC331-5D9B-CF53-2607-E8B9FA776F2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B8AD0C8-059B-AEA8-02B5-03B2DA414A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2DDF08-5948-5A05-DFC4-70A47B120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C4C70-9B7A-4B3F-9B62-61FBD47E5BD0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CEA825-E1FA-7B97-1796-4BF28A959C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837691-1B5F-34BD-601C-D360EE959B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F4700-86E5-48CF-AACB-A94BF9A4C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605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025CC-95B5-47C0-BA18-1C8B2CE9C77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58F5-C3B3-45EB-82E3-9E3FE22C63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Zone d'habillage uniquement. Renseignez le nom du workshop et la promo. Aucun contenu pédagogique à ajouter ici — l'accroche vient juste après.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73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Votre phrase doit créer une tension ou une question, jamais un résumé du sujet. Évitez le jargon technique à ce stade — l'objectif est de capter l'attention, pas d'expliquer. Une seule phrase suffit ; si vous en avez besoin de plusieurs, c'est probablement encore un résumé déguisé. Associez une illustration qui installe l'ambiance sans dévoiler le défi technique (gardez la surprise pour la slide suivante)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476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2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100" b="1" dirty="0" err="1"/>
              <a:t>AIOps</a:t>
            </a:r>
            <a:endParaRPr lang="fr-FR" sz="1100" b="1" dirty="0"/>
          </a:p>
          <a:p>
            <a:r>
              <a:rPr lang="fr-FR" sz="1100" dirty="0"/>
              <a:t>IA appliquée à l’analyse et à l’automatisation des opérations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b="1" dirty="0"/>
              <a:t>RAG</a:t>
            </a:r>
          </a:p>
          <a:p>
            <a:r>
              <a:rPr lang="fr-FR" sz="1100" dirty="0"/>
              <a:t>Recherche documentaire enrichissant un modèle de langage.</a:t>
            </a:r>
          </a:p>
          <a:p>
            <a:r>
              <a:rPr lang="fr-FR" sz="1100" b="1" dirty="0"/>
              <a:t>ML</a:t>
            </a:r>
          </a:p>
          <a:p>
            <a:r>
              <a:rPr lang="fr-FR" sz="1100" dirty="0"/>
              <a:t>Machine </a:t>
            </a:r>
            <a:r>
              <a:rPr lang="fr-FR" sz="1100" dirty="0" err="1"/>
              <a:t>learning</a:t>
            </a:r>
            <a:r>
              <a:rPr lang="fr-FR" sz="1100" dirty="0"/>
              <a:t> : apprentissage automatique.</a:t>
            </a:r>
          </a:p>
          <a:p>
            <a:r>
              <a:rPr lang="fr-FR" sz="1100" b="1" dirty="0" err="1"/>
              <a:t>IaC</a:t>
            </a:r>
            <a:endParaRPr lang="fr-FR" sz="1100" b="1" dirty="0"/>
          </a:p>
          <a:p>
            <a:r>
              <a:rPr lang="fr-FR" sz="1100" dirty="0"/>
              <a:t>Infrastructure as Code : infrastructure décrite par des fichiers versionnés.</a:t>
            </a:r>
          </a:p>
          <a:p>
            <a:r>
              <a:rPr lang="fr-FR" sz="1100" b="1" dirty="0"/>
              <a:t>Red Team / Blue Team</a:t>
            </a:r>
          </a:p>
          <a:p>
            <a:r>
              <a:rPr lang="fr-FR" sz="1100" dirty="0"/>
              <a:t>Simulation offensive et activités défensives.</a:t>
            </a:r>
          </a:p>
          <a:p>
            <a:r>
              <a:rPr lang="fr-FR" sz="1100" b="1" dirty="0"/>
              <a:t>WAF</a:t>
            </a:r>
          </a:p>
          <a:p>
            <a:r>
              <a:rPr lang="fr-FR" sz="1100" dirty="0"/>
              <a:t>Pare-feu applicatif.</a:t>
            </a:r>
          </a:p>
          <a:p>
            <a:r>
              <a:rPr lang="fr-FR" sz="1100" b="1" dirty="0"/>
              <a:t>SIEM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/>
              <a:t>Collecte et corrélation des événements de sécurité.</a:t>
            </a:r>
          </a:p>
          <a:p>
            <a:r>
              <a:rPr lang="fr-FR" sz="1100" b="1" dirty="0"/>
              <a:t>EBIOS RM</a:t>
            </a:r>
          </a:p>
          <a:p>
            <a:r>
              <a:rPr lang="fr-FR" sz="1100" dirty="0"/>
              <a:t>Méthode d’appréciation des risques cyber.</a:t>
            </a:r>
          </a:p>
          <a:p>
            <a:r>
              <a:rPr lang="fr-FR" sz="1100" b="1" dirty="0"/>
              <a:t>NIS2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/>
              <a:t>Directive européenne relative à la sécurité des systèmes d'information.</a:t>
            </a:r>
          </a:p>
          <a:p>
            <a:r>
              <a:rPr lang="fr-FR" sz="1100" b="1" dirty="0"/>
              <a:t>DORA</a:t>
            </a:r>
          </a:p>
          <a:p>
            <a:r>
              <a:rPr lang="fr-FR" sz="1100" dirty="0"/>
              <a:t>Règlement européen sur la résilience opérationnelle numérique du secteur financier.</a:t>
            </a:r>
          </a:p>
          <a:p>
            <a:r>
              <a:rPr lang="fr-FR" sz="1100" b="1" dirty="0"/>
              <a:t>PCA / PRA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dirty="0"/>
              <a:t>Plans de continuité et de reprise d’activité.</a:t>
            </a:r>
          </a:p>
          <a:p>
            <a:r>
              <a:rPr lang="fr-FR" sz="1100" b="1" dirty="0" err="1"/>
              <a:t>Zero</a:t>
            </a:r>
            <a:r>
              <a:rPr lang="fr-FR" sz="1100" b="1" dirty="0"/>
              <a:t>-Touch </a:t>
            </a:r>
            <a:r>
              <a:rPr lang="fr-FR" sz="1100" b="1" dirty="0" err="1"/>
              <a:t>Recovery</a:t>
            </a:r>
            <a:endParaRPr lang="fr-FR" sz="1100" b="1" dirty="0"/>
          </a:p>
          <a:p>
            <a:r>
              <a:rPr lang="fr-FR" sz="1100" dirty="0"/>
              <a:t>Reprise automatisée sans intervention corrective humaine.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38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099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06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953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645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slide est masquée et ne doit jamais être montrée aux étudiants. Elle sert uniquement de rappel pour vous, coach, si vous devez ajouter du contenu hors gabarit.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58F5-C3B3-45EB-82E3-9E3FE22C63C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5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1FA278C-CBFF-6B11-2A4D-023B57C518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6999"/>
            <a:ext cx="12306300" cy="7061200"/>
          </a:xfrm>
          <a:prstGeom prst="rect">
            <a:avLst/>
          </a:prstGeom>
          <a:solidFill>
            <a:srgbClr val="261E48"/>
          </a:soli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7541FE8-FE2B-24CC-F8E5-7AFF67296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D6769C-C79D-4F8F-DF7E-0923FDA016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0F667-49D9-9B79-8085-C5F789D37A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70F8F5E-FAD9-4DF2-87EE-0E6439773DB4}" type="datetime1">
              <a:rPr lang="fr-FR" smtClean="0"/>
              <a:t>19/10/2026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7D47F2-272F-C949-EB30-09209A6FCD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C6BEDF-980A-03FE-2838-58170EC35F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C3CD0481-34F7-36B0-7172-0D19A1D92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49400" y="4759525"/>
            <a:ext cx="1800000" cy="0"/>
          </a:xfrm>
          <a:prstGeom prst="line">
            <a:avLst/>
          </a:prstGeom>
          <a:ln w="31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FBC4389A-3F03-ABAC-4FCB-9F74A6EEB2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238036" y="5169619"/>
            <a:ext cx="1437585" cy="824781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73016E1B-FC09-0923-F2D2-33AF3323F4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000" y="5058995"/>
            <a:ext cx="2160000" cy="103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1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990725"/>
            <a:ext cx="10515600" cy="422040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F2C9E96-8C39-4749-8763-46921CE4FA8A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79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57D1B306-7018-4BBF-9355-4EC28955C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5BE9617-FCB3-D89F-0AAD-EF9059CDE7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80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CFB26CC-2725-45E6-B05C-349C0D3E0243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1" y="2224360"/>
            <a:ext cx="4680000" cy="299559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2224360"/>
            <a:ext cx="4680000" cy="2968928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E3260CB-0A08-2005-909A-5E99DADFEB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3801" y="2224360"/>
            <a:ext cx="4680000" cy="299559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150D707-3560-D748-2D5D-BF2F0D309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673800" y="2224360"/>
            <a:ext cx="4680000" cy="2968928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DA29909-4745-00CE-13EA-000EE57F14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2438400"/>
            <a:ext cx="0" cy="2552700"/>
          </a:xfrm>
          <a:prstGeom prst="line">
            <a:avLst/>
          </a:prstGeom>
          <a:ln w="12700">
            <a:solidFill>
              <a:srgbClr val="261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9">
            <a:extLst>
              <a:ext uri="{FF2B5EF4-FFF2-40B4-BE49-F238E27FC236}">
                <a16:creationId xmlns:a16="http://schemas.microsoft.com/office/drawing/2014/main" id="{8DB1B8C0-6279-EB02-7E6D-50DDB6062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28" name="Graphique 27">
            <a:extLst>
              <a:ext uri="{FF2B5EF4-FFF2-40B4-BE49-F238E27FC236}">
                <a16:creationId xmlns:a16="http://schemas.microsoft.com/office/drawing/2014/main" id="{DB78041A-1D23-39D6-4B35-7FED2C6E25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372075B-535F-4F05-8E73-038CD02F05CC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82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1" y="2251030"/>
            <a:ext cx="3240000" cy="3174985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1" y="2251030"/>
            <a:ext cx="3240000" cy="315326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78E753F-8F2D-EA9A-0153-E45ABB3F6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76000" y="2251030"/>
            <a:ext cx="3240000" cy="3174985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448A2DBC-02E6-AFFA-A43D-846DAD8B6D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4476000" y="2251030"/>
            <a:ext cx="3240000" cy="315326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FFD2875-198C-70E9-03AD-4DF4CDD673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13799" y="2251030"/>
            <a:ext cx="3240000" cy="317498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2DB75632-6E0F-F9DB-9F00-47C01E1ED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113799" y="2251031"/>
            <a:ext cx="3240000" cy="3153600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BDCDD73-A1E8-8C00-6484-A41B084ED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677AEE64-35C4-A05E-0FEE-3242EAEA85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6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096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B77B16B1-2A42-412B-8D41-E75ECB4A4282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54215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9C3E6D1-A8ED-E949-22B7-30D218C2D6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3801" y="2693590"/>
            <a:ext cx="4680000" cy="252636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08A51935-41F4-3EC8-E972-D4F38B74F5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673800" y="2689412"/>
            <a:ext cx="4680000" cy="2503876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4E2DE63-E2EF-B8C8-AE9A-1027D81222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2838254"/>
            <a:ext cx="0" cy="2152846"/>
          </a:xfrm>
          <a:prstGeom prst="line">
            <a:avLst/>
          </a:prstGeom>
          <a:ln w="12700">
            <a:solidFill>
              <a:srgbClr val="261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9">
            <a:extLst>
              <a:ext uri="{FF2B5EF4-FFF2-40B4-BE49-F238E27FC236}">
                <a16:creationId xmlns:a16="http://schemas.microsoft.com/office/drawing/2014/main" id="{C3B3E227-1567-CD90-20ED-2BAF638E39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833020" y="2096980"/>
            <a:ext cx="4520780" cy="31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1" dirty="0" err="1">
                <a:solidFill>
                  <a:srgbClr val="261E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Titre</a:t>
            </a:r>
            <a:endParaRPr lang="en-US" sz="1400" b="1" dirty="0">
              <a:solidFill>
                <a:srgbClr val="261E4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FD963364-FC8E-B2D0-E6E4-ADF489C820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2" y="2693590"/>
            <a:ext cx="4680000" cy="252636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EEB09D77-D180-748A-7F0E-78360B6818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38201" y="2689412"/>
            <a:ext cx="4680000" cy="2503876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23B0DC89-E679-5DC2-3084-CD9D159EBA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97421" y="2096980"/>
            <a:ext cx="4520780" cy="31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1" dirty="0" err="1">
                <a:solidFill>
                  <a:srgbClr val="261E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Titre</a:t>
            </a:r>
            <a:endParaRPr lang="en-US" sz="1400" b="1" dirty="0">
              <a:solidFill>
                <a:srgbClr val="261E4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5" name="Freeform 9">
            <a:extLst>
              <a:ext uri="{FF2B5EF4-FFF2-40B4-BE49-F238E27FC236}">
                <a16:creationId xmlns:a16="http://schemas.microsoft.com/office/drawing/2014/main" id="{ABAC7C0C-5C53-F415-9CB2-3AD1057E2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47" name="Graphique 46">
            <a:extLst>
              <a:ext uri="{FF2B5EF4-FFF2-40B4-BE49-F238E27FC236}">
                <a16:creationId xmlns:a16="http://schemas.microsoft.com/office/drawing/2014/main" id="{28177FCF-884F-39C7-E251-0967A5B538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39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096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4C0ED622-32BC-44E2-86ED-F761501B369C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54215"/>
            <a:ext cx="10067926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04443A4C-F69E-931F-76DB-C3F3DE0399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38199" y="2133599"/>
            <a:ext cx="4680000" cy="383669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8926C44A-C958-EE95-098B-E32D23CAD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6"/>
          </p:nvPr>
        </p:nvSpPr>
        <p:spPr>
          <a:xfrm>
            <a:off x="6673800" y="2133599"/>
            <a:ext cx="4680000" cy="383669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77C44F22-EA03-8824-79CD-D39933DD5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8F7FDAAA-F179-F643-A04C-8AC65B58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1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FA5B1-252A-A2FA-B0CB-EB776233DA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D54793-FF99-0625-042A-72D57CA25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9788" y="126878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A3F7AC-4362-6646-0DC6-7FF2EEB1D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839788" y="2128553"/>
            <a:ext cx="5157787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999CD8-D1B9-2EFD-1C09-729E9531D8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6172200" y="126878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C497F3-A449-09C3-74E7-D9E6FA9A78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4"/>
          </p:nvPr>
        </p:nvSpPr>
        <p:spPr>
          <a:xfrm>
            <a:off x="6172200" y="2128553"/>
            <a:ext cx="5183188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3D6C0A-03C4-B38D-530B-4DEAA4057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5D8A63D6-5519-481F-83D6-82004FF8A44A}" type="datetime1">
              <a:rPr lang="fr-FR" smtClean="0"/>
              <a:t>19/10/2026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E1E781-4F11-4D2E-E736-B227980D0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311E42-B9DF-0268-1404-085C055815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239AF4B4-C299-17B9-75F6-44817CFCB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7730B1BB-05DC-00A5-1182-5D7EAC5339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5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BB5C8-070C-5B8F-5A33-9F5952DFA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7D282C-573F-0644-ED51-815B2C49DE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88D326E-31FC-4603-9A96-08168D8CEDB1}" type="datetime1">
              <a:rPr lang="fr-FR" smtClean="0"/>
              <a:t>19/10/2026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36D820-CD29-9C3E-D55E-19E5CACDC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78BD0F-B5CF-36B3-BC88-EDD13C754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3C7346FD-5D3C-C568-5555-59C20019C6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F89AF32-B56E-0130-1E5B-C6A738DF55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594B31F-341E-4366-56B5-DCB1BC639B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381119"/>
            <a:ext cx="10515600" cy="422040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408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39EEFA43-ACCC-2DDB-493D-9D0BC8D287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Lundi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9C81A82-B47E-4747-9997-636BAF5B294E}" type="datetime1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70341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70341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BDCDD73-A1E8-8C00-6484-A41B084ED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677AEE64-35C4-A05E-0FEE-3242EAEA85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DFA65BD8-FF98-189F-F39E-24C453CA7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70341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du contenu 2">
            <a:extLst>
              <a:ext uri="{FF2B5EF4-FFF2-40B4-BE49-F238E27FC236}">
                <a16:creationId xmlns:a16="http://schemas.microsoft.com/office/drawing/2014/main" id="{5EA65321-D4FD-4BA9-B562-AFAA6EE485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8"/>
          </p:nvPr>
        </p:nvSpPr>
        <p:spPr>
          <a:xfrm>
            <a:off x="870341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A235387B-EBEC-13B3-FA7A-6810E7459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79173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Mardi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30F33B6-D16F-1ACD-AA79-EB3475364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11314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space réservé du contenu 2">
            <a:extLst>
              <a:ext uri="{FF2B5EF4-FFF2-40B4-BE49-F238E27FC236}">
                <a16:creationId xmlns:a16="http://schemas.microsoft.com/office/drawing/2014/main" id="{CA5603C8-DAE7-A421-8D36-360B1500CC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9"/>
          </p:nvPr>
        </p:nvSpPr>
        <p:spPr>
          <a:xfrm>
            <a:off x="3011314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71940A5C-CD0D-2A7D-6650-3F0A5FC89C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11314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space réservé du contenu 2">
            <a:extLst>
              <a:ext uri="{FF2B5EF4-FFF2-40B4-BE49-F238E27FC236}">
                <a16:creationId xmlns:a16="http://schemas.microsoft.com/office/drawing/2014/main" id="{83C86029-B457-A1FC-4943-D662750F1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0"/>
          </p:nvPr>
        </p:nvSpPr>
        <p:spPr>
          <a:xfrm>
            <a:off x="3011314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FD9714F-052C-D8CF-1461-F64D65804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6754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Mercredi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A5D4637C-C59F-51DE-B978-033BB68F0A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128895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space réservé du contenu 2">
            <a:extLst>
              <a:ext uri="{FF2B5EF4-FFF2-40B4-BE49-F238E27FC236}">
                <a16:creationId xmlns:a16="http://schemas.microsoft.com/office/drawing/2014/main" id="{6A814CB7-AD64-541C-7F0C-9A7370C38B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1"/>
          </p:nvPr>
        </p:nvSpPr>
        <p:spPr>
          <a:xfrm>
            <a:off x="5128895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4376143E-A380-E7DA-0E69-1D2729DACC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128895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F3652B82-30AF-0673-5039-14E4BF3C3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2"/>
          </p:nvPr>
        </p:nvSpPr>
        <p:spPr>
          <a:xfrm>
            <a:off x="5128895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ACAA90A8-0990-FCCE-8D33-D774ADA1D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32827" y="1784791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Jeudi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EC3B833-7E16-E16B-B72E-34821F6C86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64968" y="2108537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space réservé du contenu 2">
            <a:extLst>
              <a:ext uri="{FF2B5EF4-FFF2-40B4-BE49-F238E27FC236}">
                <a16:creationId xmlns:a16="http://schemas.microsoft.com/office/drawing/2014/main" id="{A5092395-C05F-67C1-E339-A4824755DC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3"/>
          </p:nvPr>
        </p:nvSpPr>
        <p:spPr>
          <a:xfrm>
            <a:off x="7264968" y="2106479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E8B58CAB-D50E-E957-8861-6D666079A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64968" y="3623907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space réservé du contenu 2">
            <a:extLst>
              <a:ext uri="{FF2B5EF4-FFF2-40B4-BE49-F238E27FC236}">
                <a16:creationId xmlns:a16="http://schemas.microsoft.com/office/drawing/2014/main" id="{9E367BD0-4212-7965-EA60-18A7D2885A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4"/>
          </p:nvPr>
        </p:nvSpPr>
        <p:spPr>
          <a:xfrm>
            <a:off x="7264968" y="3621849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47696806-D597-E9C8-685C-FD4CA0F772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373800" y="1782902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Vendredi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A6968603-52B3-F392-AE80-3C7E131C3A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5941" y="2106648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space réservé du contenu 2">
            <a:extLst>
              <a:ext uri="{FF2B5EF4-FFF2-40B4-BE49-F238E27FC236}">
                <a16:creationId xmlns:a16="http://schemas.microsoft.com/office/drawing/2014/main" id="{D77DFDF4-D0AC-A4DB-FF77-DE4701DDC5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5"/>
          </p:nvPr>
        </p:nvSpPr>
        <p:spPr>
          <a:xfrm>
            <a:off x="9405941" y="2104590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CD80C315-B569-DE7E-61FE-AE8AC39E7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5941" y="3622018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space réservé du contenu 2">
            <a:extLst>
              <a:ext uri="{FF2B5EF4-FFF2-40B4-BE49-F238E27FC236}">
                <a16:creationId xmlns:a16="http://schemas.microsoft.com/office/drawing/2014/main" id="{E63819FB-EA7E-003C-3A24-79A1E48DC8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6"/>
          </p:nvPr>
        </p:nvSpPr>
        <p:spPr>
          <a:xfrm>
            <a:off x="9405941" y="3619960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506DBED5-7100-DD1F-CA6E-BDE84EA92C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5280499"/>
            <a:ext cx="7772400" cy="900000"/>
          </a:xfrm>
          <a:prstGeom prst="roundRect">
            <a:avLst>
              <a:gd name="adj" fmla="val 8457"/>
            </a:avLst>
          </a:prstGeom>
          <a:solidFill>
            <a:srgbClr val="A1A6D4"/>
          </a:solidFill>
          <a:ln w="28575">
            <a:solidFill>
              <a:srgbClr val="261E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Espace réservé du texte 76">
            <a:extLst>
              <a:ext uri="{FF2B5EF4-FFF2-40B4-BE49-F238E27FC236}">
                <a16:creationId xmlns:a16="http://schemas.microsoft.com/office/drawing/2014/main" id="{9F80D05F-725A-9F28-6A53-F8C77669A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38199" y="5294243"/>
            <a:ext cx="7772401" cy="88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0450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D3D6A7-FF7B-B586-52F4-ADC35E546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4B397C-74AF-2BFD-A6A9-885AAD277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Contenu texte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40389-E416-64CF-697E-AB4C044EA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fld id="{065D9175-3EB5-4180-B9B2-2E197B3E8294}" type="datetime1">
              <a:rPr lang="fr-FR" smtClean="0"/>
              <a:t>19/10/2026</a:t>
            </a:fld>
            <a:endParaRPr lang="fr-FR" dirty="0">
              <a:latin typeface="Montserrat" pitchFamily="2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FA09F5-2C15-4D25-FEF0-FBA2BC2D21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endParaRPr lang="fr-FR" dirty="0">
              <a:latin typeface="Montserrat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C60F83-6957-0A97-A417-640079BD46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fld id="{7AE2D55B-A4E3-4C84-95F3-069B4A0B514D}" type="slidenum">
              <a:rPr lang="fr-FR" smtClean="0"/>
              <a:pPr/>
              <a:t>‹N°›</a:t>
            </a:fld>
            <a:endParaRPr lang="fr-FR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1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0" r:id="rId4"/>
    <p:sldLayoutId id="2147483672" r:id="rId5"/>
    <p:sldLayoutId id="2147483675" r:id="rId6"/>
    <p:sldLayoutId id="2147483653" r:id="rId7"/>
    <p:sldLayoutId id="2147483654" r:id="rId8"/>
    <p:sldLayoutId id="214748367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61E4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rgbClr val="261E48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61E48"/>
          </a:solidFill>
          <a:latin typeface="Monsterr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261E48"/>
          </a:solidFill>
          <a:latin typeface="Monsterr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61E48"/>
          </a:solidFill>
          <a:latin typeface="Monsterra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261E48"/>
          </a:solidFill>
          <a:latin typeface="Monsterr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DBF0F-3F6A-8E28-0343-08824DE1DA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WORKSHOP M2</a:t>
            </a:r>
            <a:br>
              <a:rPr lang="fr-FR" dirty="0"/>
            </a:br>
            <a:r>
              <a:rPr lang="fr-FR" dirty="0"/>
              <a:t>2026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BA156C46-D9CF-FD86-3708-1CB341A28F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023B38-A834-EB34-6E2C-CB1E2550E2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66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3F20-0DE9-DFA9-837E-3B2CDDBE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00639-13DA-577A-0F1C-BE0E25805C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WORKSHOP M2</a:t>
            </a:r>
            <a:br>
              <a:rPr lang="fr-FR" dirty="0"/>
            </a:br>
            <a:r>
              <a:rPr lang="fr-FR" dirty="0"/>
              <a:t>2026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1C78B2-F215-2C1B-C474-95AE1D307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PROJECT RESILIENCE-ALPHA</a:t>
            </a:r>
          </a:p>
          <a:p>
            <a:r>
              <a:rPr lang="fr-FR" dirty="0"/>
              <a:t>« Tout système finit par tomber. La vraie question : le vôtre </a:t>
            </a:r>
            <a:r>
              <a:rPr lang="fr-FR" dirty="0" err="1"/>
              <a:t>saura-t-il</a:t>
            </a:r>
            <a:r>
              <a:rPr lang="fr-FR" dirty="0"/>
              <a:t> se relever seul ? 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C6C312-30CF-2E6C-BA5C-6C97D93FA7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08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0C12F6C-C011-618D-6375-CFF2EA633ADF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3"/>
          <a:stretch>
            <a:fillRect/>
          </a:stretch>
        </p:blipFill>
        <p:spPr>
          <a:xfrm>
            <a:off x="5890161" y="2133599"/>
            <a:ext cx="5463639" cy="419713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BFAF0E9-4062-FB4D-E948-E6401C2EC9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défi en un coup d'œil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6AA024-E6B2-BEE4-3EEC-27D00DD7BE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3</a:t>
            </a:fld>
            <a:endParaRPr lang="fr-FR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14F5CAE6-10DE-FAD6-905E-A5C7CE4DC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6D1D996-AF78-2E33-4D03-879719943F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200" dirty="0">
                <a:latin typeface="Montserrat Bold" pitchFamily="2" charset="0"/>
              </a:rPr>
              <a:t>A. Contexte</a:t>
            </a:r>
          </a:p>
          <a:p>
            <a:pPr>
              <a:lnSpc>
                <a:spcPct val="100000"/>
              </a:lnSpc>
            </a:pPr>
            <a:r>
              <a:rPr lang="fr-FR" sz="1200" dirty="0"/>
              <a:t>Automne 2026. Une plateforme de paiement subit des incidents à répétition. Chaque fois, les équipes la relancent à la main, avec des interventions lentes et impossibles à reproduire. La Direction Nationale de la Sûreté Numérique lance «</a:t>
            </a:r>
            <a:r>
              <a:rPr lang="fr-FR" sz="1200" b="1" dirty="0"/>
              <a:t> PROJECT RESILIENCE-ALPHA </a:t>
            </a:r>
            <a:r>
              <a:rPr lang="fr-FR" sz="1200" dirty="0"/>
              <a:t>». </a:t>
            </a:r>
          </a:p>
          <a:p>
            <a:pPr>
              <a:lnSpc>
                <a:spcPct val="100000"/>
              </a:lnSpc>
            </a:pPr>
            <a:r>
              <a:rPr lang="fr-FR" sz="1200" dirty="0"/>
              <a:t>Votre mission : prouver qu’un système critique peut encaisser une attaque et se rétablir sans intervention humaine.</a:t>
            </a:r>
          </a:p>
          <a:p>
            <a:pPr>
              <a:lnSpc>
                <a:spcPct val="100000"/>
              </a:lnSpc>
            </a:pPr>
            <a:r>
              <a:rPr lang="fr-FR" sz="1200" dirty="0">
                <a:latin typeface="Montserrat Bold" pitchFamily="2" charset="0"/>
              </a:rPr>
              <a:t>B. Le défi</a:t>
            </a:r>
          </a:p>
          <a:p>
            <a:pPr marL="17145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Un SI de paiement fictif conteneurisé (front, API, authentification, base de données) sur un PC Hôte</a:t>
            </a:r>
          </a:p>
          <a:p>
            <a:pPr marL="17145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Une attaque réelle lancée depuis un PC Attaquant distinct</a:t>
            </a:r>
          </a:p>
          <a:p>
            <a:pPr marL="17145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Une détection par machine </a:t>
            </a:r>
            <a:r>
              <a:rPr lang="fr-FR" sz="1200" dirty="0" err="1"/>
              <a:t>learning</a:t>
            </a:r>
            <a:r>
              <a:rPr lang="fr-FR" sz="1200" dirty="0"/>
              <a:t>, et non par de simples seuils fixes</a:t>
            </a:r>
          </a:p>
          <a:p>
            <a:pPr marL="17145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/>
              <a:t>Une remédiation automatique, avec une preuve : une nouvelle transaction réussit après l’incident</a:t>
            </a:r>
          </a:p>
        </p:txBody>
      </p:sp>
    </p:spTree>
    <p:extLst>
      <p:ext uri="{BB962C8B-B14F-4D97-AF65-F5344CB8AC3E}">
        <p14:creationId xmlns:p14="http://schemas.microsoft.com/office/powerpoint/2010/main" val="275579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A304F5-0A79-F460-B5C5-48EC616E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Techniquement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A0379C6-2011-2709-A14C-CE0CE947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4</a:t>
            </a:fld>
            <a:endParaRPr lang="fr-FR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67D6A606-ABA4-3200-4542-08BFB6D1DD6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>
            <a:normAutofit lnSpcReduction="10000"/>
          </a:bodyPr>
          <a:lstStyle/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549C4FA-A8E3-6331-00F2-9866BB371C2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/>
            <a:r>
              <a:rPr lang="fr-FR" b="1" dirty="0"/>
              <a:t>DEV</a:t>
            </a:r>
            <a:r>
              <a:rPr lang="fr-FR" dirty="0"/>
              <a:t> : </a:t>
            </a:r>
            <a:r>
              <a:rPr lang="fr-FR" dirty="0" err="1"/>
              <a:t>microservices</a:t>
            </a:r>
            <a:r>
              <a:rPr lang="fr-FR" dirty="0"/>
              <a:t> (Node.js, Python/</a:t>
            </a:r>
            <a:r>
              <a:rPr lang="fr-FR" dirty="0" err="1"/>
              <a:t>FastAPI</a:t>
            </a:r>
            <a:r>
              <a:rPr lang="fr-FR" dirty="0"/>
              <a:t> ou Go), API REST ou </a:t>
            </a:r>
            <a:r>
              <a:rPr lang="fr-FR" dirty="0" err="1"/>
              <a:t>gRPC</a:t>
            </a:r>
            <a:r>
              <a:rPr lang="fr-FR" dirty="0"/>
              <a:t>, moteur de remédiation, </a:t>
            </a:r>
            <a:r>
              <a:rPr lang="fr-FR" dirty="0" err="1"/>
              <a:t>dashboard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+ </a:t>
            </a:r>
            <a:r>
              <a:rPr lang="fr-FR" dirty="0" err="1"/>
              <a:t>Tailwind</a:t>
            </a:r>
            <a:endParaRPr lang="fr-FR" dirty="0"/>
          </a:p>
          <a:p>
            <a:pPr lvl="0"/>
            <a:r>
              <a:rPr lang="fr-FR" b="1" dirty="0"/>
              <a:t>INFRA</a:t>
            </a:r>
            <a:r>
              <a:rPr lang="fr-FR" dirty="0"/>
              <a:t> : Docker Compose, </a:t>
            </a:r>
            <a:r>
              <a:rPr lang="fr-FR" dirty="0" err="1"/>
              <a:t>playbooks</a:t>
            </a:r>
            <a:r>
              <a:rPr lang="fr-FR" dirty="0"/>
              <a:t> Ansible, observabilité Prometheus / </a:t>
            </a:r>
            <a:r>
              <a:rPr lang="fr-FR" dirty="0" err="1"/>
              <a:t>Grafana</a:t>
            </a:r>
            <a:r>
              <a:rPr lang="fr-FR" dirty="0"/>
              <a:t> / Loki</a:t>
            </a:r>
          </a:p>
          <a:p>
            <a:pPr lvl="0"/>
            <a:r>
              <a:rPr lang="fr-FR" b="1" dirty="0"/>
              <a:t>IA / DATA</a:t>
            </a:r>
            <a:r>
              <a:rPr lang="fr-FR" dirty="0"/>
              <a:t> : détection d’anomalies par machine </a:t>
            </a:r>
            <a:r>
              <a:rPr lang="fr-FR" dirty="0" err="1"/>
              <a:t>learning</a:t>
            </a:r>
            <a:r>
              <a:rPr lang="fr-FR" dirty="0"/>
              <a:t>, assistant RAG local avec </a:t>
            </a:r>
            <a:r>
              <a:rPr lang="fr-FR" dirty="0" err="1"/>
              <a:t>Ollama</a:t>
            </a:r>
            <a:r>
              <a:rPr lang="fr-FR" dirty="0"/>
              <a:t> + </a:t>
            </a:r>
            <a:r>
              <a:rPr lang="fr-FR" dirty="0" err="1"/>
              <a:t>LangChain</a:t>
            </a:r>
            <a:r>
              <a:rPr lang="fr-FR" dirty="0"/>
              <a:t> (modèle de 8 milliards de paramètres maximum)</a:t>
            </a:r>
          </a:p>
          <a:p>
            <a:pPr lvl="0"/>
            <a:r>
              <a:rPr lang="fr-FR" b="1" dirty="0"/>
              <a:t>CYBER</a:t>
            </a:r>
            <a:r>
              <a:rPr lang="fr-FR" dirty="0"/>
              <a:t> : attaque Red Team, WAF, SIEM, durcissement, gestion des secrets (Vault ou SOPS)</a:t>
            </a:r>
          </a:p>
          <a:p>
            <a:pPr lvl="0"/>
            <a:r>
              <a:rPr lang="fr-FR" b="1" dirty="0"/>
              <a:t>TRANSFORMATION</a:t>
            </a:r>
            <a:r>
              <a:rPr lang="fr-FR" dirty="0"/>
              <a:t> : analyse de risques (EBIOS RM), plans de continuité et de reprise (PCA/PRA), conformité NIS2/DORA, recommandations à la direction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0DC331-5D9B-CF53-2607-E8B9FA776F2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fr-FR" b="1" dirty="0"/>
              <a:t>INSTALLEZ VOTRE LABO DÈS AUJOURD’HUI</a:t>
            </a:r>
            <a:endParaRPr lang="fr-FR" dirty="0"/>
          </a:p>
          <a:p>
            <a:pPr lvl="0"/>
            <a:r>
              <a:rPr lang="fr-FR" b="1" dirty="0"/>
              <a:t>PC Hôte :</a:t>
            </a:r>
            <a:r>
              <a:rPr lang="fr-FR" dirty="0"/>
              <a:t> il fait tourner la plateforme (Docker Desktop + WSL2, 16 Go de RAM minimum)</a:t>
            </a:r>
          </a:p>
          <a:p>
            <a:pPr lvl="0"/>
            <a:r>
              <a:rPr lang="fr-FR" b="1" dirty="0"/>
              <a:t>PC Attaquant : </a:t>
            </a:r>
            <a:r>
              <a:rPr lang="fr-FR" dirty="0"/>
              <a:t>un poste distinct, qui lance les attaques</a:t>
            </a:r>
          </a:p>
          <a:p>
            <a:pPr lvl="0"/>
            <a:r>
              <a:rPr lang="fr-FR" b="1" dirty="0"/>
              <a:t>PC IA </a:t>
            </a:r>
            <a:r>
              <a:rPr lang="fr-FR" i="1" dirty="0"/>
              <a:t>(facultatif) </a:t>
            </a:r>
            <a:r>
              <a:rPr lang="fr-FR" b="1" dirty="0"/>
              <a:t>: </a:t>
            </a:r>
            <a:r>
              <a:rPr lang="fr-FR" dirty="0"/>
              <a:t>il héberge uniquement le modèle de langage</a:t>
            </a:r>
          </a:p>
          <a:p>
            <a:pPr lvl="0"/>
            <a:r>
              <a:rPr lang="fr-FR" b="1" dirty="0"/>
              <a:t>Réseau : </a:t>
            </a:r>
            <a:r>
              <a:rPr lang="fr-FR" dirty="0"/>
              <a:t>point d’accès mobile Windows « RESILIENCE-G&lt;n&gt; »</a:t>
            </a:r>
          </a:p>
          <a:p>
            <a:pPr lvl="0"/>
            <a:endParaRPr lang="fr-FR" dirty="0"/>
          </a:p>
          <a:p>
            <a:pPr lvl="0"/>
            <a:r>
              <a:rPr lang="fr-FR" b="1" dirty="0"/>
              <a:t>⚠ Votre système de paiement, c’est vous qui le codez : </a:t>
            </a:r>
            <a:r>
              <a:rPr lang="fr-FR" b="1" dirty="0">
                <a:solidFill>
                  <a:srgbClr val="EE0000"/>
                </a:solidFill>
              </a:rPr>
              <a:t>aucune solution de paiement existante</a:t>
            </a:r>
            <a:r>
              <a:rPr lang="fr-F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6301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EE0D2F-4691-3C12-B131-CB303BBBBB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423E086-2E68-C9BB-C190-2DE0ABFBC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5</a:t>
            </a:fld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21C2A3-DFB4-5504-7BFB-4D42BAB6D3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du sujet + constitution des consortiums + installation des postes et du réseau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FCD3A44-DACD-E4B9-3D98-455633D16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8"/>
          </p:nvPr>
        </p:nvSpPr>
        <p:spPr/>
        <p:txBody>
          <a:bodyPr/>
          <a:lstStyle/>
          <a:p>
            <a:r>
              <a:rPr lang="fr-FR" dirty="0"/>
              <a:t>Architecture + analyse de risques EBIOS, validées par les coachs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A091022-C24B-294F-D15F-A9C442EF8D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9"/>
          </p:nvPr>
        </p:nvSpPr>
        <p:spPr/>
        <p:txBody>
          <a:bodyPr/>
          <a:lstStyle/>
          <a:p>
            <a:r>
              <a:rPr lang="fr-FR" dirty="0"/>
              <a:t>Déploiement Docker Compose + Ansible + premiers </a:t>
            </a:r>
            <a:r>
              <a:rPr lang="fr-FR" dirty="0" err="1"/>
              <a:t>microservices</a:t>
            </a: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2774A86-C453-9175-5F0D-40F49CC24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0"/>
          </p:nvPr>
        </p:nvSpPr>
        <p:spPr/>
        <p:txBody>
          <a:bodyPr/>
          <a:lstStyle/>
          <a:p>
            <a:r>
              <a:rPr lang="fr-FR" dirty="0"/>
              <a:t>Modèle ML + scripts d’attaque + dossier NIS2/DORA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B34F9A7-4AE3-D535-9E33-3776613E1E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1"/>
          </p:nvPr>
        </p:nvSpPr>
        <p:spPr/>
        <p:txBody>
          <a:bodyPr/>
          <a:lstStyle/>
          <a:p>
            <a:r>
              <a:rPr lang="fr-FR" dirty="0"/>
              <a:t>Intégration WAF/SIEM + branchement de la détection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4710A3BE-0086-75D0-9223-6700AE7662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2"/>
          </p:nvPr>
        </p:nvSpPr>
        <p:spPr/>
        <p:txBody>
          <a:bodyPr/>
          <a:lstStyle/>
          <a:p>
            <a:r>
              <a:rPr lang="fr-FR" dirty="0"/>
              <a:t>Remédiation + </a:t>
            </a:r>
            <a:r>
              <a:rPr lang="fr-FR" dirty="0" err="1"/>
              <a:t>dashboard</a:t>
            </a:r>
            <a:r>
              <a:rPr lang="fr-FR" dirty="0"/>
              <a:t> + premiers tests de reprise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F2F4D84-4663-47B2-CC1B-A10E85341B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3"/>
          </p:nvPr>
        </p:nvSpPr>
        <p:spPr/>
        <p:txBody>
          <a:bodyPr/>
          <a:lstStyle/>
          <a:p>
            <a:r>
              <a:rPr lang="fr-FR" dirty="0"/>
              <a:t>Chaos engineering : injection de défaillances et recette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76B41B33-422D-E0F9-A1C4-582420D50D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4"/>
          </p:nvPr>
        </p:nvSpPr>
        <p:spPr/>
        <p:txBody>
          <a:bodyPr/>
          <a:lstStyle/>
          <a:p>
            <a:r>
              <a:rPr lang="fr-FR" dirty="0"/>
              <a:t>Tournage du Clip Chrono, gel du code à 17 h, rendus avant 23 h 59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813A1F49-3D22-AEAE-8F11-CB4F30603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5"/>
          </p:nvPr>
        </p:nvSpPr>
        <p:spPr/>
        <p:txBody>
          <a:bodyPr/>
          <a:lstStyle/>
          <a:p>
            <a:r>
              <a:rPr lang="fr-FR" dirty="0"/>
              <a:t>Soutenance locale (selon l’organisation du campus)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75982571-AABF-E6D2-64F4-C53DB715F3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6"/>
          </p:nvPr>
        </p:nvSpPr>
        <p:spPr/>
        <p:txBody>
          <a:bodyPr/>
          <a:lstStyle/>
          <a:p>
            <a:r>
              <a:rPr lang="fr-FR" dirty="0"/>
              <a:t>Soutenance locale (selon l’organisation du campus)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64B4EA27-ABA3-50B4-017D-D6C0F453C4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fr-FR" dirty="0">
                <a:latin typeface="Montserrat Bold" pitchFamily="2" charset="0"/>
              </a:rPr>
              <a:t>Règles :</a:t>
            </a:r>
          </a:p>
          <a:p>
            <a:pPr marL="285750" lvl="0" indent="-285750">
              <a:spcBef>
                <a:spcPts val="0"/>
              </a:spcBef>
              <a:buFontTx/>
              <a:buChar char="-"/>
              <a:defRPr/>
            </a:pPr>
            <a:r>
              <a:rPr lang="fr-FR" dirty="0"/>
              <a:t>Émargement suivant le campus.</a:t>
            </a:r>
          </a:p>
          <a:p>
            <a:pPr marL="285750" lvl="0" indent="-285750">
              <a:spcBef>
                <a:spcPts val="0"/>
              </a:spcBef>
              <a:buFontTx/>
              <a:buChar char="-"/>
              <a:defRPr/>
            </a:pPr>
            <a:r>
              <a:rPr lang="fr-FR" dirty="0"/>
              <a:t>Présence obligatoire aux soutenances et à la finale nationale.</a:t>
            </a:r>
          </a:p>
          <a:p>
            <a:pPr marL="285750" lvl="0" indent="-285750">
              <a:spcBef>
                <a:spcPts val="0"/>
              </a:spcBef>
              <a:buFontTx/>
              <a:buChar char="-"/>
              <a:defRPr/>
            </a:pPr>
            <a:r>
              <a:rPr lang="fr-FR" dirty="0"/>
              <a:t>Propreté des locaux mis à disposition et rangement de la salle.</a:t>
            </a:r>
          </a:p>
          <a:p>
            <a:pPr lvl="0">
              <a:spcBef>
                <a:spcPts val="0"/>
              </a:spcBef>
              <a:defRPr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991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9EBA1-F143-065F-E848-49027520FC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Livrables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57F832-8530-1D91-78EB-DA474ADFFA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endParaRPr lang="fr-FR" i="1" dirty="0"/>
          </a:p>
          <a:p>
            <a:endParaRPr lang="fr-FR" i="1" dirty="0"/>
          </a:p>
          <a:p>
            <a:endParaRPr lang="fr-FR" i="1" dirty="0"/>
          </a:p>
          <a:p>
            <a:r>
              <a:rPr lang="fr-FR" sz="1600" i="1" dirty="0"/>
              <a:t>Dans votre Dossier privé : Workshop2026-M2-G&lt;n&gt;</a:t>
            </a:r>
            <a:endParaRPr lang="fr-FR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1600" dirty="0"/>
              <a:t>Document d’ingénierie et de gouvernance (</a:t>
            </a:r>
            <a:r>
              <a:rPr lang="fr-FR" sz="1600" b="1" dirty="0"/>
              <a:t>PDF</a:t>
            </a:r>
            <a:r>
              <a:rPr lang="fr-FR" sz="1600" dirty="0"/>
              <a:t>, 8 à 12 pages hors annexes)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1600" dirty="0"/>
              <a:t>Support de présentation (</a:t>
            </a:r>
            <a:r>
              <a:rPr lang="fr-FR" sz="1600" b="1" dirty="0"/>
              <a:t>PPTX</a:t>
            </a:r>
            <a:r>
              <a:rPr lang="fr-FR" sz="1600" dirty="0"/>
              <a:t>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1600" dirty="0"/>
              <a:t>Clip Chrono : 60 secondes, sans coupe (</a:t>
            </a:r>
            <a:r>
              <a:rPr lang="fr-FR" sz="1600" b="1" dirty="0"/>
              <a:t>MP4</a:t>
            </a:r>
            <a:r>
              <a:rPr lang="fr-FR" sz="1600" dirty="0"/>
              <a:t>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1600" dirty="0"/>
              <a:t>Archive du code source et du déploiement (</a:t>
            </a:r>
            <a:r>
              <a:rPr lang="fr-FR" sz="1600" b="1" dirty="0"/>
              <a:t>ZIP</a:t>
            </a:r>
            <a:r>
              <a:rPr lang="fr-FR" sz="1600" dirty="0"/>
              <a:t>, README inclus, aucun secret en clair)</a:t>
            </a:r>
          </a:p>
          <a:p>
            <a:pPr lvl="0"/>
            <a:endParaRPr lang="fr-FR" sz="1600" dirty="0"/>
          </a:p>
          <a:p>
            <a:pPr lvl="0"/>
            <a:r>
              <a:rPr lang="fr-FR" sz="1600" i="1" dirty="0"/>
              <a:t>Devant le jury 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fr-FR" sz="1600" dirty="0"/>
              <a:t>RESILIENCE-ALPHA fonctionnel, en démonstration live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464395-7713-B8DF-1466-90A12FF62B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03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56443-818E-1EBE-EF4E-E5EE2E8936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évaluations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B50662-5959-3462-8BCB-2C956A3BF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Grille Locale (20pts)					Grille Nationale (70pts)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14B5718E-5D04-9A30-64C6-33586247B1F8}"/>
              </a:ext>
            </a:extLst>
          </p:cNvPr>
          <p:cNvGraphicFramePr>
            <a:graphicFrameLocks noGrp="1"/>
          </p:cNvGraphicFramePr>
          <p:nvPr>
            <p:ph idx="15"/>
            <p:extLst>
              <p:ext uri="{D42A27DB-BD31-4B8C-83A1-F6EECF244321}">
                <p14:modId xmlns:p14="http://schemas.microsoft.com/office/powerpoint/2010/main" val="575333830"/>
              </p:ext>
            </p:extLst>
          </p:nvPr>
        </p:nvGraphicFramePr>
        <p:xfrm>
          <a:off x="429120" y="1840832"/>
          <a:ext cx="5400000" cy="450370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5940518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3771035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987902536"/>
                    </a:ext>
                  </a:extLst>
                </a:gridCol>
              </a:tblGrid>
              <a:tr h="8458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261E48"/>
                          </a:solidFill>
                          <a:latin typeface="+mj-lt"/>
                        </a:rPr>
                        <a:t>AXE MAJEUR DE SOUTENANCE LOCALE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261E48"/>
                          </a:solidFill>
                          <a:latin typeface="+mj-lt"/>
                        </a:rPr>
                        <a:t>POINTS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261E48"/>
                          </a:solidFill>
                          <a:latin typeface="+mj-lt"/>
                        </a:rPr>
                        <a:t>INDICATEURS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2285037770"/>
                  </a:ext>
                </a:extLst>
              </a:tr>
              <a:tr h="845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261E48"/>
                          </a:solidFill>
                          <a:latin typeface="+mj-lt"/>
                        </a:rPr>
                        <a:t>Axe 1 : Démo live &amp; remédiation autonome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5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Attaque lancée depuis le PC Attaquant, détection et reprise sans intervention, nouvelle transaction réussie après l’incident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797851542"/>
                  </a:ext>
                </a:extLst>
              </a:tr>
              <a:tr h="845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261E48"/>
                          </a:solidFill>
                          <a:latin typeface="+mj-lt"/>
                        </a:rPr>
                        <a:t>Axe 2 : Expertise technique &amp; cohérence des 5 piliers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4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Les 5 piliers présents et réellement interconnectés, ML branché sur la remédiation, accès du moteur de remédiation maîtrisés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1702290158"/>
                  </a:ext>
                </a:extLst>
              </a:tr>
              <a:tr h="528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261E48"/>
                          </a:solidFill>
                          <a:latin typeface="+mj-lt"/>
                        </a:rPr>
                        <a:t>Axe 3 : Clip Chrono &amp; </a:t>
                      </a:r>
                      <a:r>
                        <a:rPr lang="fr-FR" sz="1050" dirty="0" err="1">
                          <a:solidFill>
                            <a:srgbClr val="261E48"/>
                          </a:solidFill>
                          <a:latin typeface="+mj-lt"/>
                        </a:rPr>
                        <a:t>dashboard</a:t>
                      </a:r>
                      <a:endParaRPr lang="fr-FR" sz="1050" dirty="0">
                        <a:solidFill>
                          <a:srgbClr val="261E48"/>
                        </a:solidFill>
                        <a:latin typeface="+mj-lt"/>
                      </a:endParaRP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4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60 s en continu et sans coupe, état du service visible avant, pendant et après l’incident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1076901199"/>
                  </a:ext>
                </a:extLst>
              </a:tr>
              <a:tr h="68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261E48"/>
                          </a:solidFill>
                          <a:latin typeface="+mj-lt"/>
                        </a:rPr>
                        <a:t>Axe 4 : Gouvernance, NIS2/DORA &amp; pitch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4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EBIOS et PCA/PRA reliés à l’architecture réelle, recommandations argumentées, 5 min respectées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268119910"/>
                  </a:ext>
                </a:extLst>
              </a:tr>
              <a:tr h="687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50" dirty="0">
                          <a:solidFill>
                            <a:srgbClr val="261E48"/>
                          </a:solidFill>
                          <a:latin typeface="+mj-lt"/>
                        </a:rPr>
                        <a:t>Axe 5 : Dossier technique &amp; Q&amp;A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3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Dossier précis, contribution de chacun visible, maîtrise du code présenté, y compris celui généré par IA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3565020860"/>
                  </a:ext>
                </a:extLst>
              </a:tr>
            </a:tbl>
          </a:graphicData>
        </a:graphic>
      </p:graphicFrame>
      <p:graphicFrame>
        <p:nvGraphicFramePr>
          <p:cNvPr id="10" name="Espace réservé du contenu 9">
            <a:extLst>
              <a:ext uri="{FF2B5EF4-FFF2-40B4-BE49-F238E27FC236}">
                <a16:creationId xmlns:a16="http://schemas.microsoft.com/office/drawing/2014/main" id="{8773ADD0-7BA7-FE25-DC7B-4DC5E6385BC6}"/>
              </a:ext>
            </a:extLst>
          </p:cNvPr>
          <p:cNvGraphicFramePr>
            <a:graphicFrameLocks noGrp="1"/>
          </p:cNvGraphicFramePr>
          <p:nvPr>
            <p:ph idx="16"/>
            <p:extLst>
              <p:ext uri="{D42A27DB-BD31-4B8C-83A1-F6EECF244321}">
                <p14:modId xmlns:p14="http://schemas.microsoft.com/office/powerpoint/2010/main" val="3936812465"/>
              </p:ext>
            </p:extLst>
          </p:nvPr>
        </p:nvGraphicFramePr>
        <p:xfrm>
          <a:off x="6362882" y="1840832"/>
          <a:ext cx="5400000" cy="441192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0789876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63181236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4128460963"/>
                    </a:ext>
                  </a:extLst>
                </a:gridCol>
              </a:tblGrid>
              <a:tr h="8170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kern="1200" dirty="0">
                          <a:solidFill>
                            <a:srgbClr val="261E48"/>
                          </a:solidFill>
                          <a:latin typeface="+mj-lt"/>
                          <a:ea typeface="+mn-ea"/>
                          <a:cs typeface="+mn-cs"/>
                        </a:rPr>
                        <a:t>AXE MAJEUR DE SOUTENANCE NATIONALE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261E48"/>
                          </a:solidFill>
                          <a:latin typeface="+mj-lt"/>
                        </a:rPr>
                        <a:t>POINTS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261E48"/>
                          </a:solidFill>
                          <a:latin typeface="+mj-lt"/>
                        </a:rPr>
                        <a:t>INDICATEURS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1693072437"/>
                  </a:ext>
                </a:extLst>
              </a:tr>
              <a:tr h="817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+mj-lt"/>
                        </a:rPr>
                        <a:t>Démonstration en direct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25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Attaque et reprise automatique montrées en live en 3 min, depuis le PC Hôte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2679770114"/>
                  </a:ext>
                </a:extLst>
              </a:tr>
              <a:tr h="817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+mj-lt"/>
                        </a:rPr>
                        <a:t>Clip Chrono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15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Séquence continue attaque, détection, reprise, vérification, lisible à distance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3412374466"/>
                  </a:ext>
                </a:extLst>
              </a:tr>
              <a:tr h="817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+mj-lt"/>
                        </a:rPr>
                        <a:t>Pitch stratégique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Démarche claire en 1 min, introduction individuelle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1357739122"/>
                  </a:ext>
                </a:extLst>
              </a:tr>
              <a:tr h="57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+mj-lt"/>
                        </a:rPr>
                        <a:t>Expertise technique &amp; architecture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Chaîne cohérente de bout en bout, choix techniques justifiés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1085218912"/>
                  </a:ext>
                </a:extLst>
              </a:tr>
              <a:tr h="57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+mj-lt"/>
                        </a:rPr>
                        <a:t>Gouvernance &amp; conformité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40695" marR="40695" marT="20348" marB="203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>
                          <a:solidFill>
                            <a:srgbClr val="261E48"/>
                          </a:solidFill>
                          <a:latin typeface="Montserrat" pitchFamily="2" charset="0"/>
                        </a:rPr>
                        <a:t>Risques, PCA/PRA et NIS2/DORA reliés au démonstrateur</a:t>
                      </a:r>
                    </a:p>
                  </a:txBody>
                  <a:tcPr marL="40695" marR="40695" marT="20348" marB="20348" anchor="ctr"/>
                </a:tc>
                <a:extLst>
                  <a:ext uri="{0D108BD9-81ED-4DB2-BD59-A6C34878D82A}">
                    <a16:rowId xmlns:a16="http://schemas.microsoft.com/office/drawing/2014/main" val="2463107762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47A8A5-D873-C823-70C9-5B44972B6A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56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C153B-A088-D809-32E2-DE7BF1D44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A VOUS DE JOUER 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FE48B0-46FD-9519-A103-BD7750D957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« RESILIENCE-ALPHA est lancé. Attaquez votre propre système, laissez-le se défendre, et prouvez qu’il se relève seul. Rendez-vous vendredi. 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E4AD4-C6B8-63C8-A5D1-8ED76334F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8</a:t>
            </a:fld>
            <a:endParaRPr lang="fr-FR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DA4ED5A6-EA74-3B1E-0CB5-F875D67DE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4985" y="4635566"/>
            <a:ext cx="2236037" cy="2236037"/>
          </a:xfrm>
          <a:prstGeom prst="rect">
            <a:avLst/>
          </a:prstGeom>
        </p:spPr>
      </p:pic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99E988D3-4C26-C291-C617-9C6B1DC9DBA0}"/>
              </a:ext>
            </a:extLst>
          </p:cNvPr>
          <p:cNvSpPr txBox="1">
            <a:spLocks/>
          </p:cNvSpPr>
          <p:nvPr/>
        </p:nvSpPr>
        <p:spPr>
          <a:xfrm>
            <a:off x="2222389" y="4793026"/>
            <a:ext cx="1205905" cy="763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261E48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61E48"/>
                </a:solidFill>
                <a:latin typeface="Monsterr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61E48"/>
                </a:solidFill>
                <a:latin typeface="Monsterr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261E48"/>
                </a:solidFill>
                <a:latin typeface="Monsterr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rgbClr val="261E48"/>
                </a:solidFill>
                <a:latin typeface="Monsterr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b="1" dirty="0">
                <a:solidFill>
                  <a:schemeClr val="bg1"/>
                </a:solidFill>
              </a:rPr>
              <a:t>Scannez ce QR Code pour créer vos groupes</a:t>
            </a:r>
          </a:p>
        </p:txBody>
      </p:sp>
    </p:spTree>
    <p:extLst>
      <p:ext uri="{BB962C8B-B14F-4D97-AF65-F5344CB8AC3E}">
        <p14:creationId xmlns:p14="http://schemas.microsoft.com/office/powerpoint/2010/main" val="3429768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6C1FA-27A2-FD76-12EC-947E05BB2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Charte graphique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392CDB-BEAA-2C33-0D91-CA9C2AA83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4294967295"/>
          </p:nvPr>
        </p:nvSpPr>
        <p:spPr>
          <a:xfrm>
            <a:off x="1285874" y="1263182"/>
            <a:ext cx="10067925" cy="360000"/>
          </a:xfrm>
        </p:spPr>
        <p:txBody>
          <a:bodyPr>
            <a:normAutofit/>
          </a:bodyPr>
          <a:lstStyle/>
          <a:p>
            <a:r>
              <a:rPr lang="fr-FR" dirty="0"/>
              <a:t>Polices, couleurs, logos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AC4BC6-4B3F-34AF-FCB2-E424487771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Polices :</a:t>
            </a:r>
          </a:p>
          <a:p>
            <a:endParaRPr lang="fr-FR" dirty="0"/>
          </a:p>
          <a:p>
            <a:r>
              <a:rPr lang="fr-FR" dirty="0"/>
              <a:t>Contenu : Montserrat</a:t>
            </a:r>
          </a:p>
          <a:p>
            <a:r>
              <a:rPr lang="fr-FR" dirty="0"/>
              <a:t>Titre : </a:t>
            </a:r>
            <a:r>
              <a:rPr lang="fr-FR" dirty="0">
                <a:latin typeface="Montserrat Bold" pitchFamily="2" charset="0"/>
              </a:rPr>
              <a:t>Montserrat Bold</a:t>
            </a:r>
          </a:p>
          <a:p>
            <a:r>
              <a:rPr lang="fr-FR" dirty="0"/>
              <a:t>Sous-titre : </a:t>
            </a:r>
            <a:r>
              <a:rPr lang="fr-FR" dirty="0">
                <a:latin typeface="Montserrat italic" pitchFamily="2" charset="0"/>
              </a:rPr>
              <a:t>Montserrat Italic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09FBB93-397A-CAC5-3763-5CD516CDDA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/>
        <p:txBody>
          <a:bodyPr/>
          <a:lstStyle/>
          <a:p>
            <a:r>
              <a:rPr lang="fr-FR" dirty="0"/>
              <a:t>Couleurs :</a:t>
            </a:r>
          </a:p>
          <a:p>
            <a:endParaRPr lang="fr-FR" dirty="0"/>
          </a:p>
          <a:p>
            <a:r>
              <a:rPr lang="fr-FR" dirty="0"/>
              <a:t>Ecriture : #261E48</a:t>
            </a:r>
          </a:p>
          <a:p>
            <a:r>
              <a:rPr lang="fr-FR" dirty="0"/>
              <a:t>Fond diapo : #E4E6F3</a:t>
            </a:r>
          </a:p>
          <a:p>
            <a:r>
              <a:rPr lang="fr-FR" dirty="0"/>
              <a:t>Fond rectangle : #A1A6D4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8A9A03-EDE1-BA3A-51E1-66CDF9545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/>
        <p:txBody>
          <a:bodyPr/>
          <a:lstStyle/>
          <a:p>
            <a:r>
              <a:rPr lang="fr-FR" dirty="0"/>
              <a:t>Logos :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C63E565F-A37A-2A0A-22BC-61E5AA5BDC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11896" y="2987039"/>
            <a:ext cx="1138023" cy="652175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C5408919-93DE-A952-C1A9-9C6B26C84F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11896" y="4161420"/>
            <a:ext cx="1138023" cy="652175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18C0B1A5-9749-0D6F-79FF-82D1E5F69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4214" y="3041091"/>
            <a:ext cx="1137600" cy="544070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6BB7E6D6-2063-03B7-AE93-D65A109B18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4214" y="4213010"/>
            <a:ext cx="1137600" cy="544070"/>
          </a:xfrm>
          <a:prstGeom prst="rect">
            <a:avLst/>
          </a:prstGeom>
        </p:spPr>
      </p:pic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22B78487-DAF8-2C4A-8F74-9B7C2E5AC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64356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nalisé 1">
      <a:majorFont>
        <a:latin typeface="Montserrat 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E_PPTX_2627_WORKSHOP_COACH.potx" id="{EF694608-99E1-4D09-9662-2A0800E7CE8F}" vid="{D08B27D8-ECAF-4804-8DB5-6603BDEEF1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3F0084B24AA74087E0D5FB9F267B1F" ma:contentTypeVersion="16" ma:contentTypeDescription="Crée un document." ma:contentTypeScope="" ma:versionID="2ac75a28b3010b5a27d92b95b97488e5">
  <xsd:schema xmlns:xsd="http://www.w3.org/2001/XMLSchema" xmlns:xs="http://www.w3.org/2001/XMLSchema" xmlns:p="http://schemas.microsoft.com/office/2006/metadata/properties" xmlns:ns2="40db4c2f-5dfe-4423-b7fa-968caa59f9fe" xmlns:ns3="94eab51b-fcae-4bce-a35e-bdc099b66db8" targetNamespace="http://schemas.microsoft.com/office/2006/metadata/properties" ma:root="true" ma:fieldsID="d2a5da541a69ca39a5d72e2beeae0901" ns2:_="" ns3:_="">
    <xsd:import namespace="40db4c2f-5dfe-4423-b7fa-968caa59f9fe"/>
    <xsd:import namespace="94eab51b-fcae-4bce-a35e-bdc099b66db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db4c2f-5dfe-4423-b7fa-968caa59f9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aaea374-6cc6-4ade-87c3-604972e7ecff}" ma:internalName="TaxCatchAll" ma:showField="CatchAllData" ma:web="40db4c2f-5dfe-4423-b7fa-968caa59f9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ab51b-fcae-4bce-a35e-bdc099b66d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73ec7504-3861-4c39-9b6d-002a7ae0a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db4c2f-5dfe-4423-b7fa-968caa59f9fe" xsi:nil="true"/>
    <lcf76f155ced4ddcb4097134ff3c332f xmlns="94eab51b-fcae-4bce-a35e-bdc099b66db8">
      <Terms xmlns="http://schemas.microsoft.com/office/infopath/2007/PartnerControls"/>
    </lcf76f155ced4ddcb4097134ff3c332f>
    <SharedWithUsers xmlns="40db4c2f-5dfe-4423-b7fa-968caa59f9fe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837D655-62B0-4CEB-91FB-A72FEBF8F1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334F52-FB19-49F1-94B9-DE8F4775F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db4c2f-5dfe-4423-b7fa-968caa59f9fe"/>
    <ds:schemaRef ds:uri="94eab51b-fcae-4bce-a35e-bdc099b66d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C66B1F-ADA7-498F-9326-33CCE7A44AD1}">
  <ds:schemaRefs>
    <ds:schemaRef ds:uri="http://schemas.microsoft.com/office/2006/metadata/properties"/>
    <ds:schemaRef ds:uri="http://schemas.microsoft.com/office/infopath/2007/PartnerControls"/>
    <ds:schemaRef ds:uri="40db4c2f-5dfe-4423-b7fa-968caa59f9fe"/>
    <ds:schemaRef ds:uri="94eab51b-fcae-4bce-a35e-bdc099b66db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MODELE_PPTX_2627_WORKSHOP_COACH 1</Template>
  <TotalTime>472</TotalTime>
  <Words>1146</Words>
  <Application>Microsoft Office PowerPoint</Application>
  <PresentationFormat>Grand écran</PresentationFormat>
  <Paragraphs>152</Paragraphs>
  <Slides>9</Slides>
  <Notes>9</Notes>
  <HiddenSlides>1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Aptos</vt:lpstr>
      <vt:lpstr>Arial</vt:lpstr>
      <vt:lpstr>Monsterra</vt:lpstr>
      <vt:lpstr>Montserrat</vt:lpstr>
      <vt:lpstr>Montserrat Bold</vt:lpstr>
      <vt:lpstr>Montserrat italic</vt:lpstr>
      <vt:lpstr>Wingdings</vt:lpstr>
      <vt:lpstr>Thème Office</vt:lpstr>
      <vt:lpstr>WORKSHOP M2 2026</vt:lpstr>
      <vt:lpstr>WORKSHOP M2 2026</vt:lpstr>
      <vt:lpstr>Le défi en un coup d'œil</vt:lpstr>
      <vt:lpstr>Techniquement</vt:lpstr>
      <vt:lpstr>Planning</vt:lpstr>
      <vt:lpstr>Livrables attendus</vt:lpstr>
      <vt:lpstr>Les évaluations</vt:lpstr>
      <vt:lpstr>A VOUS DE JOUER !</vt:lpstr>
      <vt:lpstr>Charte graphique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COMBLEZ</dc:creator>
  <cp:lastModifiedBy>BAEZA Yvan</cp:lastModifiedBy>
  <cp:revision>2</cp:revision>
  <dcterms:created xsi:type="dcterms:W3CDTF">2026-10-13T07:46:09Z</dcterms:created>
  <dcterms:modified xsi:type="dcterms:W3CDTF">2026-10-19T07:57:11Z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0x010100D13F0084B24AA74087E0D5FB9F267B1F</vt:lpwstr>
  </property>
  <property fmtid="{D5CDD505-2E9C-101B-9397-08002B2CF9AE}" pid="3" name="MediaServiceImageTags">
    <vt:lpwstr/>
  </property>
  <property fmtid="{D5CDD505-2E9C-101B-9397-08002B2CF9AE}" pid="4" name="Order">
    <vt:r8>142000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